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libri (MS) Bold" charset="1" panose="020F0702030404030204"/>
      <p:regular r:id="rId22"/>
    </p:embeddedFont>
    <p:embeddedFont>
      <p:font typeface="Calibri (MS)" charset="1" panose="020F0502020204030204"/>
      <p:regular r:id="rId23"/>
    </p:embeddedFont>
    <p:embeddedFont>
      <p:font typeface="Calibri (MS) Italics" charset="1" panose="020F05020202040A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13154663" y="-1475737"/>
            <a:ext cx="7340603" cy="7340603"/>
            <a:chOff x="0" y="0"/>
            <a:chExt cx="9787471" cy="9787471"/>
          </a:xfrm>
        </p:grpSpPr>
        <p:sp>
          <p:nvSpPr>
            <p:cNvPr name="Freeform 6" id="6"/>
            <p:cNvSpPr/>
            <p:nvPr/>
          </p:nvSpPr>
          <p:spPr>
            <a:xfrm flipH="false" flipV="false" rot="0">
              <a:off x="16891" y="16891"/>
              <a:ext cx="9753600" cy="9753600"/>
            </a:xfrm>
            <a:custGeom>
              <a:avLst/>
              <a:gdLst/>
              <a:ahLst/>
              <a:cxnLst/>
              <a:rect r="r" b="b" t="t" l="l"/>
              <a:pathLst>
                <a:path h="9753600" w="9753600">
                  <a:moveTo>
                    <a:pt x="0" y="4876800"/>
                  </a:moveTo>
                  <a:cubicBezTo>
                    <a:pt x="0" y="2183384"/>
                    <a:pt x="2183384" y="0"/>
                    <a:pt x="4876800" y="0"/>
                  </a:cubicBezTo>
                  <a:cubicBezTo>
                    <a:pt x="7570216" y="0"/>
                    <a:pt x="9753600" y="2183384"/>
                    <a:pt x="9753600" y="4876800"/>
                  </a:cubicBezTo>
                  <a:cubicBezTo>
                    <a:pt x="9753600" y="7570216"/>
                    <a:pt x="7570216" y="9753600"/>
                    <a:pt x="4876800" y="9753600"/>
                  </a:cubicBezTo>
                  <a:cubicBezTo>
                    <a:pt x="2183384" y="9753600"/>
                    <a:pt x="0" y="7570216"/>
                    <a:pt x="0" y="4876800"/>
                  </a:cubicBezTo>
                  <a:close/>
                </a:path>
              </a:pathLst>
            </a:custGeom>
            <a:solidFill>
              <a:srgbClr val="1EB8D0">
                <a:alpha val="3137"/>
              </a:srgbClr>
            </a:solidFill>
          </p:spPr>
        </p:sp>
        <p:sp>
          <p:nvSpPr>
            <p:cNvPr name="Freeform 7" id="7"/>
            <p:cNvSpPr/>
            <p:nvPr/>
          </p:nvSpPr>
          <p:spPr>
            <a:xfrm flipH="false" flipV="false" rot="0">
              <a:off x="0" y="0"/>
              <a:ext cx="9787509" cy="9787382"/>
            </a:xfrm>
            <a:custGeom>
              <a:avLst/>
              <a:gdLst/>
              <a:ahLst/>
              <a:cxnLst/>
              <a:rect r="r" b="b" t="t" l="l"/>
              <a:pathLst>
                <a:path h="9787382" w="9787509">
                  <a:moveTo>
                    <a:pt x="0" y="4893691"/>
                  </a:moveTo>
                  <a:cubicBezTo>
                    <a:pt x="0" y="2191004"/>
                    <a:pt x="2191004" y="0"/>
                    <a:pt x="4893691" y="0"/>
                  </a:cubicBezTo>
                  <a:lnTo>
                    <a:pt x="4893691" y="16891"/>
                  </a:lnTo>
                  <a:lnTo>
                    <a:pt x="4893691" y="0"/>
                  </a:lnTo>
                  <a:cubicBezTo>
                    <a:pt x="7596505" y="0"/>
                    <a:pt x="9787509" y="2191004"/>
                    <a:pt x="9787509" y="4893691"/>
                  </a:cubicBezTo>
                  <a:lnTo>
                    <a:pt x="9770618" y="4893691"/>
                  </a:lnTo>
                  <a:lnTo>
                    <a:pt x="9787509" y="4893691"/>
                  </a:lnTo>
                  <a:cubicBezTo>
                    <a:pt x="9787509" y="7596378"/>
                    <a:pt x="7596505" y="9787382"/>
                    <a:pt x="4893818" y="9787382"/>
                  </a:cubicBezTo>
                  <a:lnTo>
                    <a:pt x="4893818" y="9770490"/>
                  </a:lnTo>
                  <a:lnTo>
                    <a:pt x="4893818" y="9787382"/>
                  </a:lnTo>
                  <a:cubicBezTo>
                    <a:pt x="2191004" y="9787509"/>
                    <a:pt x="0" y="7596505"/>
                    <a:pt x="0" y="4893691"/>
                  </a:cubicBezTo>
                  <a:lnTo>
                    <a:pt x="16891" y="4893691"/>
                  </a:lnTo>
                  <a:lnTo>
                    <a:pt x="33909" y="4893691"/>
                  </a:lnTo>
                  <a:lnTo>
                    <a:pt x="16891" y="4893691"/>
                  </a:lnTo>
                  <a:lnTo>
                    <a:pt x="0" y="4893691"/>
                  </a:lnTo>
                  <a:moveTo>
                    <a:pt x="33909" y="4893691"/>
                  </a:moveTo>
                  <a:cubicBezTo>
                    <a:pt x="33909" y="4903089"/>
                    <a:pt x="26289" y="4910582"/>
                    <a:pt x="17018" y="4910582"/>
                  </a:cubicBezTo>
                  <a:cubicBezTo>
                    <a:pt x="7747" y="4910582"/>
                    <a:pt x="0" y="4903089"/>
                    <a:pt x="0" y="4893691"/>
                  </a:cubicBezTo>
                  <a:cubicBezTo>
                    <a:pt x="0" y="4884293"/>
                    <a:pt x="7620" y="4876800"/>
                    <a:pt x="16891" y="4876800"/>
                  </a:cubicBezTo>
                  <a:cubicBezTo>
                    <a:pt x="26162" y="4876800"/>
                    <a:pt x="33782" y="4884420"/>
                    <a:pt x="33782" y="4893691"/>
                  </a:cubicBezTo>
                  <a:cubicBezTo>
                    <a:pt x="33909" y="7577709"/>
                    <a:pt x="2209673" y="9753600"/>
                    <a:pt x="4893691" y="9753600"/>
                  </a:cubicBezTo>
                  <a:cubicBezTo>
                    <a:pt x="7577709" y="9753600"/>
                    <a:pt x="9753600" y="7577709"/>
                    <a:pt x="9753600" y="4893691"/>
                  </a:cubicBezTo>
                  <a:cubicBezTo>
                    <a:pt x="9753600" y="2209673"/>
                    <a:pt x="7577709" y="33909"/>
                    <a:pt x="4893691" y="33909"/>
                  </a:cubicBezTo>
                  <a:lnTo>
                    <a:pt x="4893691" y="16891"/>
                  </a:lnTo>
                  <a:lnTo>
                    <a:pt x="4893691" y="33909"/>
                  </a:lnTo>
                  <a:cubicBezTo>
                    <a:pt x="2209673" y="33909"/>
                    <a:pt x="33909" y="2209673"/>
                    <a:pt x="33909" y="4893691"/>
                  </a:cubicBezTo>
                  <a:close/>
                </a:path>
              </a:pathLst>
            </a:custGeom>
            <a:solidFill>
              <a:srgbClr val="1EB8D0">
                <a:alpha val="3137"/>
              </a:srgbClr>
            </a:solidFill>
          </p:spPr>
        </p:sp>
      </p:grpSp>
      <p:grpSp>
        <p:nvGrpSpPr>
          <p:cNvPr name="Group 8" id="8"/>
          <p:cNvGrpSpPr/>
          <p:nvPr/>
        </p:nvGrpSpPr>
        <p:grpSpPr>
          <a:xfrm rot="0">
            <a:off x="15166343" y="5839463"/>
            <a:ext cx="4414523" cy="4414523"/>
            <a:chOff x="0" y="0"/>
            <a:chExt cx="5886031" cy="5886031"/>
          </a:xfrm>
        </p:grpSpPr>
        <p:sp>
          <p:nvSpPr>
            <p:cNvPr name="Freeform 9" id="9"/>
            <p:cNvSpPr/>
            <p:nvPr/>
          </p:nvSpPr>
          <p:spPr>
            <a:xfrm flipH="false" flipV="false" rot="0">
              <a:off x="16891" y="16891"/>
              <a:ext cx="5852160" cy="5852160"/>
            </a:xfrm>
            <a:custGeom>
              <a:avLst/>
              <a:gdLst/>
              <a:ahLst/>
              <a:cxnLst/>
              <a:rect r="r" b="b" t="t" l="l"/>
              <a:pathLst>
                <a:path h="5852160" w="5852160">
                  <a:moveTo>
                    <a:pt x="0" y="2926080"/>
                  </a:moveTo>
                  <a:cubicBezTo>
                    <a:pt x="0" y="1310005"/>
                    <a:pt x="1310005" y="0"/>
                    <a:pt x="2926080" y="0"/>
                  </a:cubicBezTo>
                  <a:cubicBezTo>
                    <a:pt x="4542155" y="0"/>
                    <a:pt x="5852160" y="1310005"/>
                    <a:pt x="5852160" y="2926080"/>
                  </a:cubicBezTo>
                  <a:cubicBezTo>
                    <a:pt x="5852160" y="4542155"/>
                    <a:pt x="4542155" y="5852160"/>
                    <a:pt x="2926080" y="5852160"/>
                  </a:cubicBezTo>
                  <a:cubicBezTo>
                    <a:pt x="1310005" y="5852160"/>
                    <a:pt x="0" y="4542155"/>
                    <a:pt x="0" y="2926080"/>
                  </a:cubicBezTo>
                  <a:close/>
                </a:path>
              </a:pathLst>
            </a:custGeom>
            <a:solidFill>
              <a:srgbClr val="F4A261">
                <a:alpha val="1961"/>
              </a:srgbClr>
            </a:solidFill>
          </p:spPr>
        </p:sp>
        <p:sp>
          <p:nvSpPr>
            <p:cNvPr name="Freeform 10" id="10"/>
            <p:cNvSpPr/>
            <p:nvPr/>
          </p:nvSpPr>
          <p:spPr>
            <a:xfrm flipH="false" flipV="false" rot="0">
              <a:off x="0" y="0"/>
              <a:ext cx="5886069" cy="5885942"/>
            </a:xfrm>
            <a:custGeom>
              <a:avLst/>
              <a:gdLst/>
              <a:ahLst/>
              <a:cxnLst/>
              <a:rect r="r" b="b" t="t" l="l"/>
              <a:pathLst>
                <a:path h="5885942" w="5886069">
                  <a:moveTo>
                    <a:pt x="0" y="2942971"/>
                  </a:moveTo>
                  <a:cubicBezTo>
                    <a:pt x="0" y="1317625"/>
                    <a:pt x="1317625" y="0"/>
                    <a:pt x="2942971" y="0"/>
                  </a:cubicBezTo>
                  <a:lnTo>
                    <a:pt x="2942971" y="16891"/>
                  </a:lnTo>
                  <a:lnTo>
                    <a:pt x="2942971" y="0"/>
                  </a:lnTo>
                  <a:cubicBezTo>
                    <a:pt x="4568444" y="0"/>
                    <a:pt x="5886069" y="1317625"/>
                    <a:pt x="5886069" y="2942971"/>
                  </a:cubicBezTo>
                  <a:lnTo>
                    <a:pt x="5869178" y="2942971"/>
                  </a:lnTo>
                  <a:lnTo>
                    <a:pt x="5886069" y="2942971"/>
                  </a:lnTo>
                  <a:cubicBezTo>
                    <a:pt x="5886069" y="4568317"/>
                    <a:pt x="4568444" y="5885942"/>
                    <a:pt x="2943098" y="5885942"/>
                  </a:cubicBezTo>
                  <a:lnTo>
                    <a:pt x="2943098" y="5869051"/>
                  </a:lnTo>
                  <a:lnTo>
                    <a:pt x="2943098" y="5885942"/>
                  </a:lnTo>
                  <a:cubicBezTo>
                    <a:pt x="1317625" y="5886069"/>
                    <a:pt x="0" y="4568444"/>
                    <a:pt x="0" y="2942971"/>
                  </a:cubicBezTo>
                  <a:lnTo>
                    <a:pt x="16891" y="2942971"/>
                  </a:lnTo>
                  <a:lnTo>
                    <a:pt x="33909" y="2942971"/>
                  </a:lnTo>
                  <a:lnTo>
                    <a:pt x="16891" y="2942971"/>
                  </a:lnTo>
                  <a:lnTo>
                    <a:pt x="0" y="2942971"/>
                  </a:lnTo>
                  <a:moveTo>
                    <a:pt x="33909" y="2942971"/>
                  </a:moveTo>
                  <a:cubicBezTo>
                    <a:pt x="33909" y="2952369"/>
                    <a:pt x="26289" y="2959862"/>
                    <a:pt x="17018" y="2959862"/>
                  </a:cubicBezTo>
                  <a:cubicBezTo>
                    <a:pt x="7747" y="2959862"/>
                    <a:pt x="0" y="2952369"/>
                    <a:pt x="0" y="2942971"/>
                  </a:cubicBezTo>
                  <a:cubicBezTo>
                    <a:pt x="0" y="2933573"/>
                    <a:pt x="7620" y="2926080"/>
                    <a:pt x="16891" y="2926080"/>
                  </a:cubicBezTo>
                  <a:cubicBezTo>
                    <a:pt x="26162" y="2926080"/>
                    <a:pt x="33782" y="2933700"/>
                    <a:pt x="33782" y="2942971"/>
                  </a:cubicBezTo>
                  <a:cubicBezTo>
                    <a:pt x="33782" y="4549648"/>
                    <a:pt x="1336294" y="5852160"/>
                    <a:pt x="2942971" y="5852160"/>
                  </a:cubicBezTo>
                  <a:cubicBezTo>
                    <a:pt x="4549648" y="5852160"/>
                    <a:pt x="5852160" y="4549648"/>
                    <a:pt x="5852160" y="2942971"/>
                  </a:cubicBezTo>
                  <a:cubicBezTo>
                    <a:pt x="5852160" y="1336294"/>
                    <a:pt x="4549648" y="33909"/>
                    <a:pt x="2942971" y="33909"/>
                  </a:cubicBezTo>
                  <a:lnTo>
                    <a:pt x="2942971" y="16891"/>
                  </a:lnTo>
                  <a:lnTo>
                    <a:pt x="2942971" y="33909"/>
                  </a:lnTo>
                  <a:cubicBezTo>
                    <a:pt x="1336294" y="33909"/>
                    <a:pt x="33909" y="1336294"/>
                    <a:pt x="33909" y="2942971"/>
                  </a:cubicBezTo>
                  <a:close/>
                </a:path>
              </a:pathLst>
            </a:custGeom>
            <a:solidFill>
              <a:srgbClr val="F4A261">
                <a:alpha val="1961"/>
              </a:srgbClr>
            </a:solidFill>
          </p:spPr>
        </p:sp>
      </p:grpSp>
      <p:grpSp>
        <p:nvGrpSpPr>
          <p:cNvPr name="Group 11" id="11"/>
          <p:cNvGrpSpPr/>
          <p:nvPr/>
        </p:nvGrpSpPr>
        <p:grpSpPr>
          <a:xfrm rot="0">
            <a:off x="-12697" y="1998983"/>
            <a:ext cx="1031243" cy="5694683"/>
            <a:chOff x="0" y="0"/>
            <a:chExt cx="1374991" cy="7592911"/>
          </a:xfrm>
        </p:grpSpPr>
        <p:sp>
          <p:nvSpPr>
            <p:cNvPr name="Freeform 12" id="12"/>
            <p:cNvSpPr/>
            <p:nvPr/>
          </p:nvSpPr>
          <p:spPr>
            <a:xfrm flipH="false" flipV="false" rot="0">
              <a:off x="16891" y="16891"/>
              <a:ext cx="1341120" cy="7559040"/>
            </a:xfrm>
            <a:custGeom>
              <a:avLst/>
              <a:gdLst/>
              <a:ahLst/>
              <a:cxnLst/>
              <a:rect r="r" b="b" t="t" l="l"/>
              <a:pathLst>
                <a:path h="7559040" w="1341120">
                  <a:moveTo>
                    <a:pt x="0" y="0"/>
                  </a:moveTo>
                  <a:lnTo>
                    <a:pt x="1341120" y="0"/>
                  </a:lnTo>
                  <a:lnTo>
                    <a:pt x="1341120" y="7559040"/>
                  </a:lnTo>
                  <a:lnTo>
                    <a:pt x="0" y="7559040"/>
                  </a:lnTo>
                  <a:close/>
                </a:path>
              </a:pathLst>
            </a:custGeom>
            <a:solidFill>
              <a:srgbClr val="1EB8D0"/>
            </a:solidFill>
          </p:spPr>
        </p:sp>
        <p:sp>
          <p:nvSpPr>
            <p:cNvPr name="Freeform 13" id="13"/>
            <p:cNvSpPr/>
            <p:nvPr/>
          </p:nvSpPr>
          <p:spPr>
            <a:xfrm flipH="false" flipV="false" rot="0">
              <a:off x="0" y="0"/>
              <a:ext cx="1374902" cy="7592822"/>
            </a:xfrm>
            <a:custGeom>
              <a:avLst/>
              <a:gdLst/>
              <a:ahLst/>
              <a:cxnLst/>
              <a:rect r="r" b="b" t="t" l="l"/>
              <a:pathLst>
                <a:path h="7592822" w="1374902">
                  <a:moveTo>
                    <a:pt x="16891" y="0"/>
                  </a:moveTo>
                  <a:lnTo>
                    <a:pt x="1358011" y="0"/>
                  </a:lnTo>
                  <a:cubicBezTo>
                    <a:pt x="1367409" y="0"/>
                    <a:pt x="1374902" y="7620"/>
                    <a:pt x="1374902" y="16891"/>
                  </a:cubicBezTo>
                  <a:lnTo>
                    <a:pt x="1374902" y="7575931"/>
                  </a:lnTo>
                  <a:cubicBezTo>
                    <a:pt x="1374902" y="7585329"/>
                    <a:pt x="1367282" y="7592822"/>
                    <a:pt x="1358011" y="7592822"/>
                  </a:cubicBezTo>
                  <a:lnTo>
                    <a:pt x="16891" y="7592822"/>
                  </a:lnTo>
                  <a:cubicBezTo>
                    <a:pt x="7493" y="7592822"/>
                    <a:pt x="0" y="7585202"/>
                    <a:pt x="0" y="7575931"/>
                  </a:cubicBezTo>
                  <a:lnTo>
                    <a:pt x="0" y="16891"/>
                  </a:lnTo>
                  <a:cubicBezTo>
                    <a:pt x="0" y="7620"/>
                    <a:pt x="7620" y="0"/>
                    <a:pt x="16891" y="0"/>
                  </a:cubicBezTo>
                  <a:moveTo>
                    <a:pt x="16891" y="33909"/>
                  </a:moveTo>
                  <a:lnTo>
                    <a:pt x="16891" y="16891"/>
                  </a:lnTo>
                  <a:lnTo>
                    <a:pt x="33909" y="16891"/>
                  </a:lnTo>
                  <a:lnTo>
                    <a:pt x="33909" y="7575931"/>
                  </a:lnTo>
                  <a:lnTo>
                    <a:pt x="16891" y="7575931"/>
                  </a:lnTo>
                  <a:lnTo>
                    <a:pt x="16891" y="7559040"/>
                  </a:lnTo>
                  <a:lnTo>
                    <a:pt x="1358011" y="7559040"/>
                  </a:lnTo>
                  <a:lnTo>
                    <a:pt x="1358011" y="7575931"/>
                  </a:lnTo>
                  <a:lnTo>
                    <a:pt x="1341120" y="7575931"/>
                  </a:lnTo>
                  <a:lnTo>
                    <a:pt x="1341120" y="16891"/>
                  </a:lnTo>
                  <a:lnTo>
                    <a:pt x="1358011" y="16891"/>
                  </a:lnTo>
                  <a:lnTo>
                    <a:pt x="1358011" y="33909"/>
                  </a:lnTo>
                  <a:lnTo>
                    <a:pt x="16891" y="33909"/>
                  </a:lnTo>
                  <a:close/>
                </a:path>
              </a:pathLst>
            </a:custGeom>
            <a:solidFill>
              <a:srgbClr val="1EB8D0"/>
            </a:solidFill>
          </p:spPr>
        </p:sp>
      </p:grpSp>
      <p:grpSp>
        <p:nvGrpSpPr>
          <p:cNvPr name="Group 14" id="14"/>
          <p:cNvGrpSpPr/>
          <p:nvPr/>
        </p:nvGrpSpPr>
        <p:grpSpPr>
          <a:xfrm rot="0">
            <a:off x="353063" y="644652"/>
            <a:ext cx="12801600" cy="768096"/>
            <a:chOff x="0" y="0"/>
            <a:chExt cx="17068800" cy="1024128"/>
          </a:xfrm>
        </p:grpSpPr>
        <p:sp>
          <p:nvSpPr>
            <p:cNvPr name="Freeform 15" id="15"/>
            <p:cNvSpPr/>
            <p:nvPr/>
          </p:nvSpPr>
          <p:spPr>
            <a:xfrm flipH="false" flipV="false" rot="0">
              <a:off x="0" y="0"/>
              <a:ext cx="17068800" cy="1024128"/>
            </a:xfrm>
            <a:custGeom>
              <a:avLst/>
              <a:gdLst/>
              <a:ahLst/>
              <a:cxnLst/>
              <a:rect r="r" b="b" t="t" l="l"/>
              <a:pathLst>
                <a:path h="1024128" w="17068800">
                  <a:moveTo>
                    <a:pt x="0" y="0"/>
                  </a:moveTo>
                  <a:lnTo>
                    <a:pt x="17068800" y="0"/>
                  </a:lnTo>
                  <a:lnTo>
                    <a:pt x="17068800" y="1024128"/>
                  </a:lnTo>
                  <a:lnTo>
                    <a:pt x="0" y="1024128"/>
                  </a:lnTo>
                  <a:close/>
                </a:path>
              </a:pathLst>
            </a:custGeom>
            <a:blipFill>
              <a:blip r:embed="rId2">
                <a:alphaModFix amt="0"/>
              </a:blip>
              <a:stretch>
                <a:fillRect l="0" t="-274750" r="0" b="-274750"/>
              </a:stretch>
            </a:blipFill>
          </p:spPr>
        </p:sp>
        <p:sp>
          <p:nvSpPr>
            <p:cNvPr name="TextBox 16" id="16"/>
            <p:cNvSpPr txBox="true"/>
            <p:nvPr/>
          </p:nvSpPr>
          <p:spPr>
            <a:xfrm>
              <a:off x="0" y="-57150"/>
              <a:ext cx="17068800" cy="1081278"/>
            </a:xfrm>
            <a:prstGeom prst="rect">
              <a:avLst/>
            </a:prstGeom>
          </p:spPr>
          <p:txBody>
            <a:bodyPr anchor="ctr" rtlCol="false" tIns="0" lIns="0" bIns="0" rIns="0"/>
            <a:lstStyle/>
            <a:p>
              <a:pPr algn="l">
                <a:lnSpc>
                  <a:spcPts val="3120"/>
                </a:lnSpc>
              </a:pPr>
              <a:r>
                <a:rPr lang="en-US" b="true" sz="2600" spc="1000">
                  <a:solidFill>
                    <a:srgbClr val="1EB8D0"/>
                  </a:solidFill>
                  <a:latin typeface="Calibri (MS) Bold"/>
                  <a:ea typeface="Calibri (MS) Bold"/>
                  <a:cs typeface="Calibri (MS) Bold"/>
                  <a:sym typeface="Calibri (MS) Bold"/>
                </a:rPr>
                <a:t>KELOMPOK LABUBU</a:t>
              </a:r>
            </a:p>
          </p:txBody>
        </p:sp>
      </p:grpSp>
      <p:grpSp>
        <p:nvGrpSpPr>
          <p:cNvPr name="Group 17" id="17"/>
          <p:cNvGrpSpPr/>
          <p:nvPr/>
        </p:nvGrpSpPr>
        <p:grpSpPr>
          <a:xfrm rot="0">
            <a:off x="1371600" y="2194565"/>
            <a:ext cx="12574383" cy="4338747"/>
            <a:chOff x="0" y="0"/>
            <a:chExt cx="16321080" cy="5631531"/>
          </a:xfrm>
        </p:grpSpPr>
        <p:sp>
          <p:nvSpPr>
            <p:cNvPr name="Freeform 18" id="18"/>
            <p:cNvSpPr/>
            <p:nvPr/>
          </p:nvSpPr>
          <p:spPr>
            <a:xfrm flipH="false" flipV="false" rot="0">
              <a:off x="0" y="0"/>
              <a:ext cx="16321080" cy="5631531"/>
            </a:xfrm>
            <a:custGeom>
              <a:avLst/>
              <a:gdLst/>
              <a:ahLst/>
              <a:cxnLst/>
              <a:rect r="r" b="b" t="t" l="l"/>
              <a:pathLst>
                <a:path h="5631531" w="16321080">
                  <a:moveTo>
                    <a:pt x="0" y="0"/>
                  </a:moveTo>
                  <a:lnTo>
                    <a:pt x="16321080" y="0"/>
                  </a:lnTo>
                  <a:lnTo>
                    <a:pt x="16321080" y="5631531"/>
                  </a:lnTo>
                  <a:lnTo>
                    <a:pt x="0" y="5631531"/>
                  </a:lnTo>
                  <a:close/>
                </a:path>
              </a:pathLst>
            </a:custGeom>
            <a:blipFill>
              <a:blip r:embed="rId2">
                <a:alphaModFix amt="0"/>
              </a:blip>
              <a:stretch>
                <a:fillRect l="0" t="-37408" r="-4581" b="19292"/>
              </a:stretch>
            </a:blipFill>
          </p:spPr>
        </p:sp>
        <p:sp>
          <p:nvSpPr>
            <p:cNvPr name="TextBox 19" id="19"/>
            <p:cNvSpPr txBox="true"/>
            <p:nvPr/>
          </p:nvSpPr>
          <p:spPr>
            <a:xfrm>
              <a:off x="0" y="-180975"/>
              <a:ext cx="16321080" cy="5812506"/>
            </a:xfrm>
            <a:prstGeom prst="rect">
              <a:avLst/>
            </a:prstGeom>
          </p:spPr>
          <p:txBody>
            <a:bodyPr anchor="ctr" rtlCol="false" tIns="0" lIns="0" bIns="0" rIns="0"/>
            <a:lstStyle/>
            <a:p>
              <a:pPr algn="l">
                <a:lnSpc>
                  <a:spcPts val="10319"/>
                </a:lnSpc>
              </a:pPr>
              <a:r>
                <a:rPr lang="en-US" sz="8599" b="true">
                  <a:solidFill>
                    <a:srgbClr val="FFFFFF"/>
                  </a:solidFill>
                  <a:latin typeface="Calibri (MS) Bold"/>
                  <a:ea typeface="Calibri (MS) Bold"/>
                  <a:cs typeface="Calibri (MS) Bold"/>
                  <a:sym typeface="Calibri (MS) Bold"/>
                </a:rPr>
                <a:t>Dataset Iklim Harian</a:t>
              </a:r>
              <a:r>
                <a:rPr lang="en-US" sz="8599" b="true">
                  <a:solidFill>
                    <a:srgbClr val="FFFFFF"/>
                  </a:solidFill>
                  <a:latin typeface="Calibri (MS) Bold"/>
                  <a:ea typeface="Calibri (MS) Bold"/>
                  <a:cs typeface="Calibri (MS) Bold"/>
                  <a:sym typeface="Calibri (MS) Bold"/>
                </a:rPr>
                <a:t> BMKG</a:t>
              </a:r>
            </a:p>
            <a:p>
              <a:pPr algn="l">
                <a:lnSpc>
                  <a:spcPts val="10319"/>
                </a:lnSpc>
              </a:pPr>
              <a:r>
                <a:rPr lang="en-US" sz="8599" b="true">
                  <a:solidFill>
                    <a:srgbClr val="FFFFFF"/>
                  </a:solidFill>
                  <a:latin typeface="Calibri (MS) Bold"/>
                  <a:ea typeface="Calibri (MS) Bold"/>
                  <a:cs typeface="Calibri (MS) Bold"/>
                  <a:sym typeface="Calibri (MS) Bold"/>
                </a:rPr>
                <a:t>Stasiun Meteorologi Juanda</a:t>
              </a:r>
            </a:p>
          </p:txBody>
        </p:sp>
      </p:grpSp>
      <p:grpSp>
        <p:nvGrpSpPr>
          <p:cNvPr name="Group 20" id="20"/>
          <p:cNvGrpSpPr/>
          <p:nvPr/>
        </p:nvGrpSpPr>
        <p:grpSpPr>
          <a:xfrm rot="0">
            <a:off x="1371600" y="9144000"/>
            <a:ext cx="14630400" cy="585216"/>
            <a:chOff x="0" y="0"/>
            <a:chExt cx="19507200" cy="780288"/>
          </a:xfrm>
        </p:grpSpPr>
        <p:sp>
          <p:nvSpPr>
            <p:cNvPr name="Freeform 21" id="21"/>
            <p:cNvSpPr/>
            <p:nvPr/>
          </p:nvSpPr>
          <p:spPr>
            <a:xfrm flipH="false" flipV="false" rot="0">
              <a:off x="0" y="0"/>
              <a:ext cx="19507200" cy="780288"/>
            </a:xfrm>
            <a:custGeom>
              <a:avLst/>
              <a:gdLst/>
              <a:ahLst/>
              <a:cxnLst/>
              <a:rect r="r" b="b" t="t" l="l"/>
              <a:pathLst>
                <a:path h="780288" w="19507200">
                  <a:moveTo>
                    <a:pt x="0" y="0"/>
                  </a:moveTo>
                  <a:lnTo>
                    <a:pt x="19507200" y="0"/>
                  </a:lnTo>
                  <a:lnTo>
                    <a:pt x="19507200" y="780288"/>
                  </a:lnTo>
                  <a:lnTo>
                    <a:pt x="0" y="780288"/>
                  </a:lnTo>
                  <a:close/>
                </a:path>
              </a:pathLst>
            </a:custGeom>
            <a:blipFill>
              <a:blip r:embed="rId2">
                <a:alphaModFix amt="0"/>
              </a:blip>
              <a:stretch>
                <a:fillRect l="0" t="-437125" r="0" b="-437125"/>
              </a:stretch>
            </a:blipFill>
          </p:spPr>
        </p:sp>
        <p:sp>
          <p:nvSpPr>
            <p:cNvPr name="TextBox 22" id="22"/>
            <p:cNvSpPr txBox="true"/>
            <p:nvPr/>
          </p:nvSpPr>
          <p:spPr>
            <a:xfrm>
              <a:off x="0" y="-38100"/>
              <a:ext cx="19507200" cy="818388"/>
            </a:xfrm>
            <a:prstGeom prst="rect">
              <a:avLst/>
            </a:prstGeom>
          </p:spPr>
          <p:txBody>
            <a:bodyPr anchor="ctr" rtlCol="false" tIns="0" lIns="0" bIns="0" rIns="0"/>
            <a:lstStyle/>
            <a:p>
              <a:pPr algn="l">
                <a:lnSpc>
                  <a:spcPts val="2400"/>
                </a:lnSpc>
              </a:pPr>
              <a:r>
                <a:rPr lang="en-US" sz="2000">
                  <a:solidFill>
                    <a:srgbClr val="7FB3C8"/>
                  </a:solidFill>
                  <a:latin typeface="Calibri (MS)"/>
                  <a:ea typeface="Calibri (MS)"/>
                  <a:cs typeface="Calibri (MS)"/>
                  <a:sym typeface="Calibri (MS)"/>
                </a:rPr>
                <a:t>Mata Kuliah Big Data  ·  2025/2026</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13154663" y="-1475737"/>
            <a:ext cx="7340603" cy="7340603"/>
            <a:chOff x="0" y="0"/>
            <a:chExt cx="9787471" cy="9787471"/>
          </a:xfrm>
        </p:grpSpPr>
        <p:sp>
          <p:nvSpPr>
            <p:cNvPr name="Freeform 6" id="6"/>
            <p:cNvSpPr/>
            <p:nvPr/>
          </p:nvSpPr>
          <p:spPr>
            <a:xfrm flipH="false" flipV="false" rot="0">
              <a:off x="16891" y="16891"/>
              <a:ext cx="9753600" cy="9753600"/>
            </a:xfrm>
            <a:custGeom>
              <a:avLst/>
              <a:gdLst/>
              <a:ahLst/>
              <a:cxnLst/>
              <a:rect r="r" b="b" t="t" l="l"/>
              <a:pathLst>
                <a:path h="9753600" w="9753600">
                  <a:moveTo>
                    <a:pt x="0" y="4876800"/>
                  </a:moveTo>
                  <a:cubicBezTo>
                    <a:pt x="0" y="2183384"/>
                    <a:pt x="2183384" y="0"/>
                    <a:pt x="4876800" y="0"/>
                  </a:cubicBezTo>
                  <a:cubicBezTo>
                    <a:pt x="7570216" y="0"/>
                    <a:pt x="9753600" y="2183384"/>
                    <a:pt x="9753600" y="4876800"/>
                  </a:cubicBezTo>
                  <a:cubicBezTo>
                    <a:pt x="9753600" y="7570216"/>
                    <a:pt x="7570216" y="9753600"/>
                    <a:pt x="4876800" y="9753600"/>
                  </a:cubicBezTo>
                  <a:cubicBezTo>
                    <a:pt x="2183384" y="9753600"/>
                    <a:pt x="0" y="7570216"/>
                    <a:pt x="0" y="4876800"/>
                  </a:cubicBezTo>
                  <a:close/>
                </a:path>
              </a:pathLst>
            </a:custGeom>
            <a:solidFill>
              <a:srgbClr val="1EB8D0">
                <a:alpha val="3137"/>
              </a:srgbClr>
            </a:solidFill>
          </p:spPr>
        </p:sp>
        <p:sp>
          <p:nvSpPr>
            <p:cNvPr name="Freeform 7" id="7"/>
            <p:cNvSpPr/>
            <p:nvPr/>
          </p:nvSpPr>
          <p:spPr>
            <a:xfrm flipH="false" flipV="false" rot="0">
              <a:off x="0" y="0"/>
              <a:ext cx="9787509" cy="9787382"/>
            </a:xfrm>
            <a:custGeom>
              <a:avLst/>
              <a:gdLst/>
              <a:ahLst/>
              <a:cxnLst/>
              <a:rect r="r" b="b" t="t" l="l"/>
              <a:pathLst>
                <a:path h="9787382" w="9787509">
                  <a:moveTo>
                    <a:pt x="0" y="4893691"/>
                  </a:moveTo>
                  <a:cubicBezTo>
                    <a:pt x="0" y="2191004"/>
                    <a:pt x="2191004" y="0"/>
                    <a:pt x="4893691" y="0"/>
                  </a:cubicBezTo>
                  <a:lnTo>
                    <a:pt x="4893691" y="16891"/>
                  </a:lnTo>
                  <a:lnTo>
                    <a:pt x="4893691" y="0"/>
                  </a:lnTo>
                  <a:cubicBezTo>
                    <a:pt x="7596505" y="0"/>
                    <a:pt x="9787509" y="2191004"/>
                    <a:pt x="9787509" y="4893691"/>
                  </a:cubicBezTo>
                  <a:lnTo>
                    <a:pt x="9770618" y="4893691"/>
                  </a:lnTo>
                  <a:lnTo>
                    <a:pt x="9787509" y="4893691"/>
                  </a:lnTo>
                  <a:cubicBezTo>
                    <a:pt x="9787509" y="7596378"/>
                    <a:pt x="7596505" y="9787382"/>
                    <a:pt x="4893818" y="9787382"/>
                  </a:cubicBezTo>
                  <a:lnTo>
                    <a:pt x="4893818" y="9770490"/>
                  </a:lnTo>
                  <a:lnTo>
                    <a:pt x="4893818" y="9787382"/>
                  </a:lnTo>
                  <a:cubicBezTo>
                    <a:pt x="2191004" y="9787509"/>
                    <a:pt x="0" y="7596505"/>
                    <a:pt x="0" y="4893691"/>
                  </a:cubicBezTo>
                  <a:lnTo>
                    <a:pt x="16891" y="4893691"/>
                  </a:lnTo>
                  <a:lnTo>
                    <a:pt x="33909" y="4893691"/>
                  </a:lnTo>
                  <a:lnTo>
                    <a:pt x="16891" y="4893691"/>
                  </a:lnTo>
                  <a:lnTo>
                    <a:pt x="0" y="4893691"/>
                  </a:lnTo>
                  <a:moveTo>
                    <a:pt x="33909" y="4893691"/>
                  </a:moveTo>
                  <a:cubicBezTo>
                    <a:pt x="33909" y="4903089"/>
                    <a:pt x="26289" y="4910582"/>
                    <a:pt x="17018" y="4910582"/>
                  </a:cubicBezTo>
                  <a:cubicBezTo>
                    <a:pt x="7747" y="4910582"/>
                    <a:pt x="0" y="4903089"/>
                    <a:pt x="0" y="4893691"/>
                  </a:cubicBezTo>
                  <a:cubicBezTo>
                    <a:pt x="0" y="4884293"/>
                    <a:pt x="7620" y="4876800"/>
                    <a:pt x="16891" y="4876800"/>
                  </a:cubicBezTo>
                  <a:cubicBezTo>
                    <a:pt x="26162" y="4876800"/>
                    <a:pt x="33782" y="4884420"/>
                    <a:pt x="33782" y="4893691"/>
                  </a:cubicBezTo>
                  <a:cubicBezTo>
                    <a:pt x="33909" y="7577709"/>
                    <a:pt x="2209673" y="9753600"/>
                    <a:pt x="4893691" y="9753600"/>
                  </a:cubicBezTo>
                  <a:cubicBezTo>
                    <a:pt x="7577709" y="9753600"/>
                    <a:pt x="9753600" y="7577709"/>
                    <a:pt x="9753600" y="4893691"/>
                  </a:cubicBezTo>
                  <a:cubicBezTo>
                    <a:pt x="9753600" y="2209673"/>
                    <a:pt x="7577709" y="33909"/>
                    <a:pt x="4893691" y="33909"/>
                  </a:cubicBezTo>
                  <a:lnTo>
                    <a:pt x="4893691" y="16891"/>
                  </a:lnTo>
                  <a:lnTo>
                    <a:pt x="4893691" y="33909"/>
                  </a:lnTo>
                  <a:cubicBezTo>
                    <a:pt x="2209673" y="33909"/>
                    <a:pt x="33909" y="2209673"/>
                    <a:pt x="33909" y="4893691"/>
                  </a:cubicBezTo>
                  <a:close/>
                </a:path>
              </a:pathLst>
            </a:custGeom>
            <a:solidFill>
              <a:srgbClr val="1EB8D0">
                <a:alpha val="3137"/>
              </a:srgbClr>
            </a:solidFill>
          </p:spPr>
        </p:sp>
      </p:grpSp>
      <p:grpSp>
        <p:nvGrpSpPr>
          <p:cNvPr name="Group 8" id="8"/>
          <p:cNvGrpSpPr/>
          <p:nvPr/>
        </p:nvGrpSpPr>
        <p:grpSpPr>
          <a:xfrm rot="0">
            <a:off x="15166343" y="5839463"/>
            <a:ext cx="4414523" cy="4414523"/>
            <a:chOff x="0" y="0"/>
            <a:chExt cx="5886031" cy="5886031"/>
          </a:xfrm>
        </p:grpSpPr>
        <p:sp>
          <p:nvSpPr>
            <p:cNvPr name="Freeform 9" id="9"/>
            <p:cNvSpPr/>
            <p:nvPr/>
          </p:nvSpPr>
          <p:spPr>
            <a:xfrm flipH="false" flipV="false" rot="0">
              <a:off x="16891" y="16891"/>
              <a:ext cx="5852160" cy="5852160"/>
            </a:xfrm>
            <a:custGeom>
              <a:avLst/>
              <a:gdLst/>
              <a:ahLst/>
              <a:cxnLst/>
              <a:rect r="r" b="b" t="t" l="l"/>
              <a:pathLst>
                <a:path h="5852160" w="5852160">
                  <a:moveTo>
                    <a:pt x="0" y="2926080"/>
                  </a:moveTo>
                  <a:cubicBezTo>
                    <a:pt x="0" y="1310005"/>
                    <a:pt x="1310005" y="0"/>
                    <a:pt x="2926080" y="0"/>
                  </a:cubicBezTo>
                  <a:cubicBezTo>
                    <a:pt x="4542155" y="0"/>
                    <a:pt x="5852160" y="1310005"/>
                    <a:pt x="5852160" y="2926080"/>
                  </a:cubicBezTo>
                  <a:cubicBezTo>
                    <a:pt x="5852160" y="4542155"/>
                    <a:pt x="4542155" y="5852160"/>
                    <a:pt x="2926080" y="5852160"/>
                  </a:cubicBezTo>
                  <a:cubicBezTo>
                    <a:pt x="1310005" y="5852160"/>
                    <a:pt x="0" y="4542155"/>
                    <a:pt x="0" y="2926080"/>
                  </a:cubicBezTo>
                  <a:close/>
                </a:path>
              </a:pathLst>
            </a:custGeom>
            <a:solidFill>
              <a:srgbClr val="F4A261">
                <a:alpha val="1961"/>
              </a:srgbClr>
            </a:solidFill>
          </p:spPr>
        </p:sp>
        <p:sp>
          <p:nvSpPr>
            <p:cNvPr name="Freeform 10" id="10"/>
            <p:cNvSpPr/>
            <p:nvPr/>
          </p:nvSpPr>
          <p:spPr>
            <a:xfrm flipH="false" flipV="false" rot="0">
              <a:off x="0" y="0"/>
              <a:ext cx="5886069" cy="5885942"/>
            </a:xfrm>
            <a:custGeom>
              <a:avLst/>
              <a:gdLst/>
              <a:ahLst/>
              <a:cxnLst/>
              <a:rect r="r" b="b" t="t" l="l"/>
              <a:pathLst>
                <a:path h="5885942" w="5886069">
                  <a:moveTo>
                    <a:pt x="0" y="2942971"/>
                  </a:moveTo>
                  <a:cubicBezTo>
                    <a:pt x="0" y="1317625"/>
                    <a:pt x="1317625" y="0"/>
                    <a:pt x="2942971" y="0"/>
                  </a:cubicBezTo>
                  <a:lnTo>
                    <a:pt x="2942971" y="16891"/>
                  </a:lnTo>
                  <a:lnTo>
                    <a:pt x="2942971" y="0"/>
                  </a:lnTo>
                  <a:cubicBezTo>
                    <a:pt x="4568444" y="0"/>
                    <a:pt x="5886069" y="1317625"/>
                    <a:pt x="5886069" y="2942971"/>
                  </a:cubicBezTo>
                  <a:lnTo>
                    <a:pt x="5869178" y="2942971"/>
                  </a:lnTo>
                  <a:lnTo>
                    <a:pt x="5886069" y="2942971"/>
                  </a:lnTo>
                  <a:cubicBezTo>
                    <a:pt x="5886069" y="4568317"/>
                    <a:pt x="4568444" y="5885942"/>
                    <a:pt x="2943098" y="5885942"/>
                  </a:cubicBezTo>
                  <a:lnTo>
                    <a:pt x="2943098" y="5869051"/>
                  </a:lnTo>
                  <a:lnTo>
                    <a:pt x="2943098" y="5885942"/>
                  </a:lnTo>
                  <a:cubicBezTo>
                    <a:pt x="1317625" y="5886069"/>
                    <a:pt x="0" y="4568444"/>
                    <a:pt x="0" y="2942971"/>
                  </a:cubicBezTo>
                  <a:lnTo>
                    <a:pt x="16891" y="2942971"/>
                  </a:lnTo>
                  <a:lnTo>
                    <a:pt x="33909" y="2942971"/>
                  </a:lnTo>
                  <a:lnTo>
                    <a:pt x="16891" y="2942971"/>
                  </a:lnTo>
                  <a:lnTo>
                    <a:pt x="0" y="2942971"/>
                  </a:lnTo>
                  <a:moveTo>
                    <a:pt x="33909" y="2942971"/>
                  </a:moveTo>
                  <a:cubicBezTo>
                    <a:pt x="33909" y="2952369"/>
                    <a:pt x="26289" y="2959862"/>
                    <a:pt x="17018" y="2959862"/>
                  </a:cubicBezTo>
                  <a:cubicBezTo>
                    <a:pt x="7747" y="2959862"/>
                    <a:pt x="0" y="2952369"/>
                    <a:pt x="0" y="2942971"/>
                  </a:cubicBezTo>
                  <a:cubicBezTo>
                    <a:pt x="0" y="2933573"/>
                    <a:pt x="7620" y="2926080"/>
                    <a:pt x="16891" y="2926080"/>
                  </a:cubicBezTo>
                  <a:cubicBezTo>
                    <a:pt x="26162" y="2926080"/>
                    <a:pt x="33782" y="2933700"/>
                    <a:pt x="33782" y="2942971"/>
                  </a:cubicBezTo>
                  <a:cubicBezTo>
                    <a:pt x="33782" y="4549648"/>
                    <a:pt x="1336294" y="5852160"/>
                    <a:pt x="2942971" y="5852160"/>
                  </a:cubicBezTo>
                  <a:cubicBezTo>
                    <a:pt x="4549648" y="5852160"/>
                    <a:pt x="5852160" y="4549648"/>
                    <a:pt x="5852160" y="2942971"/>
                  </a:cubicBezTo>
                  <a:cubicBezTo>
                    <a:pt x="5852160" y="1336294"/>
                    <a:pt x="4549648" y="33909"/>
                    <a:pt x="2942971" y="33909"/>
                  </a:cubicBezTo>
                  <a:lnTo>
                    <a:pt x="2942971" y="16891"/>
                  </a:lnTo>
                  <a:lnTo>
                    <a:pt x="2942971" y="33909"/>
                  </a:lnTo>
                  <a:cubicBezTo>
                    <a:pt x="1336294" y="33909"/>
                    <a:pt x="33909" y="1336294"/>
                    <a:pt x="33909" y="2942971"/>
                  </a:cubicBezTo>
                  <a:close/>
                </a:path>
              </a:pathLst>
            </a:custGeom>
            <a:solidFill>
              <a:srgbClr val="F4A261">
                <a:alpha val="1961"/>
              </a:srgbClr>
            </a:solidFill>
          </p:spPr>
        </p:sp>
      </p:grpSp>
      <p:grpSp>
        <p:nvGrpSpPr>
          <p:cNvPr name="Group 11" id="11"/>
          <p:cNvGrpSpPr/>
          <p:nvPr/>
        </p:nvGrpSpPr>
        <p:grpSpPr>
          <a:xfrm rot="0">
            <a:off x="-12697" y="1998983"/>
            <a:ext cx="1031243" cy="5694683"/>
            <a:chOff x="0" y="0"/>
            <a:chExt cx="1374991" cy="7592911"/>
          </a:xfrm>
        </p:grpSpPr>
        <p:sp>
          <p:nvSpPr>
            <p:cNvPr name="Freeform 12" id="12"/>
            <p:cNvSpPr/>
            <p:nvPr/>
          </p:nvSpPr>
          <p:spPr>
            <a:xfrm flipH="false" flipV="false" rot="0">
              <a:off x="16891" y="16891"/>
              <a:ext cx="1341120" cy="7559040"/>
            </a:xfrm>
            <a:custGeom>
              <a:avLst/>
              <a:gdLst/>
              <a:ahLst/>
              <a:cxnLst/>
              <a:rect r="r" b="b" t="t" l="l"/>
              <a:pathLst>
                <a:path h="7559040" w="1341120">
                  <a:moveTo>
                    <a:pt x="0" y="0"/>
                  </a:moveTo>
                  <a:lnTo>
                    <a:pt x="1341120" y="0"/>
                  </a:lnTo>
                  <a:lnTo>
                    <a:pt x="1341120" y="7559040"/>
                  </a:lnTo>
                  <a:lnTo>
                    <a:pt x="0" y="7559040"/>
                  </a:lnTo>
                  <a:close/>
                </a:path>
              </a:pathLst>
            </a:custGeom>
            <a:solidFill>
              <a:srgbClr val="1EB8D0"/>
            </a:solidFill>
          </p:spPr>
        </p:sp>
        <p:sp>
          <p:nvSpPr>
            <p:cNvPr name="Freeform 13" id="13"/>
            <p:cNvSpPr/>
            <p:nvPr/>
          </p:nvSpPr>
          <p:spPr>
            <a:xfrm flipH="false" flipV="false" rot="0">
              <a:off x="0" y="0"/>
              <a:ext cx="1374902" cy="7592822"/>
            </a:xfrm>
            <a:custGeom>
              <a:avLst/>
              <a:gdLst/>
              <a:ahLst/>
              <a:cxnLst/>
              <a:rect r="r" b="b" t="t" l="l"/>
              <a:pathLst>
                <a:path h="7592822" w="1374902">
                  <a:moveTo>
                    <a:pt x="16891" y="0"/>
                  </a:moveTo>
                  <a:lnTo>
                    <a:pt x="1358011" y="0"/>
                  </a:lnTo>
                  <a:cubicBezTo>
                    <a:pt x="1367409" y="0"/>
                    <a:pt x="1374902" y="7620"/>
                    <a:pt x="1374902" y="16891"/>
                  </a:cubicBezTo>
                  <a:lnTo>
                    <a:pt x="1374902" y="7575931"/>
                  </a:lnTo>
                  <a:cubicBezTo>
                    <a:pt x="1374902" y="7585329"/>
                    <a:pt x="1367282" y="7592822"/>
                    <a:pt x="1358011" y="7592822"/>
                  </a:cubicBezTo>
                  <a:lnTo>
                    <a:pt x="16891" y="7592822"/>
                  </a:lnTo>
                  <a:cubicBezTo>
                    <a:pt x="7493" y="7592822"/>
                    <a:pt x="0" y="7585202"/>
                    <a:pt x="0" y="7575931"/>
                  </a:cubicBezTo>
                  <a:lnTo>
                    <a:pt x="0" y="16891"/>
                  </a:lnTo>
                  <a:cubicBezTo>
                    <a:pt x="0" y="7620"/>
                    <a:pt x="7620" y="0"/>
                    <a:pt x="16891" y="0"/>
                  </a:cubicBezTo>
                  <a:moveTo>
                    <a:pt x="16891" y="33909"/>
                  </a:moveTo>
                  <a:lnTo>
                    <a:pt x="16891" y="16891"/>
                  </a:lnTo>
                  <a:lnTo>
                    <a:pt x="33909" y="16891"/>
                  </a:lnTo>
                  <a:lnTo>
                    <a:pt x="33909" y="7575931"/>
                  </a:lnTo>
                  <a:lnTo>
                    <a:pt x="16891" y="7575931"/>
                  </a:lnTo>
                  <a:lnTo>
                    <a:pt x="16891" y="7559040"/>
                  </a:lnTo>
                  <a:lnTo>
                    <a:pt x="1358011" y="7559040"/>
                  </a:lnTo>
                  <a:lnTo>
                    <a:pt x="1358011" y="7575931"/>
                  </a:lnTo>
                  <a:lnTo>
                    <a:pt x="1341120" y="7575931"/>
                  </a:lnTo>
                  <a:lnTo>
                    <a:pt x="1341120" y="16891"/>
                  </a:lnTo>
                  <a:lnTo>
                    <a:pt x="1358011" y="16891"/>
                  </a:lnTo>
                  <a:lnTo>
                    <a:pt x="1358011" y="33909"/>
                  </a:lnTo>
                  <a:lnTo>
                    <a:pt x="16891" y="33909"/>
                  </a:lnTo>
                  <a:close/>
                </a:path>
              </a:pathLst>
            </a:custGeom>
            <a:solidFill>
              <a:srgbClr val="1EB8D0"/>
            </a:solidFill>
          </p:spPr>
        </p:sp>
      </p:grpSp>
      <p:grpSp>
        <p:nvGrpSpPr>
          <p:cNvPr name="Group 14" id="14"/>
          <p:cNvGrpSpPr/>
          <p:nvPr/>
        </p:nvGrpSpPr>
        <p:grpSpPr>
          <a:xfrm rot="0">
            <a:off x="353063" y="644652"/>
            <a:ext cx="12801600" cy="768096"/>
            <a:chOff x="0" y="0"/>
            <a:chExt cx="17068800" cy="1024128"/>
          </a:xfrm>
        </p:grpSpPr>
        <p:sp>
          <p:nvSpPr>
            <p:cNvPr name="Freeform 15" id="15"/>
            <p:cNvSpPr/>
            <p:nvPr/>
          </p:nvSpPr>
          <p:spPr>
            <a:xfrm flipH="false" flipV="false" rot="0">
              <a:off x="0" y="0"/>
              <a:ext cx="17068800" cy="1024128"/>
            </a:xfrm>
            <a:custGeom>
              <a:avLst/>
              <a:gdLst/>
              <a:ahLst/>
              <a:cxnLst/>
              <a:rect r="r" b="b" t="t" l="l"/>
              <a:pathLst>
                <a:path h="1024128" w="17068800">
                  <a:moveTo>
                    <a:pt x="0" y="0"/>
                  </a:moveTo>
                  <a:lnTo>
                    <a:pt x="17068800" y="0"/>
                  </a:lnTo>
                  <a:lnTo>
                    <a:pt x="17068800" y="1024128"/>
                  </a:lnTo>
                  <a:lnTo>
                    <a:pt x="0" y="1024128"/>
                  </a:lnTo>
                  <a:close/>
                </a:path>
              </a:pathLst>
            </a:custGeom>
            <a:blipFill>
              <a:blip r:embed="rId2">
                <a:alphaModFix amt="0"/>
              </a:blip>
              <a:stretch>
                <a:fillRect l="0" t="-274750" r="0" b="-274750"/>
              </a:stretch>
            </a:blipFill>
          </p:spPr>
        </p:sp>
        <p:sp>
          <p:nvSpPr>
            <p:cNvPr name="TextBox 16" id="16"/>
            <p:cNvSpPr txBox="true"/>
            <p:nvPr/>
          </p:nvSpPr>
          <p:spPr>
            <a:xfrm>
              <a:off x="0" y="-57150"/>
              <a:ext cx="17068800" cy="1081278"/>
            </a:xfrm>
            <a:prstGeom prst="rect">
              <a:avLst/>
            </a:prstGeom>
          </p:spPr>
          <p:txBody>
            <a:bodyPr anchor="ctr" rtlCol="false" tIns="0" lIns="0" bIns="0" rIns="0"/>
            <a:lstStyle/>
            <a:p>
              <a:pPr algn="l">
                <a:lnSpc>
                  <a:spcPts val="3120"/>
                </a:lnSpc>
              </a:pPr>
              <a:r>
                <a:rPr lang="en-US" b="true" sz="2600" spc="1000">
                  <a:solidFill>
                    <a:srgbClr val="1EB8D0"/>
                  </a:solidFill>
                  <a:latin typeface="Calibri (MS) Bold"/>
                  <a:ea typeface="Calibri (MS) Bold"/>
                  <a:cs typeface="Calibri (MS) Bold"/>
                  <a:sym typeface="Calibri (MS) Bold"/>
                </a:rPr>
                <a:t>KELOMPOK LABUBU</a:t>
              </a:r>
            </a:p>
          </p:txBody>
        </p:sp>
      </p:grpSp>
      <p:grpSp>
        <p:nvGrpSpPr>
          <p:cNvPr name="Group 17" id="17"/>
          <p:cNvGrpSpPr/>
          <p:nvPr/>
        </p:nvGrpSpPr>
        <p:grpSpPr>
          <a:xfrm rot="0">
            <a:off x="1371600" y="2741283"/>
            <a:ext cx="12373572" cy="4804434"/>
            <a:chOff x="0" y="0"/>
            <a:chExt cx="16060434" cy="6235976"/>
          </a:xfrm>
        </p:grpSpPr>
        <p:sp>
          <p:nvSpPr>
            <p:cNvPr name="Freeform 18" id="18"/>
            <p:cNvSpPr/>
            <p:nvPr/>
          </p:nvSpPr>
          <p:spPr>
            <a:xfrm flipH="false" flipV="false" rot="0">
              <a:off x="0" y="0"/>
              <a:ext cx="16060435" cy="6235976"/>
            </a:xfrm>
            <a:custGeom>
              <a:avLst/>
              <a:gdLst/>
              <a:ahLst/>
              <a:cxnLst/>
              <a:rect r="r" b="b" t="t" l="l"/>
              <a:pathLst>
                <a:path h="6235976" w="16060435">
                  <a:moveTo>
                    <a:pt x="0" y="0"/>
                  </a:moveTo>
                  <a:lnTo>
                    <a:pt x="16060435" y="0"/>
                  </a:lnTo>
                  <a:lnTo>
                    <a:pt x="16060435" y="6235976"/>
                  </a:lnTo>
                  <a:lnTo>
                    <a:pt x="0" y="6235976"/>
                  </a:lnTo>
                  <a:close/>
                </a:path>
              </a:pathLst>
            </a:custGeom>
            <a:blipFill>
              <a:blip r:embed="rId2">
                <a:alphaModFix amt="0"/>
              </a:blip>
              <a:stretch>
                <a:fillRect l="0" t="-33782" r="-6278" b="27115"/>
              </a:stretch>
            </a:blipFill>
          </p:spPr>
        </p:sp>
        <p:sp>
          <p:nvSpPr>
            <p:cNvPr name="TextBox 19" id="19"/>
            <p:cNvSpPr txBox="true"/>
            <p:nvPr/>
          </p:nvSpPr>
          <p:spPr>
            <a:xfrm>
              <a:off x="0" y="-123825"/>
              <a:ext cx="16060434" cy="6359801"/>
            </a:xfrm>
            <a:prstGeom prst="rect">
              <a:avLst/>
            </a:prstGeom>
          </p:spPr>
          <p:txBody>
            <a:bodyPr anchor="ctr" rtlCol="false" tIns="0" lIns="0" bIns="0" rIns="0"/>
            <a:lstStyle/>
            <a:p>
              <a:pPr algn="l">
                <a:lnSpc>
                  <a:spcPts val="6840"/>
                </a:lnSpc>
              </a:pPr>
              <a:r>
                <a:rPr lang="en-US" sz="5700" b="true">
                  <a:solidFill>
                    <a:srgbClr val="FFFFFF"/>
                  </a:solidFill>
                  <a:latin typeface="Calibri (MS) Bold"/>
                  <a:ea typeface="Calibri (MS) Bold"/>
                  <a:cs typeface="Calibri (MS) Bold"/>
                  <a:sym typeface="Calibri (MS) Bold"/>
                </a:rPr>
                <a:t>Baihaqi Nur Muhammad </a:t>
              </a:r>
            </a:p>
            <a:p>
              <a:pPr algn="l">
                <a:lnSpc>
                  <a:spcPts val="6840"/>
                </a:lnSpc>
              </a:pPr>
              <a:r>
                <a:rPr lang="en-US" sz="5700" b="true">
                  <a:solidFill>
                    <a:srgbClr val="FFFFFF"/>
                  </a:solidFill>
                  <a:latin typeface="Calibri (MS) Bold"/>
                  <a:ea typeface="Calibri (MS) Bold"/>
                  <a:cs typeface="Calibri (MS) Bold"/>
                  <a:sym typeface="Calibri (MS) Bold"/>
                </a:rPr>
                <a:t>Muhammad Jazuli  </a:t>
              </a:r>
            </a:p>
            <a:p>
              <a:pPr algn="l">
                <a:lnSpc>
                  <a:spcPts val="6840"/>
                </a:lnSpc>
              </a:pPr>
              <a:r>
                <a:rPr lang="en-US" sz="5700">
                  <a:solidFill>
                    <a:srgbClr val="FFFFFF"/>
                  </a:solidFill>
                  <a:latin typeface="Calibri (MS)"/>
                  <a:ea typeface="Calibri (MS)"/>
                  <a:cs typeface="Calibri (MS)"/>
                  <a:sym typeface="Calibri (MS)"/>
                </a:rPr>
                <a:t>D</a:t>
              </a:r>
              <a:r>
                <a:rPr lang="en-US" sz="5700" b="true">
                  <a:solidFill>
                    <a:srgbClr val="FFFFFF"/>
                  </a:solidFill>
                  <a:latin typeface="Calibri (MS) Bold"/>
                  <a:ea typeface="Calibri (MS) Bold"/>
                  <a:cs typeface="Calibri (MS) Bold"/>
                  <a:sym typeface="Calibri (MS) Bold"/>
                </a:rPr>
                <a:t>affa Muhammad Khrisadi </a:t>
              </a:r>
            </a:p>
            <a:p>
              <a:pPr algn="l">
                <a:lnSpc>
                  <a:spcPts val="6840"/>
                </a:lnSpc>
              </a:pPr>
              <a:r>
                <a:rPr lang="en-US" sz="5700" b="true">
                  <a:solidFill>
                    <a:srgbClr val="FFFFFF"/>
                  </a:solidFill>
                  <a:latin typeface="Calibri (MS) Bold"/>
                  <a:ea typeface="Calibri (MS) Bold"/>
                  <a:cs typeface="Calibri (MS) Bold"/>
                  <a:sym typeface="Calibri (MS) Bold"/>
                </a:rPr>
                <a:t>MADE SURYA DARMAWAN RIJASA </a:t>
              </a:r>
            </a:p>
          </p:txBody>
        </p:sp>
      </p:grpSp>
      <p:grpSp>
        <p:nvGrpSpPr>
          <p:cNvPr name="Group 20" id="20"/>
          <p:cNvGrpSpPr/>
          <p:nvPr/>
        </p:nvGrpSpPr>
        <p:grpSpPr>
          <a:xfrm rot="0">
            <a:off x="1371600" y="9144000"/>
            <a:ext cx="14630400" cy="585216"/>
            <a:chOff x="0" y="0"/>
            <a:chExt cx="19507200" cy="780288"/>
          </a:xfrm>
        </p:grpSpPr>
        <p:sp>
          <p:nvSpPr>
            <p:cNvPr name="Freeform 21" id="21"/>
            <p:cNvSpPr/>
            <p:nvPr/>
          </p:nvSpPr>
          <p:spPr>
            <a:xfrm flipH="false" flipV="false" rot="0">
              <a:off x="0" y="0"/>
              <a:ext cx="19507200" cy="780288"/>
            </a:xfrm>
            <a:custGeom>
              <a:avLst/>
              <a:gdLst/>
              <a:ahLst/>
              <a:cxnLst/>
              <a:rect r="r" b="b" t="t" l="l"/>
              <a:pathLst>
                <a:path h="780288" w="19507200">
                  <a:moveTo>
                    <a:pt x="0" y="0"/>
                  </a:moveTo>
                  <a:lnTo>
                    <a:pt x="19507200" y="0"/>
                  </a:lnTo>
                  <a:lnTo>
                    <a:pt x="19507200" y="780288"/>
                  </a:lnTo>
                  <a:lnTo>
                    <a:pt x="0" y="780288"/>
                  </a:lnTo>
                  <a:close/>
                </a:path>
              </a:pathLst>
            </a:custGeom>
            <a:blipFill>
              <a:blip r:embed="rId2">
                <a:alphaModFix amt="0"/>
              </a:blip>
              <a:stretch>
                <a:fillRect l="0" t="-437125" r="0" b="-437125"/>
              </a:stretch>
            </a:blipFill>
          </p:spPr>
        </p:sp>
        <p:sp>
          <p:nvSpPr>
            <p:cNvPr name="TextBox 22" id="22"/>
            <p:cNvSpPr txBox="true"/>
            <p:nvPr/>
          </p:nvSpPr>
          <p:spPr>
            <a:xfrm>
              <a:off x="0" y="-38100"/>
              <a:ext cx="19507200" cy="818388"/>
            </a:xfrm>
            <a:prstGeom prst="rect">
              <a:avLst/>
            </a:prstGeom>
          </p:spPr>
          <p:txBody>
            <a:bodyPr anchor="ctr" rtlCol="false" tIns="0" lIns="0" bIns="0" rIns="0"/>
            <a:lstStyle/>
            <a:p>
              <a:pPr algn="l">
                <a:lnSpc>
                  <a:spcPts val="2400"/>
                </a:lnSpc>
              </a:pPr>
              <a:r>
                <a:rPr lang="en-US" sz="2000">
                  <a:solidFill>
                    <a:srgbClr val="7FB3C8"/>
                  </a:solidFill>
                  <a:latin typeface="Calibri (MS)"/>
                  <a:ea typeface="Calibri (MS)"/>
                  <a:cs typeface="Calibri (MS)"/>
                  <a:sym typeface="Calibri (MS)"/>
                </a:rPr>
                <a:t>Mata Kuliah Big Data  ·  2025/2026</a:t>
              </a:r>
            </a:p>
          </p:txBody>
        </p:sp>
      </p:grpSp>
      <p:grpSp>
        <p:nvGrpSpPr>
          <p:cNvPr name="Group 23" id="23"/>
          <p:cNvGrpSpPr/>
          <p:nvPr/>
        </p:nvGrpSpPr>
        <p:grpSpPr>
          <a:xfrm rot="0">
            <a:off x="4590270" y="1871433"/>
            <a:ext cx="5936231" cy="1370857"/>
            <a:chOff x="0" y="0"/>
            <a:chExt cx="7705006" cy="1779322"/>
          </a:xfrm>
        </p:grpSpPr>
        <p:sp>
          <p:nvSpPr>
            <p:cNvPr name="Freeform 24" id="24"/>
            <p:cNvSpPr/>
            <p:nvPr/>
          </p:nvSpPr>
          <p:spPr>
            <a:xfrm flipH="false" flipV="false" rot="0">
              <a:off x="0" y="0"/>
              <a:ext cx="7705006" cy="1779322"/>
            </a:xfrm>
            <a:custGeom>
              <a:avLst/>
              <a:gdLst/>
              <a:ahLst/>
              <a:cxnLst/>
              <a:rect r="r" b="b" t="t" l="l"/>
              <a:pathLst>
                <a:path h="1779322" w="7705006">
                  <a:moveTo>
                    <a:pt x="0" y="0"/>
                  </a:moveTo>
                  <a:lnTo>
                    <a:pt x="7705006" y="0"/>
                  </a:lnTo>
                  <a:lnTo>
                    <a:pt x="7705006" y="1779322"/>
                  </a:lnTo>
                  <a:lnTo>
                    <a:pt x="0" y="1779322"/>
                  </a:lnTo>
                  <a:close/>
                </a:path>
              </a:pathLst>
            </a:custGeom>
            <a:blipFill>
              <a:blip r:embed="rId2">
                <a:alphaModFix amt="0"/>
              </a:blip>
              <a:stretch>
                <a:fillRect l="0" t="-118396" r="-121528" b="-155437"/>
              </a:stretch>
            </a:blipFill>
          </p:spPr>
        </p:sp>
        <p:sp>
          <p:nvSpPr>
            <p:cNvPr name="TextBox 25" id="25"/>
            <p:cNvSpPr txBox="true"/>
            <p:nvPr/>
          </p:nvSpPr>
          <p:spPr>
            <a:xfrm>
              <a:off x="0" y="-123825"/>
              <a:ext cx="7705006" cy="1903147"/>
            </a:xfrm>
            <a:prstGeom prst="rect">
              <a:avLst/>
            </a:prstGeom>
          </p:spPr>
          <p:txBody>
            <a:bodyPr anchor="ctr" rtlCol="false" tIns="0" lIns="0" bIns="0" rIns="0"/>
            <a:lstStyle/>
            <a:p>
              <a:pPr algn="l">
                <a:lnSpc>
                  <a:spcPts val="6840"/>
                </a:lnSpc>
              </a:pPr>
              <a:r>
                <a:rPr lang="en-US" sz="5700" b="true">
                  <a:solidFill>
                    <a:srgbClr val="FFFFFF"/>
                  </a:solidFill>
                  <a:latin typeface="Calibri (MS) Bold"/>
                  <a:ea typeface="Calibri (MS) Bold"/>
                  <a:cs typeface="Calibri (MS) Bold"/>
                  <a:sym typeface="Calibri (MS) Bold"/>
                </a:rPr>
                <a:t>Anggota Kelompok</a:t>
              </a:r>
            </a:p>
          </p:txBody>
        </p:sp>
      </p:grpSp>
      <p:grpSp>
        <p:nvGrpSpPr>
          <p:cNvPr name="Group 26" id="26"/>
          <p:cNvGrpSpPr/>
          <p:nvPr/>
        </p:nvGrpSpPr>
        <p:grpSpPr>
          <a:xfrm rot="0">
            <a:off x="12908810" y="2741283"/>
            <a:ext cx="6672056" cy="4804434"/>
            <a:chOff x="0" y="0"/>
            <a:chExt cx="8660080" cy="6235976"/>
          </a:xfrm>
        </p:grpSpPr>
        <p:sp>
          <p:nvSpPr>
            <p:cNvPr name="Freeform 27" id="27"/>
            <p:cNvSpPr/>
            <p:nvPr/>
          </p:nvSpPr>
          <p:spPr>
            <a:xfrm flipH="false" flipV="false" rot="0">
              <a:off x="0" y="0"/>
              <a:ext cx="8660080" cy="6235976"/>
            </a:xfrm>
            <a:custGeom>
              <a:avLst/>
              <a:gdLst/>
              <a:ahLst/>
              <a:cxnLst/>
              <a:rect r="r" b="b" t="t" l="l"/>
              <a:pathLst>
                <a:path h="6235976" w="8660080">
                  <a:moveTo>
                    <a:pt x="0" y="0"/>
                  </a:moveTo>
                  <a:lnTo>
                    <a:pt x="8660080" y="0"/>
                  </a:lnTo>
                  <a:lnTo>
                    <a:pt x="8660080" y="6235976"/>
                  </a:lnTo>
                  <a:lnTo>
                    <a:pt x="0" y="6235976"/>
                  </a:lnTo>
                  <a:close/>
                </a:path>
              </a:pathLst>
            </a:custGeom>
            <a:blipFill>
              <a:blip r:embed="rId2">
                <a:alphaModFix amt="0"/>
              </a:blip>
              <a:stretch>
                <a:fillRect l="0" t="-33782" r="-97097" b="27115"/>
              </a:stretch>
            </a:blipFill>
          </p:spPr>
        </p:sp>
        <p:sp>
          <p:nvSpPr>
            <p:cNvPr name="TextBox 28" id="28"/>
            <p:cNvSpPr txBox="true"/>
            <p:nvPr/>
          </p:nvSpPr>
          <p:spPr>
            <a:xfrm>
              <a:off x="0" y="-123825"/>
              <a:ext cx="8660080" cy="6359801"/>
            </a:xfrm>
            <a:prstGeom prst="rect">
              <a:avLst/>
            </a:prstGeom>
          </p:spPr>
          <p:txBody>
            <a:bodyPr anchor="ctr" rtlCol="false" tIns="0" lIns="0" bIns="0" rIns="0"/>
            <a:lstStyle/>
            <a:p>
              <a:pPr algn="l">
                <a:lnSpc>
                  <a:spcPts val="6840"/>
                </a:lnSpc>
              </a:pPr>
              <a:r>
                <a:rPr lang="en-US" sz="5700" b="true">
                  <a:solidFill>
                    <a:srgbClr val="FFFFFF"/>
                  </a:solidFill>
                  <a:latin typeface="Calibri (MS) Bold"/>
                  <a:ea typeface="Calibri (MS) Bold"/>
                  <a:cs typeface="Calibri (MS) Bold"/>
                  <a:sym typeface="Calibri (MS) Bold"/>
                </a:rPr>
                <a:t>24083010111</a:t>
              </a:r>
            </a:p>
            <a:p>
              <a:pPr algn="l">
                <a:lnSpc>
                  <a:spcPts val="6840"/>
                </a:lnSpc>
              </a:pPr>
              <a:r>
                <a:rPr lang="en-US" sz="5700" b="true">
                  <a:solidFill>
                    <a:srgbClr val="FFFFFF"/>
                  </a:solidFill>
                  <a:latin typeface="Calibri (MS) Bold"/>
                  <a:ea typeface="Calibri (MS) Bold"/>
                  <a:cs typeface="Calibri (MS) Bold"/>
                  <a:sym typeface="Calibri (MS) Bold"/>
                </a:rPr>
                <a:t>24083010093 </a:t>
              </a:r>
            </a:p>
            <a:p>
              <a:pPr algn="l">
                <a:lnSpc>
                  <a:spcPts val="6840"/>
                </a:lnSpc>
              </a:pPr>
              <a:r>
                <a:rPr lang="en-US" sz="5700" b="true">
                  <a:solidFill>
                    <a:srgbClr val="FFFFFF"/>
                  </a:solidFill>
                  <a:latin typeface="Calibri (MS) Bold"/>
                  <a:ea typeface="Calibri (MS) Bold"/>
                  <a:cs typeface="Calibri (MS) Bold"/>
                  <a:sym typeface="Calibri (MS) Bold"/>
                </a:rPr>
                <a:t>24083010062</a:t>
              </a:r>
            </a:p>
            <a:p>
              <a:pPr algn="l">
                <a:lnSpc>
                  <a:spcPts val="6840"/>
                </a:lnSpc>
              </a:pPr>
              <a:r>
                <a:rPr lang="en-US" sz="5700" b="true">
                  <a:solidFill>
                    <a:srgbClr val="FFFFFF"/>
                  </a:solidFill>
                  <a:latin typeface="Calibri (MS) Bold"/>
                  <a:ea typeface="Calibri (MS) Bold"/>
                  <a:cs typeface="Calibri (MS) Bold"/>
                  <a:sym typeface="Calibri (MS) Bold"/>
                </a:rPr>
                <a:t>24083010119</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1EB8D0"/>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1EB8D0"/>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LATAR BELAKANG</a:t>
              </a:r>
            </a:p>
          </p:txBody>
        </p:sp>
      </p:grpSp>
      <p:grpSp>
        <p:nvGrpSpPr>
          <p:cNvPr name="Group 11" id="11"/>
          <p:cNvGrpSpPr/>
          <p:nvPr/>
        </p:nvGrpSpPr>
        <p:grpSpPr>
          <a:xfrm rot="0">
            <a:off x="5486400" y="256032"/>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Latar Belakang</a:t>
              </a:r>
            </a:p>
          </p:txBody>
        </p:sp>
      </p:grpSp>
      <p:grpSp>
        <p:nvGrpSpPr>
          <p:cNvPr name="Group 14" id="14"/>
          <p:cNvGrpSpPr/>
          <p:nvPr/>
        </p:nvGrpSpPr>
        <p:grpSpPr>
          <a:xfrm rot="0">
            <a:off x="914400" y="1682496"/>
            <a:ext cx="8778240" cy="694944"/>
            <a:chOff x="0" y="0"/>
            <a:chExt cx="11704320" cy="926592"/>
          </a:xfrm>
        </p:grpSpPr>
        <p:sp>
          <p:nvSpPr>
            <p:cNvPr name="Freeform 15" id="15"/>
            <p:cNvSpPr/>
            <p:nvPr/>
          </p:nvSpPr>
          <p:spPr>
            <a:xfrm flipH="false" flipV="false" rot="0">
              <a:off x="0" y="0"/>
              <a:ext cx="11704320" cy="926592"/>
            </a:xfrm>
            <a:custGeom>
              <a:avLst/>
              <a:gdLst/>
              <a:ahLst/>
              <a:cxnLst/>
              <a:rect r="r" b="b" t="t" l="l"/>
              <a:pathLst>
                <a:path h="926592" w="11704320">
                  <a:moveTo>
                    <a:pt x="0" y="0"/>
                  </a:moveTo>
                  <a:lnTo>
                    <a:pt x="11704320" y="0"/>
                  </a:lnTo>
                  <a:lnTo>
                    <a:pt x="11704320" y="926592"/>
                  </a:lnTo>
                  <a:lnTo>
                    <a:pt x="0" y="926592"/>
                  </a:lnTo>
                  <a:close/>
                </a:path>
              </a:pathLst>
            </a:custGeom>
            <a:blipFill>
              <a:blip r:embed="rId2">
                <a:alphaModFix amt="0"/>
              </a:blip>
              <a:stretch>
                <a:fillRect l="0" t="-196126" r="0" b="-196126"/>
              </a:stretch>
            </a:blipFill>
          </p:spPr>
        </p:sp>
        <p:sp>
          <p:nvSpPr>
            <p:cNvPr name="TextBox 16" id="16"/>
            <p:cNvSpPr txBox="true"/>
            <p:nvPr/>
          </p:nvSpPr>
          <p:spPr>
            <a:xfrm>
              <a:off x="0" y="-47625"/>
              <a:ext cx="11704320" cy="974217"/>
            </a:xfrm>
            <a:prstGeom prst="rect">
              <a:avLst/>
            </a:prstGeom>
          </p:spPr>
          <p:txBody>
            <a:bodyPr anchor="ctr" rtlCol="false" tIns="0" lIns="0" bIns="0" rIns="0"/>
            <a:lstStyle/>
            <a:p>
              <a:pPr algn="l">
                <a:lnSpc>
                  <a:spcPts val="3359"/>
                </a:lnSpc>
              </a:pPr>
              <a:r>
                <a:rPr lang="en-US" sz="2799" b="true">
                  <a:solidFill>
                    <a:srgbClr val="0A2342"/>
                  </a:solidFill>
                  <a:latin typeface="Calibri (MS) Bold"/>
                  <a:ea typeface="Calibri (MS) Bold"/>
                  <a:cs typeface="Calibri (MS) Bold"/>
                  <a:sym typeface="Calibri (MS) Bold"/>
                </a:rPr>
                <a:t>Mengapa Data Iklim Penting?</a:t>
              </a:r>
            </a:p>
          </p:txBody>
        </p:sp>
      </p:grpSp>
      <p:grpSp>
        <p:nvGrpSpPr>
          <p:cNvPr name="Group 17" id="17"/>
          <p:cNvGrpSpPr/>
          <p:nvPr/>
        </p:nvGrpSpPr>
        <p:grpSpPr>
          <a:xfrm rot="0">
            <a:off x="744226" y="2706624"/>
            <a:ext cx="8778240" cy="6065790"/>
            <a:chOff x="0" y="0"/>
            <a:chExt cx="11704320" cy="8087720"/>
          </a:xfrm>
        </p:grpSpPr>
        <p:sp>
          <p:nvSpPr>
            <p:cNvPr name="Freeform 18" id="18"/>
            <p:cNvSpPr/>
            <p:nvPr/>
          </p:nvSpPr>
          <p:spPr>
            <a:xfrm flipH="false" flipV="false" rot="0">
              <a:off x="0" y="0"/>
              <a:ext cx="11704320" cy="8087720"/>
            </a:xfrm>
            <a:custGeom>
              <a:avLst/>
              <a:gdLst/>
              <a:ahLst/>
              <a:cxnLst/>
              <a:rect r="r" b="b" t="t" l="l"/>
              <a:pathLst>
                <a:path h="8087720" w="11704320">
                  <a:moveTo>
                    <a:pt x="0" y="0"/>
                  </a:moveTo>
                  <a:lnTo>
                    <a:pt x="11704320" y="0"/>
                  </a:lnTo>
                  <a:lnTo>
                    <a:pt x="11704320" y="8087720"/>
                  </a:lnTo>
                  <a:lnTo>
                    <a:pt x="0" y="8087720"/>
                  </a:lnTo>
                  <a:close/>
                </a:path>
              </a:pathLst>
            </a:custGeom>
            <a:blipFill>
              <a:blip r:embed="rId2">
                <a:alphaModFix amt="0"/>
              </a:blip>
              <a:stretch>
                <a:fillRect l="0" t="-159" r="0" b="43762"/>
              </a:stretch>
            </a:blipFill>
          </p:spPr>
        </p:sp>
        <p:sp>
          <p:nvSpPr>
            <p:cNvPr name="TextBox 19" id="19"/>
            <p:cNvSpPr txBox="true"/>
            <p:nvPr/>
          </p:nvSpPr>
          <p:spPr>
            <a:xfrm>
              <a:off x="0" y="-47625"/>
              <a:ext cx="11704320" cy="8135345"/>
            </a:xfrm>
            <a:prstGeom prst="rect">
              <a:avLst/>
            </a:prstGeom>
          </p:spPr>
          <p:txBody>
            <a:bodyPr anchor="ctr" rtlCol="false" tIns="0" lIns="0" bIns="0" rIns="0"/>
            <a:lstStyle/>
            <a:p>
              <a:pPr algn="l">
                <a:lnSpc>
                  <a:spcPts val="2999"/>
                </a:lnSpc>
              </a:pPr>
              <a:r>
                <a:rPr lang="en-US" sz="2499">
                  <a:solidFill>
                    <a:srgbClr val="1E3A5F"/>
                  </a:solidFill>
                  <a:latin typeface="Calibri (MS)"/>
                  <a:ea typeface="Calibri (MS)"/>
                  <a:cs typeface="Calibri (MS)"/>
                  <a:sym typeface="Calibri (MS)"/>
                </a:rPr>
                <a:t>Indonesia sebagai negara tropis memiliki pola iklim yang dinamis dan rentan terhadap cuaca ekstrem. BMKG menghasilkan data iklim harian dalam jumlah besar yang tidak lagi dapat diolah secara konvensional. Diperlukan pendekatan Big Data untuk menganalisis pola, tren, dan anomali iklim secara efisien dan menyeluruh. Oleh karena itu, dibutuhkan pendekatan Big Data yang mampu menangani data dalam skala besar, beragam jenis, dan terus bertambah secara real-time.</a:t>
              </a:r>
            </a:p>
            <a:p>
              <a:pPr algn="l">
                <a:lnSpc>
                  <a:spcPts val="2999"/>
                </a:lnSpc>
              </a:pP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Indonesia rentan terhadap bencana hidrometeorologi seperti banjir, kekeringan, dan angin kencang</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Cuaca ekstrem berdampak langsung pada sektor penerbangan, pertanian, dan kelautan</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Data iklim harian BMKG menjadi sumber primer pemantauan dan peringatan dini cuaca</a:t>
              </a:r>
            </a:p>
            <a:p>
              <a:pPr algn="l">
                <a:lnSpc>
                  <a:spcPts val="2999"/>
                </a:lnSpc>
              </a:pPr>
            </a:p>
          </p:txBody>
        </p:sp>
      </p:grpSp>
      <p:grpSp>
        <p:nvGrpSpPr>
          <p:cNvPr name="Group 20" id="20"/>
          <p:cNvGrpSpPr/>
          <p:nvPr/>
        </p:nvGrpSpPr>
        <p:grpSpPr>
          <a:xfrm rot="0">
            <a:off x="10600687" y="1602991"/>
            <a:ext cx="3578857" cy="2207257"/>
            <a:chOff x="0" y="0"/>
            <a:chExt cx="4771809" cy="2943009"/>
          </a:xfrm>
        </p:grpSpPr>
        <p:sp>
          <p:nvSpPr>
            <p:cNvPr name="Freeform 21" id="21"/>
            <p:cNvSpPr/>
            <p:nvPr/>
          </p:nvSpPr>
          <p:spPr>
            <a:xfrm flipH="false" flipV="false" rot="0">
              <a:off x="8509" y="8509"/>
              <a:ext cx="4754880" cy="2926080"/>
            </a:xfrm>
            <a:custGeom>
              <a:avLst/>
              <a:gdLst/>
              <a:ahLst/>
              <a:cxnLst/>
              <a:rect r="r" b="b" t="t" l="l"/>
              <a:pathLst>
                <a:path h="2926080" w="4754880">
                  <a:moveTo>
                    <a:pt x="0" y="0"/>
                  </a:moveTo>
                  <a:lnTo>
                    <a:pt x="4754880" y="0"/>
                  </a:lnTo>
                  <a:lnTo>
                    <a:pt x="4754880" y="2926080"/>
                  </a:lnTo>
                  <a:lnTo>
                    <a:pt x="0" y="2926080"/>
                  </a:lnTo>
                  <a:close/>
                </a:path>
              </a:pathLst>
            </a:custGeom>
            <a:solidFill>
              <a:srgbClr val="FFFFFF"/>
            </a:solidFill>
          </p:spPr>
        </p:sp>
        <p:sp>
          <p:nvSpPr>
            <p:cNvPr name="Freeform 22" id="22"/>
            <p:cNvSpPr/>
            <p:nvPr/>
          </p:nvSpPr>
          <p:spPr>
            <a:xfrm flipH="false" flipV="false" rot="0">
              <a:off x="0" y="0"/>
              <a:ext cx="4771898" cy="2943098"/>
            </a:xfrm>
            <a:custGeom>
              <a:avLst/>
              <a:gdLst/>
              <a:ahLst/>
              <a:cxnLst/>
              <a:rect r="r" b="b" t="t" l="l"/>
              <a:pathLst>
                <a:path h="2943098" w="4771898">
                  <a:moveTo>
                    <a:pt x="8509" y="0"/>
                  </a:moveTo>
                  <a:lnTo>
                    <a:pt x="4763389" y="0"/>
                  </a:lnTo>
                  <a:cubicBezTo>
                    <a:pt x="4768088" y="0"/>
                    <a:pt x="4771898" y="3810"/>
                    <a:pt x="4771898" y="8509"/>
                  </a:cubicBezTo>
                  <a:lnTo>
                    <a:pt x="4771898" y="2934589"/>
                  </a:lnTo>
                  <a:cubicBezTo>
                    <a:pt x="4771898" y="2939288"/>
                    <a:pt x="4768088" y="2943098"/>
                    <a:pt x="4763389" y="2943098"/>
                  </a:cubicBezTo>
                  <a:lnTo>
                    <a:pt x="8509" y="2943098"/>
                  </a:lnTo>
                  <a:cubicBezTo>
                    <a:pt x="3810" y="2943098"/>
                    <a:pt x="0" y="2939288"/>
                    <a:pt x="0" y="2934589"/>
                  </a:cubicBezTo>
                  <a:lnTo>
                    <a:pt x="0" y="8509"/>
                  </a:lnTo>
                  <a:cubicBezTo>
                    <a:pt x="0" y="3810"/>
                    <a:pt x="3810" y="0"/>
                    <a:pt x="8509" y="0"/>
                  </a:cubicBezTo>
                  <a:moveTo>
                    <a:pt x="8509" y="16891"/>
                  </a:moveTo>
                  <a:lnTo>
                    <a:pt x="8509" y="8509"/>
                  </a:lnTo>
                  <a:lnTo>
                    <a:pt x="17018" y="8509"/>
                  </a:lnTo>
                  <a:lnTo>
                    <a:pt x="17018" y="2934589"/>
                  </a:lnTo>
                  <a:lnTo>
                    <a:pt x="8509" y="2934589"/>
                  </a:lnTo>
                  <a:lnTo>
                    <a:pt x="8509" y="2926080"/>
                  </a:lnTo>
                  <a:lnTo>
                    <a:pt x="4763389" y="2926080"/>
                  </a:lnTo>
                  <a:lnTo>
                    <a:pt x="4763389" y="2934589"/>
                  </a:lnTo>
                  <a:lnTo>
                    <a:pt x="4754880" y="2934589"/>
                  </a:lnTo>
                  <a:lnTo>
                    <a:pt x="4754880" y="8509"/>
                  </a:lnTo>
                  <a:lnTo>
                    <a:pt x="4763389" y="8509"/>
                  </a:lnTo>
                  <a:lnTo>
                    <a:pt x="4763389" y="17018"/>
                  </a:lnTo>
                  <a:lnTo>
                    <a:pt x="8509" y="17018"/>
                  </a:lnTo>
                  <a:close/>
                </a:path>
              </a:pathLst>
            </a:custGeom>
            <a:solidFill>
              <a:srgbClr val="D0E8F0"/>
            </a:solidFill>
          </p:spPr>
        </p:sp>
      </p:grpSp>
      <p:grpSp>
        <p:nvGrpSpPr>
          <p:cNvPr name="Group 23" id="23"/>
          <p:cNvGrpSpPr/>
          <p:nvPr/>
        </p:nvGrpSpPr>
        <p:grpSpPr>
          <a:xfrm rot="0">
            <a:off x="10594343" y="1596647"/>
            <a:ext cx="3591563" cy="208283"/>
            <a:chOff x="0" y="0"/>
            <a:chExt cx="4788751" cy="277711"/>
          </a:xfrm>
        </p:grpSpPr>
        <p:sp>
          <p:nvSpPr>
            <p:cNvPr name="Freeform 24" id="24"/>
            <p:cNvSpPr/>
            <p:nvPr/>
          </p:nvSpPr>
          <p:spPr>
            <a:xfrm flipH="false" flipV="false" rot="0">
              <a:off x="16891" y="16891"/>
              <a:ext cx="4754880" cy="243840"/>
            </a:xfrm>
            <a:custGeom>
              <a:avLst/>
              <a:gdLst/>
              <a:ahLst/>
              <a:cxnLst/>
              <a:rect r="r" b="b" t="t" l="l"/>
              <a:pathLst>
                <a:path h="243840" w="4754880">
                  <a:moveTo>
                    <a:pt x="0" y="0"/>
                  </a:moveTo>
                  <a:lnTo>
                    <a:pt x="4754880" y="0"/>
                  </a:lnTo>
                  <a:lnTo>
                    <a:pt x="4754880" y="243840"/>
                  </a:lnTo>
                  <a:lnTo>
                    <a:pt x="0" y="243840"/>
                  </a:lnTo>
                  <a:close/>
                </a:path>
              </a:pathLst>
            </a:custGeom>
            <a:solidFill>
              <a:srgbClr val="1EB8D0"/>
            </a:solidFill>
          </p:spPr>
        </p:sp>
        <p:sp>
          <p:nvSpPr>
            <p:cNvPr name="Freeform 25" id="25"/>
            <p:cNvSpPr/>
            <p:nvPr/>
          </p:nvSpPr>
          <p:spPr>
            <a:xfrm flipH="false" flipV="false" rot="0">
              <a:off x="0" y="0"/>
              <a:ext cx="4788662" cy="277624"/>
            </a:xfrm>
            <a:custGeom>
              <a:avLst/>
              <a:gdLst/>
              <a:ahLst/>
              <a:cxnLst/>
              <a:rect r="r" b="b" t="t" l="l"/>
              <a:pathLst>
                <a:path h="277624" w="4788662">
                  <a:moveTo>
                    <a:pt x="16891" y="0"/>
                  </a:moveTo>
                  <a:lnTo>
                    <a:pt x="4771771" y="0"/>
                  </a:lnTo>
                  <a:cubicBezTo>
                    <a:pt x="4781169" y="0"/>
                    <a:pt x="4788662" y="7620"/>
                    <a:pt x="4788662" y="16891"/>
                  </a:cubicBezTo>
                  <a:lnTo>
                    <a:pt x="4788662" y="260731"/>
                  </a:lnTo>
                  <a:cubicBezTo>
                    <a:pt x="4788662" y="270129"/>
                    <a:pt x="4781042" y="277622"/>
                    <a:pt x="477177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4771771" y="243840"/>
                  </a:lnTo>
                  <a:lnTo>
                    <a:pt x="4771771" y="260731"/>
                  </a:lnTo>
                  <a:lnTo>
                    <a:pt x="4754880" y="260731"/>
                  </a:lnTo>
                  <a:lnTo>
                    <a:pt x="4754880" y="16891"/>
                  </a:lnTo>
                  <a:lnTo>
                    <a:pt x="4771771" y="16891"/>
                  </a:lnTo>
                  <a:lnTo>
                    <a:pt x="4771771" y="33909"/>
                  </a:lnTo>
                  <a:lnTo>
                    <a:pt x="16891" y="33909"/>
                  </a:lnTo>
                  <a:close/>
                </a:path>
              </a:pathLst>
            </a:custGeom>
            <a:solidFill>
              <a:srgbClr val="1EB8D0"/>
            </a:solidFill>
          </p:spPr>
        </p:sp>
      </p:grpSp>
      <p:grpSp>
        <p:nvGrpSpPr>
          <p:cNvPr name="Group 26" id="26"/>
          <p:cNvGrpSpPr/>
          <p:nvPr/>
        </p:nvGrpSpPr>
        <p:grpSpPr>
          <a:xfrm rot="0">
            <a:off x="10789920" y="1883664"/>
            <a:ext cx="822960" cy="822960"/>
            <a:chOff x="0" y="0"/>
            <a:chExt cx="1097280" cy="1097280"/>
          </a:xfrm>
        </p:grpSpPr>
        <p:sp>
          <p:nvSpPr>
            <p:cNvPr name="Freeform 27" id="2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28" id="28"/>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29" id="29"/>
          <p:cNvGrpSpPr/>
          <p:nvPr/>
        </p:nvGrpSpPr>
        <p:grpSpPr>
          <a:xfrm rot="0">
            <a:off x="11612880" y="1883664"/>
            <a:ext cx="2377440" cy="640080"/>
            <a:chOff x="0" y="0"/>
            <a:chExt cx="3169920" cy="853440"/>
          </a:xfrm>
        </p:grpSpPr>
        <p:sp>
          <p:nvSpPr>
            <p:cNvPr name="Freeform 30" id="30"/>
            <p:cNvSpPr/>
            <p:nvPr/>
          </p:nvSpPr>
          <p:spPr>
            <a:xfrm flipH="false" flipV="false" rot="0">
              <a:off x="0" y="0"/>
              <a:ext cx="3169920" cy="853440"/>
            </a:xfrm>
            <a:custGeom>
              <a:avLst/>
              <a:gdLst/>
              <a:ahLst/>
              <a:cxnLst/>
              <a:rect r="r" b="b" t="t" l="l"/>
              <a:pathLst>
                <a:path h="853440" w="3169920">
                  <a:moveTo>
                    <a:pt x="0" y="0"/>
                  </a:moveTo>
                  <a:lnTo>
                    <a:pt x="3169920" y="0"/>
                  </a:lnTo>
                  <a:lnTo>
                    <a:pt x="3169920" y="853440"/>
                  </a:lnTo>
                  <a:lnTo>
                    <a:pt x="0" y="853440"/>
                  </a:lnTo>
                  <a:close/>
                </a:path>
              </a:pathLst>
            </a:custGeom>
            <a:blipFill>
              <a:blip r:embed="rId2">
                <a:alphaModFix amt="0"/>
              </a:blip>
              <a:stretch>
                <a:fillRect l="0" t="-22372" r="0" b="-22372"/>
              </a:stretch>
            </a:blipFill>
          </p:spPr>
        </p:sp>
        <p:sp>
          <p:nvSpPr>
            <p:cNvPr name="TextBox 31" id="31"/>
            <p:cNvSpPr txBox="true"/>
            <p:nvPr/>
          </p:nvSpPr>
          <p:spPr>
            <a:xfrm>
              <a:off x="0" y="-47625"/>
              <a:ext cx="3169920" cy="901065"/>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Pertanian</a:t>
              </a:r>
            </a:p>
          </p:txBody>
        </p:sp>
      </p:grpSp>
      <p:grpSp>
        <p:nvGrpSpPr>
          <p:cNvPr name="Group 32" id="32"/>
          <p:cNvGrpSpPr/>
          <p:nvPr/>
        </p:nvGrpSpPr>
        <p:grpSpPr>
          <a:xfrm rot="0">
            <a:off x="10826496" y="2926080"/>
            <a:ext cx="3108960" cy="640080"/>
            <a:chOff x="0" y="0"/>
            <a:chExt cx="4145280" cy="853440"/>
          </a:xfrm>
        </p:grpSpPr>
        <p:sp>
          <p:nvSpPr>
            <p:cNvPr name="Freeform 33" id="33"/>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2">
                <a:alphaModFix amt="0"/>
              </a:blip>
              <a:stretch>
                <a:fillRect l="0" t="-44641" r="0" b="-44641"/>
              </a:stretch>
            </a:blipFill>
          </p:spPr>
        </p:sp>
        <p:sp>
          <p:nvSpPr>
            <p:cNvPr name="TextBox 34" id="34"/>
            <p:cNvSpPr txBox="true"/>
            <p:nvPr/>
          </p:nvSpPr>
          <p:spPr>
            <a:xfrm>
              <a:off x="0" y="-38100"/>
              <a:ext cx="4145280" cy="891540"/>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Jadwal tanam &amp; irigasi</a:t>
              </a:r>
            </a:p>
          </p:txBody>
        </p:sp>
      </p:grpSp>
      <p:grpSp>
        <p:nvGrpSpPr>
          <p:cNvPr name="Group 35" id="35"/>
          <p:cNvGrpSpPr/>
          <p:nvPr/>
        </p:nvGrpSpPr>
        <p:grpSpPr>
          <a:xfrm rot="0">
            <a:off x="14441167" y="1602991"/>
            <a:ext cx="3578857" cy="2207257"/>
            <a:chOff x="0" y="0"/>
            <a:chExt cx="4771809" cy="2943009"/>
          </a:xfrm>
        </p:grpSpPr>
        <p:sp>
          <p:nvSpPr>
            <p:cNvPr name="Freeform 36" id="36"/>
            <p:cNvSpPr/>
            <p:nvPr/>
          </p:nvSpPr>
          <p:spPr>
            <a:xfrm flipH="false" flipV="false" rot="0">
              <a:off x="8509" y="8509"/>
              <a:ext cx="4754880" cy="2926080"/>
            </a:xfrm>
            <a:custGeom>
              <a:avLst/>
              <a:gdLst/>
              <a:ahLst/>
              <a:cxnLst/>
              <a:rect r="r" b="b" t="t" l="l"/>
              <a:pathLst>
                <a:path h="2926080" w="4754880">
                  <a:moveTo>
                    <a:pt x="0" y="0"/>
                  </a:moveTo>
                  <a:lnTo>
                    <a:pt x="4754880" y="0"/>
                  </a:lnTo>
                  <a:lnTo>
                    <a:pt x="4754880" y="2926080"/>
                  </a:lnTo>
                  <a:lnTo>
                    <a:pt x="0" y="2926080"/>
                  </a:lnTo>
                  <a:close/>
                </a:path>
              </a:pathLst>
            </a:custGeom>
            <a:solidFill>
              <a:srgbClr val="FFFFFF"/>
            </a:solidFill>
          </p:spPr>
        </p:sp>
        <p:sp>
          <p:nvSpPr>
            <p:cNvPr name="Freeform 37" id="37"/>
            <p:cNvSpPr/>
            <p:nvPr/>
          </p:nvSpPr>
          <p:spPr>
            <a:xfrm flipH="false" flipV="false" rot="0">
              <a:off x="0" y="0"/>
              <a:ext cx="4771898" cy="2943098"/>
            </a:xfrm>
            <a:custGeom>
              <a:avLst/>
              <a:gdLst/>
              <a:ahLst/>
              <a:cxnLst/>
              <a:rect r="r" b="b" t="t" l="l"/>
              <a:pathLst>
                <a:path h="2943098" w="4771898">
                  <a:moveTo>
                    <a:pt x="8509" y="0"/>
                  </a:moveTo>
                  <a:lnTo>
                    <a:pt x="4763389" y="0"/>
                  </a:lnTo>
                  <a:cubicBezTo>
                    <a:pt x="4768088" y="0"/>
                    <a:pt x="4771898" y="3810"/>
                    <a:pt x="4771898" y="8509"/>
                  </a:cubicBezTo>
                  <a:lnTo>
                    <a:pt x="4771898" y="2934589"/>
                  </a:lnTo>
                  <a:cubicBezTo>
                    <a:pt x="4771898" y="2939288"/>
                    <a:pt x="4768088" y="2943098"/>
                    <a:pt x="4763389" y="2943098"/>
                  </a:cubicBezTo>
                  <a:lnTo>
                    <a:pt x="8509" y="2943098"/>
                  </a:lnTo>
                  <a:cubicBezTo>
                    <a:pt x="3810" y="2943098"/>
                    <a:pt x="0" y="2939288"/>
                    <a:pt x="0" y="2934589"/>
                  </a:cubicBezTo>
                  <a:lnTo>
                    <a:pt x="0" y="8509"/>
                  </a:lnTo>
                  <a:cubicBezTo>
                    <a:pt x="0" y="3810"/>
                    <a:pt x="3810" y="0"/>
                    <a:pt x="8509" y="0"/>
                  </a:cubicBezTo>
                  <a:moveTo>
                    <a:pt x="8509" y="16891"/>
                  </a:moveTo>
                  <a:lnTo>
                    <a:pt x="8509" y="8509"/>
                  </a:lnTo>
                  <a:lnTo>
                    <a:pt x="17018" y="8509"/>
                  </a:lnTo>
                  <a:lnTo>
                    <a:pt x="17018" y="2934589"/>
                  </a:lnTo>
                  <a:lnTo>
                    <a:pt x="8509" y="2934589"/>
                  </a:lnTo>
                  <a:lnTo>
                    <a:pt x="8509" y="2926080"/>
                  </a:lnTo>
                  <a:lnTo>
                    <a:pt x="4763389" y="2926080"/>
                  </a:lnTo>
                  <a:lnTo>
                    <a:pt x="4763389" y="2934589"/>
                  </a:lnTo>
                  <a:lnTo>
                    <a:pt x="4754880" y="2934589"/>
                  </a:lnTo>
                  <a:lnTo>
                    <a:pt x="4754880" y="8509"/>
                  </a:lnTo>
                  <a:lnTo>
                    <a:pt x="4763389" y="8509"/>
                  </a:lnTo>
                  <a:lnTo>
                    <a:pt x="4763389" y="17018"/>
                  </a:lnTo>
                  <a:lnTo>
                    <a:pt x="8509" y="17018"/>
                  </a:lnTo>
                  <a:close/>
                </a:path>
              </a:pathLst>
            </a:custGeom>
            <a:solidFill>
              <a:srgbClr val="D0E8F0"/>
            </a:solidFill>
          </p:spPr>
        </p:sp>
      </p:grpSp>
      <p:grpSp>
        <p:nvGrpSpPr>
          <p:cNvPr name="Group 38" id="38"/>
          <p:cNvGrpSpPr/>
          <p:nvPr/>
        </p:nvGrpSpPr>
        <p:grpSpPr>
          <a:xfrm rot="0">
            <a:off x="14434823" y="1596647"/>
            <a:ext cx="3591563" cy="208283"/>
            <a:chOff x="0" y="0"/>
            <a:chExt cx="4788751" cy="277711"/>
          </a:xfrm>
        </p:grpSpPr>
        <p:sp>
          <p:nvSpPr>
            <p:cNvPr name="Freeform 39" id="39"/>
            <p:cNvSpPr/>
            <p:nvPr/>
          </p:nvSpPr>
          <p:spPr>
            <a:xfrm flipH="false" flipV="false" rot="0">
              <a:off x="16891" y="16891"/>
              <a:ext cx="4754880" cy="243840"/>
            </a:xfrm>
            <a:custGeom>
              <a:avLst/>
              <a:gdLst/>
              <a:ahLst/>
              <a:cxnLst/>
              <a:rect r="r" b="b" t="t" l="l"/>
              <a:pathLst>
                <a:path h="243840" w="4754880">
                  <a:moveTo>
                    <a:pt x="0" y="0"/>
                  </a:moveTo>
                  <a:lnTo>
                    <a:pt x="4754880" y="0"/>
                  </a:lnTo>
                  <a:lnTo>
                    <a:pt x="4754880" y="243840"/>
                  </a:lnTo>
                  <a:lnTo>
                    <a:pt x="0" y="243840"/>
                  </a:lnTo>
                  <a:close/>
                </a:path>
              </a:pathLst>
            </a:custGeom>
            <a:solidFill>
              <a:srgbClr val="1EB8D0"/>
            </a:solidFill>
          </p:spPr>
        </p:sp>
        <p:sp>
          <p:nvSpPr>
            <p:cNvPr name="Freeform 40" id="40"/>
            <p:cNvSpPr/>
            <p:nvPr/>
          </p:nvSpPr>
          <p:spPr>
            <a:xfrm flipH="false" flipV="false" rot="0">
              <a:off x="0" y="0"/>
              <a:ext cx="4788662" cy="277624"/>
            </a:xfrm>
            <a:custGeom>
              <a:avLst/>
              <a:gdLst/>
              <a:ahLst/>
              <a:cxnLst/>
              <a:rect r="r" b="b" t="t" l="l"/>
              <a:pathLst>
                <a:path h="277624" w="4788662">
                  <a:moveTo>
                    <a:pt x="16891" y="0"/>
                  </a:moveTo>
                  <a:lnTo>
                    <a:pt x="4771771" y="0"/>
                  </a:lnTo>
                  <a:cubicBezTo>
                    <a:pt x="4781169" y="0"/>
                    <a:pt x="4788662" y="7620"/>
                    <a:pt x="4788662" y="16891"/>
                  </a:cubicBezTo>
                  <a:lnTo>
                    <a:pt x="4788662" y="260731"/>
                  </a:lnTo>
                  <a:cubicBezTo>
                    <a:pt x="4788662" y="270129"/>
                    <a:pt x="4781042" y="277622"/>
                    <a:pt x="477177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4771771" y="243840"/>
                  </a:lnTo>
                  <a:lnTo>
                    <a:pt x="4771771" y="260731"/>
                  </a:lnTo>
                  <a:lnTo>
                    <a:pt x="4754880" y="260731"/>
                  </a:lnTo>
                  <a:lnTo>
                    <a:pt x="4754880" y="16891"/>
                  </a:lnTo>
                  <a:lnTo>
                    <a:pt x="4771771" y="16891"/>
                  </a:lnTo>
                  <a:lnTo>
                    <a:pt x="4771771" y="33909"/>
                  </a:lnTo>
                  <a:lnTo>
                    <a:pt x="16891" y="33909"/>
                  </a:lnTo>
                  <a:close/>
                </a:path>
              </a:pathLst>
            </a:custGeom>
            <a:solidFill>
              <a:srgbClr val="1EB8D0"/>
            </a:solidFill>
          </p:spPr>
        </p:sp>
      </p:grpSp>
      <p:grpSp>
        <p:nvGrpSpPr>
          <p:cNvPr name="Group 41" id="41"/>
          <p:cNvGrpSpPr/>
          <p:nvPr/>
        </p:nvGrpSpPr>
        <p:grpSpPr>
          <a:xfrm rot="0">
            <a:off x="14630400" y="1883664"/>
            <a:ext cx="822960" cy="822960"/>
            <a:chOff x="0" y="0"/>
            <a:chExt cx="1097280" cy="1097280"/>
          </a:xfrm>
        </p:grpSpPr>
        <p:sp>
          <p:nvSpPr>
            <p:cNvPr name="Freeform 42" id="4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43" id="43"/>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44" id="44"/>
          <p:cNvGrpSpPr/>
          <p:nvPr/>
        </p:nvGrpSpPr>
        <p:grpSpPr>
          <a:xfrm rot="0">
            <a:off x="15453360" y="1883664"/>
            <a:ext cx="2377440" cy="640080"/>
            <a:chOff x="0" y="0"/>
            <a:chExt cx="3169920" cy="853440"/>
          </a:xfrm>
        </p:grpSpPr>
        <p:sp>
          <p:nvSpPr>
            <p:cNvPr name="Freeform 45" id="45"/>
            <p:cNvSpPr/>
            <p:nvPr/>
          </p:nvSpPr>
          <p:spPr>
            <a:xfrm flipH="false" flipV="false" rot="0">
              <a:off x="0" y="0"/>
              <a:ext cx="3169920" cy="853440"/>
            </a:xfrm>
            <a:custGeom>
              <a:avLst/>
              <a:gdLst/>
              <a:ahLst/>
              <a:cxnLst/>
              <a:rect r="r" b="b" t="t" l="l"/>
              <a:pathLst>
                <a:path h="853440" w="3169920">
                  <a:moveTo>
                    <a:pt x="0" y="0"/>
                  </a:moveTo>
                  <a:lnTo>
                    <a:pt x="3169920" y="0"/>
                  </a:lnTo>
                  <a:lnTo>
                    <a:pt x="3169920" y="853440"/>
                  </a:lnTo>
                  <a:lnTo>
                    <a:pt x="0" y="853440"/>
                  </a:lnTo>
                  <a:close/>
                </a:path>
              </a:pathLst>
            </a:custGeom>
            <a:blipFill>
              <a:blip r:embed="rId2">
                <a:alphaModFix amt="0"/>
              </a:blip>
              <a:stretch>
                <a:fillRect l="0" t="-22372" r="0" b="-22372"/>
              </a:stretch>
            </a:blipFill>
          </p:spPr>
        </p:sp>
        <p:sp>
          <p:nvSpPr>
            <p:cNvPr name="TextBox 46" id="46"/>
            <p:cNvSpPr txBox="true"/>
            <p:nvPr/>
          </p:nvSpPr>
          <p:spPr>
            <a:xfrm>
              <a:off x="0" y="-47625"/>
              <a:ext cx="3169920" cy="901065"/>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Penerbangan</a:t>
              </a:r>
            </a:p>
          </p:txBody>
        </p:sp>
      </p:grpSp>
      <p:grpSp>
        <p:nvGrpSpPr>
          <p:cNvPr name="Group 47" id="47"/>
          <p:cNvGrpSpPr/>
          <p:nvPr/>
        </p:nvGrpSpPr>
        <p:grpSpPr>
          <a:xfrm rot="0">
            <a:off x="14666976" y="2926080"/>
            <a:ext cx="3108960" cy="640080"/>
            <a:chOff x="0" y="0"/>
            <a:chExt cx="4145280" cy="853440"/>
          </a:xfrm>
        </p:grpSpPr>
        <p:sp>
          <p:nvSpPr>
            <p:cNvPr name="Freeform 48" id="48"/>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2">
                <a:alphaModFix amt="0"/>
              </a:blip>
              <a:stretch>
                <a:fillRect l="0" t="-44641" r="0" b="-44641"/>
              </a:stretch>
            </a:blipFill>
          </p:spPr>
        </p:sp>
        <p:sp>
          <p:nvSpPr>
            <p:cNvPr name="TextBox 49" id="49"/>
            <p:cNvSpPr txBox="true"/>
            <p:nvPr/>
          </p:nvSpPr>
          <p:spPr>
            <a:xfrm>
              <a:off x="0" y="-38100"/>
              <a:ext cx="4145280" cy="891540"/>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Keselamatan penerbangan</a:t>
              </a:r>
            </a:p>
          </p:txBody>
        </p:sp>
      </p:grpSp>
      <p:grpSp>
        <p:nvGrpSpPr>
          <p:cNvPr name="Group 50" id="50"/>
          <p:cNvGrpSpPr/>
          <p:nvPr/>
        </p:nvGrpSpPr>
        <p:grpSpPr>
          <a:xfrm rot="0">
            <a:off x="10600687" y="4071871"/>
            <a:ext cx="3578857" cy="2207257"/>
            <a:chOff x="0" y="0"/>
            <a:chExt cx="4771809" cy="2943009"/>
          </a:xfrm>
        </p:grpSpPr>
        <p:sp>
          <p:nvSpPr>
            <p:cNvPr name="Freeform 51" id="51"/>
            <p:cNvSpPr/>
            <p:nvPr/>
          </p:nvSpPr>
          <p:spPr>
            <a:xfrm flipH="false" flipV="false" rot="0">
              <a:off x="8509" y="8509"/>
              <a:ext cx="4754880" cy="2926080"/>
            </a:xfrm>
            <a:custGeom>
              <a:avLst/>
              <a:gdLst/>
              <a:ahLst/>
              <a:cxnLst/>
              <a:rect r="r" b="b" t="t" l="l"/>
              <a:pathLst>
                <a:path h="2926080" w="4754880">
                  <a:moveTo>
                    <a:pt x="0" y="0"/>
                  </a:moveTo>
                  <a:lnTo>
                    <a:pt x="4754880" y="0"/>
                  </a:lnTo>
                  <a:lnTo>
                    <a:pt x="4754880" y="2926080"/>
                  </a:lnTo>
                  <a:lnTo>
                    <a:pt x="0" y="2926080"/>
                  </a:lnTo>
                  <a:close/>
                </a:path>
              </a:pathLst>
            </a:custGeom>
            <a:solidFill>
              <a:srgbClr val="FFFFFF"/>
            </a:solidFill>
          </p:spPr>
        </p:sp>
        <p:sp>
          <p:nvSpPr>
            <p:cNvPr name="Freeform 52" id="52"/>
            <p:cNvSpPr/>
            <p:nvPr/>
          </p:nvSpPr>
          <p:spPr>
            <a:xfrm flipH="false" flipV="false" rot="0">
              <a:off x="0" y="0"/>
              <a:ext cx="4771898" cy="2943098"/>
            </a:xfrm>
            <a:custGeom>
              <a:avLst/>
              <a:gdLst/>
              <a:ahLst/>
              <a:cxnLst/>
              <a:rect r="r" b="b" t="t" l="l"/>
              <a:pathLst>
                <a:path h="2943098" w="4771898">
                  <a:moveTo>
                    <a:pt x="8509" y="0"/>
                  </a:moveTo>
                  <a:lnTo>
                    <a:pt x="4763389" y="0"/>
                  </a:lnTo>
                  <a:cubicBezTo>
                    <a:pt x="4768088" y="0"/>
                    <a:pt x="4771898" y="3810"/>
                    <a:pt x="4771898" y="8509"/>
                  </a:cubicBezTo>
                  <a:lnTo>
                    <a:pt x="4771898" y="2934589"/>
                  </a:lnTo>
                  <a:cubicBezTo>
                    <a:pt x="4771898" y="2939288"/>
                    <a:pt x="4768088" y="2943098"/>
                    <a:pt x="4763389" y="2943098"/>
                  </a:cubicBezTo>
                  <a:lnTo>
                    <a:pt x="8509" y="2943098"/>
                  </a:lnTo>
                  <a:cubicBezTo>
                    <a:pt x="3810" y="2943098"/>
                    <a:pt x="0" y="2939288"/>
                    <a:pt x="0" y="2934589"/>
                  </a:cubicBezTo>
                  <a:lnTo>
                    <a:pt x="0" y="8509"/>
                  </a:lnTo>
                  <a:cubicBezTo>
                    <a:pt x="0" y="3810"/>
                    <a:pt x="3810" y="0"/>
                    <a:pt x="8509" y="0"/>
                  </a:cubicBezTo>
                  <a:moveTo>
                    <a:pt x="8509" y="16891"/>
                  </a:moveTo>
                  <a:lnTo>
                    <a:pt x="8509" y="8509"/>
                  </a:lnTo>
                  <a:lnTo>
                    <a:pt x="17018" y="8509"/>
                  </a:lnTo>
                  <a:lnTo>
                    <a:pt x="17018" y="2934589"/>
                  </a:lnTo>
                  <a:lnTo>
                    <a:pt x="8509" y="2934589"/>
                  </a:lnTo>
                  <a:lnTo>
                    <a:pt x="8509" y="2926080"/>
                  </a:lnTo>
                  <a:lnTo>
                    <a:pt x="4763389" y="2926080"/>
                  </a:lnTo>
                  <a:lnTo>
                    <a:pt x="4763389" y="2934589"/>
                  </a:lnTo>
                  <a:lnTo>
                    <a:pt x="4754880" y="2934589"/>
                  </a:lnTo>
                  <a:lnTo>
                    <a:pt x="4754880" y="8509"/>
                  </a:lnTo>
                  <a:lnTo>
                    <a:pt x="4763389" y="8509"/>
                  </a:lnTo>
                  <a:lnTo>
                    <a:pt x="4763389" y="17018"/>
                  </a:lnTo>
                  <a:lnTo>
                    <a:pt x="8509" y="17018"/>
                  </a:lnTo>
                  <a:close/>
                </a:path>
              </a:pathLst>
            </a:custGeom>
            <a:solidFill>
              <a:srgbClr val="D0E8F0"/>
            </a:solidFill>
          </p:spPr>
        </p:sp>
      </p:grpSp>
      <p:grpSp>
        <p:nvGrpSpPr>
          <p:cNvPr name="Group 53" id="53"/>
          <p:cNvGrpSpPr/>
          <p:nvPr/>
        </p:nvGrpSpPr>
        <p:grpSpPr>
          <a:xfrm rot="0">
            <a:off x="10594343" y="4065527"/>
            <a:ext cx="3591563" cy="208283"/>
            <a:chOff x="0" y="0"/>
            <a:chExt cx="4788751" cy="277711"/>
          </a:xfrm>
        </p:grpSpPr>
        <p:sp>
          <p:nvSpPr>
            <p:cNvPr name="Freeform 54" id="54"/>
            <p:cNvSpPr/>
            <p:nvPr/>
          </p:nvSpPr>
          <p:spPr>
            <a:xfrm flipH="false" flipV="false" rot="0">
              <a:off x="16891" y="16891"/>
              <a:ext cx="4754880" cy="243840"/>
            </a:xfrm>
            <a:custGeom>
              <a:avLst/>
              <a:gdLst/>
              <a:ahLst/>
              <a:cxnLst/>
              <a:rect r="r" b="b" t="t" l="l"/>
              <a:pathLst>
                <a:path h="243840" w="4754880">
                  <a:moveTo>
                    <a:pt x="0" y="0"/>
                  </a:moveTo>
                  <a:lnTo>
                    <a:pt x="4754880" y="0"/>
                  </a:lnTo>
                  <a:lnTo>
                    <a:pt x="4754880" y="243840"/>
                  </a:lnTo>
                  <a:lnTo>
                    <a:pt x="0" y="243840"/>
                  </a:lnTo>
                  <a:close/>
                </a:path>
              </a:pathLst>
            </a:custGeom>
            <a:solidFill>
              <a:srgbClr val="1EB8D0"/>
            </a:solidFill>
          </p:spPr>
        </p:sp>
        <p:sp>
          <p:nvSpPr>
            <p:cNvPr name="Freeform 55" id="55"/>
            <p:cNvSpPr/>
            <p:nvPr/>
          </p:nvSpPr>
          <p:spPr>
            <a:xfrm flipH="false" flipV="false" rot="0">
              <a:off x="0" y="0"/>
              <a:ext cx="4788662" cy="277624"/>
            </a:xfrm>
            <a:custGeom>
              <a:avLst/>
              <a:gdLst/>
              <a:ahLst/>
              <a:cxnLst/>
              <a:rect r="r" b="b" t="t" l="l"/>
              <a:pathLst>
                <a:path h="277624" w="4788662">
                  <a:moveTo>
                    <a:pt x="16891" y="0"/>
                  </a:moveTo>
                  <a:lnTo>
                    <a:pt x="4771771" y="0"/>
                  </a:lnTo>
                  <a:cubicBezTo>
                    <a:pt x="4781169" y="0"/>
                    <a:pt x="4788662" y="7620"/>
                    <a:pt x="4788662" y="16891"/>
                  </a:cubicBezTo>
                  <a:lnTo>
                    <a:pt x="4788662" y="260731"/>
                  </a:lnTo>
                  <a:cubicBezTo>
                    <a:pt x="4788662" y="270129"/>
                    <a:pt x="4781042" y="277622"/>
                    <a:pt x="477177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4771771" y="243840"/>
                  </a:lnTo>
                  <a:lnTo>
                    <a:pt x="4771771" y="260731"/>
                  </a:lnTo>
                  <a:lnTo>
                    <a:pt x="4754880" y="260731"/>
                  </a:lnTo>
                  <a:lnTo>
                    <a:pt x="4754880" y="16891"/>
                  </a:lnTo>
                  <a:lnTo>
                    <a:pt x="4771771" y="16891"/>
                  </a:lnTo>
                  <a:lnTo>
                    <a:pt x="4771771" y="33909"/>
                  </a:lnTo>
                  <a:lnTo>
                    <a:pt x="16891" y="33909"/>
                  </a:lnTo>
                  <a:close/>
                </a:path>
              </a:pathLst>
            </a:custGeom>
            <a:solidFill>
              <a:srgbClr val="1EB8D0"/>
            </a:solidFill>
          </p:spPr>
        </p:sp>
      </p:grpSp>
      <p:grpSp>
        <p:nvGrpSpPr>
          <p:cNvPr name="Group 56" id="56"/>
          <p:cNvGrpSpPr/>
          <p:nvPr/>
        </p:nvGrpSpPr>
        <p:grpSpPr>
          <a:xfrm rot="0">
            <a:off x="10789920" y="4352544"/>
            <a:ext cx="822960" cy="822960"/>
            <a:chOff x="0" y="0"/>
            <a:chExt cx="1097280" cy="1097280"/>
          </a:xfrm>
        </p:grpSpPr>
        <p:sp>
          <p:nvSpPr>
            <p:cNvPr name="Freeform 57" id="5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58" id="58"/>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59" id="59"/>
          <p:cNvGrpSpPr/>
          <p:nvPr/>
        </p:nvGrpSpPr>
        <p:grpSpPr>
          <a:xfrm rot="0">
            <a:off x="11612880" y="4352544"/>
            <a:ext cx="2377440" cy="640080"/>
            <a:chOff x="0" y="0"/>
            <a:chExt cx="3169920" cy="853440"/>
          </a:xfrm>
        </p:grpSpPr>
        <p:sp>
          <p:nvSpPr>
            <p:cNvPr name="Freeform 60" id="60"/>
            <p:cNvSpPr/>
            <p:nvPr/>
          </p:nvSpPr>
          <p:spPr>
            <a:xfrm flipH="false" flipV="false" rot="0">
              <a:off x="0" y="0"/>
              <a:ext cx="3169920" cy="853440"/>
            </a:xfrm>
            <a:custGeom>
              <a:avLst/>
              <a:gdLst/>
              <a:ahLst/>
              <a:cxnLst/>
              <a:rect r="r" b="b" t="t" l="l"/>
              <a:pathLst>
                <a:path h="853440" w="3169920">
                  <a:moveTo>
                    <a:pt x="0" y="0"/>
                  </a:moveTo>
                  <a:lnTo>
                    <a:pt x="3169920" y="0"/>
                  </a:lnTo>
                  <a:lnTo>
                    <a:pt x="3169920" y="853440"/>
                  </a:lnTo>
                  <a:lnTo>
                    <a:pt x="0" y="853440"/>
                  </a:lnTo>
                  <a:close/>
                </a:path>
              </a:pathLst>
            </a:custGeom>
            <a:blipFill>
              <a:blip r:embed="rId2">
                <a:alphaModFix amt="0"/>
              </a:blip>
              <a:stretch>
                <a:fillRect l="0" t="-22372" r="0" b="-22372"/>
              </a:stretch>
            </a:blipFill>
          </p:spPr>
        </p:sp>
        <p:sp>
          <p:nvSpPr>
            <p:cNvPr name="TextBox 61" id="61"/>
            <p:cNvSpPr txBox="true"/>
            <p:nvPr/>
          </p:nvSpPr>
          <p:spPr>
            <a:xfrm>
              <a:off x="0" y="-47625"/>
              <a:ext cx="3169920" cy="901065"/>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Kelautan</a:t>
              </a:r>
            </a:p>
          </p:txBody>
        </p:sp>
      </p:grpSp>
      <p:grpSp>
        <p:nvGrpSpPr>
          <p:cNvPr name="Group 62" id="62"/>
          <p:cNvGrpSpPr/>
          <p:nvPr/>
        </p:nvGrpSpPr>
        <p:grpSpPr>
          <a:xfrm rot="0">
            <a:off x="10826496" y="5394960"/>
            <a:ext cx="3108960" cy="640080"/>
            <a:chOff x="0" y="0"/>
            <a:chExt cx="4145280" cy="853440"/>
          </a:xfrm>
        </p:grpSpPr>
        <p:sp>
          <p:nvSpPr>
            <p:cNvPr name="Freeform 63" id="63"/>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2">
                <a:alphaModFix amt="0"/>
              </a:blip>
              <a:stretch>
                <a:fillRect l="0" t="-44641" r="0" b="-44641"/>
              </a:stretch>
            </a:blipFill>
          </p:spPr>
        </p:sp>
        <p:sp>
          <p:nvSpPr>
            <p:cNvPr name="TextBox 64" id="64"/>
            <p:cNvSpPr txBox="true"/>
            <p:nvPr/>
          </p:nvSpPr>
          <p:spPr>
            <a:xfrm>
              <a:off x="0" y="-38100"/>
              <a:ext cx="4145280" cy="891540"/>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Peringatan gelombang</a:t>
              </a:r>
            </a:p>
          </p:txBody>
        </p:sp>
      </p:grpSp>
      <p:grpSp>
        <p:nvGrpSpPr>
          <p:cNvPr name="Group 65" id="65"/>
          <p:cNvGrpSpPr/>
          <p:nvPr/>
        </p:nvGrpSpPr>
        <p:grpSpPr>
          <a:xfrm rot="0">
            <a:off x="14441167" y="4071871"/>
            <a:ext cx="3578857" cy="2207257"/>
            <a:chOff x="0" y="0"/>
            <a:chExt cx="4771809" cy="2943009"/>
          </a:xfrm>
        </p:grpSpPr>
        <p:sp>
          <p:nvSpPr>
            <p:cNvPr name="Freeform 66" id="66"/>
            <p:cNvSpPr/>
            <p:nvPr/>
          </p:nvSpPr>
          <p:spPr>
            <a:xfrm flipH="false" flipV="false" rot="0">
              <a:off x="8509" y="8509"/>
              <a:ext cx="4754880" cy="2926080"/>
            </a:xfrm>
            <a:custGeom>
              <a:avLst/>
              <a:gdLst/>
              <a:ahLst/>
              <a:cxnLst/>
              <a:rect r="r" b="b" t="t" l="l"/>
              <a:pathLst>
                <a:path h="2926080" w="4754880">
                  <a:moveTo>
                    <a:pt x="0" y="0"/>
                  </a:moveTo>
                  <a:lnTo>
                    <a:pt x="4754880" y="0"/>
                  </a:lnTo>
                  <a:lnTo>
                    <a:pt x="4754880" y="2926080"/>
                  </a:lnTo>
                  <a:lnTo>
                    <a:pt x="0" y="2926080"/>
                  </a:lnTo>
                  <a:close/>
                </a:path>
              </a:pathLst>
            </a:custGeom>
            <a:solidFill>
              <a:srgbClr val="FFFFFF"/>
            </a:solidFill>
          </p:spPr>
        </p:sp>
        <p:sp>
          <p:nvSpPr>
            <p:cNvPr name="Freeform 67" id="67"/>
            <p:cNvSpPr/>
            <p:nvPr/>
          </p:nvSpPr>
          <p:spPr>
            <a:xfrm flipH="false" flipV="false" rot="0">
              <a:off x="0" y="0"/>
              <a:ext cx="4771898" cy="2943098"/>
            </a:xfrm>
            <a:custGeom>
              <a:avLst/>
              <a:gdLst/>
              <a:ahLst/>
              <a:cxnLst/>
              <a:rect r="r" b="b" t="t" l="l"/>
              <a:pathLst>
                <a:path h="2943098" w="4771898">
                  <a:moveTo>
                    <a:pt x="8509" y="0"/>
                  </a:moveTo>
                  <a:lnTo>
                    <a:pt x="4763389" y="0"/>
                  </a:lnTo>
                  <a:cubicBezTo>
                    <a:pt x="4768088" y="0"/>
                    <a:pt x="4771898" y="3810"/>
                    <a:pt x="4771898" y="8509"/>
                  </a:cubicBezTo>
                  <a:lnTo>
                    <a:pt x="4771898" y="2934589"/>
                  </a:lnTo>
                  <a:cubicBezTo>
                    <a:pt x="4771898" y="2939288"/>
                    <a:pt x="4768088" y="2943098"/>
                    <a:pt x="4763389" y="2943098"/>
                  </a:cubicBezTo>
                  <a:lnTo>
                    <a:pt x="8509" y="2943098"/>
                  </a:lnTo>
                  <a:cubicBezTo>
                    <a:pt x="3810" y="2943098"/>
                    <a:pt x="0" y="2939288"/>
                    <a:pt x="0" y="2934589"/>
                  </a:cubicBezTo>
                  <a:lnTo>
                    <a:pt x="0" y="8509"/>
                  </a:lnTo>
                  <a:cubicBezTo>
                    <a:pt x="0" y="3810"/>
                    <a:pt x="3810" y="0"/>
                    <a:pt x="8509" y="0"/>
                  </a:cubicBezTo>
                  <a:moveTo>
                    <a:pt x="8509" y="16891"/>
                  </a:moveTo>
                  <a:lnTo>
                    <a:pt x="8509" y="8509"/>
                  </a:lnTo>
                  <a:lnTo>
                    <a:pt x="17018" y="8509"/>
                  </a:lnTo>
                  <a:lnTo>
                    <a:pt x="17018" y="2934589"/>
                  </a:lnTo>
                  <a:lnTo>
                    <a:pt x="8509" y="2934589"/>
                  </a:lnTo>
                  <a:lnTo>
                    <a:pt x="8509" y="2926080"/>
                  </a:lnTo>
                  <a:lnTo>
                    <a:pt x="4763389" y="2926080"/>
                  </a:lnTo>
                  <a:lnTo>
                    <a:pt x="4763389" y="2934589"/>
                  </a:lnTo>
                  <a:lnTo>
                    <a:pt x="4754880" y="2934589"/>
                  </a:lnTo>
                  <a:lnTo>
                    <a:pt x="4754880" y="8509"/>
                  </a:lnTo>
                  <a:lnTo>
                    <a:pt x="4763389" y="8509"/>
                  </a:lnTo>
                  <a:lnTo>
                    <a:pt x="4763389" y="17018"/>
                  </a:lnTo>
                  <a:lnTo>
                    <a:pt x="8509" y="17018"/>
                  </a:lnTo>
                  <a:close/>
                </a:path>
              </a:pathLst>
            </a:custGeom>
            <a:solidFill>
              <a:srgbClr val="D0E8F0"/>
            </a:solidFill>
          </p:spPr>
        </p:sp>
      </p:grpSp>
      <p:grpSp>
        <p:nvGrpSpPr>
          <p:cNvPr name="Group 68" id="68"/>
          <p:cNvGrpSpPr/>
          <p:nvPr/>
        </p:nvGrpSpPr>
        <p:grpSpPr>
          <a:xfrm rot="0">
            <a:off x="14434823" y="4065527"/>
            <a:ext cx="3591563" cy="208283"/>
            <a:chOff x="0" y="0"/>
            <a:chExt cx="4788751" cy="277711"/>
          </a:xfrm>
        </p:grpSpPr>
        <p:sp>
          <p:nvSpPr>
            <p:cNvPr name="Freeform 69" id="69"/>
            <p:cNvSpPr/>
            <p:nvPr/>
          </p:nvSpPr>
          <p:spPr>
            <a:xfrm flipH="false" flipV="false" rot="0">
              <a:off x="16891" y="16891"/>
              <a:ext cx="4754880" cy="243840"/>
            </a:xfrm>
            <a:custGeom>
              <a:avLst/>
              <a:gdLst/>
              <a:ahLst/>
              <a:cxnLst/>
              <a:rect r="r" b="b" t="t" l="l"/>
              <a:pathLst>
                <a:path h="243840" w="4754880">
                  <a:moveTo>
                    <a:pt x="0" y="0"/>
                  </a:moveTo>
                  <a:lnTo>
                    <a:pt x="4754880" y="0"/>
                  </a:lnTo>
                  <a:lnTo>
                    <a:pt x="4754880" y="243840"/>
                  </a:lnTo>
                  <a:lnTo>
                    <a:pt x="0" y="243840"/>
                  </a:lnTo>
                  <a:close/>
                </a:path>
              </a:pathLst>
            </a:custGeom>
            <a:solidFill>
              <a:srgbClr val="1EB8D0"/>
            </a:solidFill>
          </p:spPr>
        </p:sp>
        <p:sp>
          <p:nvSpPr>
            <p:cNvPr name="Freeform 70" id="70"/>
            <p:cNvSpPr/>
            <p:nvPr/>
          </p:nvSpPr>
          <p:spPr>
            <a:xfrm flipH="false" flipV="false" rot="0">
              <a:off x="0" y="0"/>
              <a:ext cx="4788662" cy="277624"/>
            </a:xfrm>
            <a:custGeom>
              <a:avLst/>
              <a:gdLst/>
              <a:ahLst/>
              <a:cxnLst/>
              <a:rect r="r" b="b" t="t" l="l"/>
              <a:pathLst>
                <a:path h="277624" w="4788662">
                  <a:moveTo>
                    <a:pt x="16891" y="0"/>
                  </a:moveTo>
                  <a:lnTo>
                    <a:pt x="4771771" y="0"/>
                  </a:lnTo>
                  <a:cubicBezTo>
                    <a:pt x="4781169" y="0"/>
                    <a:pt x="4788662" y="7620"/>
                    <a:pt x="4788662" y="16891"/>
                  </a:cubicBezTo>
                  <a:lnTo>
                    <a:pt x="4788662" y="260731"/>
                  </a:lnTo>
                  <a:cubicBezTo>
                    <a:pt x="4788662" y="270129"/>
                    <a:pt x="4781042" y="277622"/>
                    <a:pt x="477177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4771771" y="243840"/>
                  </a:lnTo>
                  <a:lnTo>
                    <a:pt x="4771771" y="260731"/>
                  </a:lnTo>
                  <a:lnTo>
                    <a:pt x="4754880" y="260731"/>
                  </a:lnTo>
                  <a:lnTo>
                    <a:pt x="4754880" y="16891"/>
                  </a:lnTo>
                  <a:lnTo>
                    <a:pt x="4771771" y="16891"/>
                  </a:lnTo>
                  <a:lnTo>
                    <a:pt x="4771771" y="33909"/>
                  </a:lnTo>
                  <a:lnTo>
                    <a:pt x="16891" y="33909"/>
                  </a:lnTo>
                  <a:close/>
                </a:path>
              </a:pathLst>
            </a:custGeom>
            <a:solidFill>
              <a:srgbClr val="1EB8D0"/>
            </a:solidFill>
          </p:spPr>
        </p:sp>
      </p:grpSp>
      <p:grpSp>
        <p:nvGrpSpPr>
          <p:cNvPr name="Group 71" id="71"/>
          <p:cNvGrpSpPr/>
          <p:nvPr/>
        </p:nvGrpSpPr>
        <p:grpSpPr>
          <a:xfrm rot="0">
            <a:off x="14630400" y="4352544"/>
            <a:ext cx="822960" cy="822960"/>
            <a:chOff x="0" y="0"/>
            <a:chExt cx="1097280" cy="1097280"/>
          </a:xfrm>
        </p:grpSpPr>
        <p:sp>
          <p:nvSpPr>
            <p:cNvPr name="Freeform 72" id="7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73" id="73"/>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74" id="74"/>
          <p:cNvGrpSpPr/>
          <p:nvPr/>
        </p:nvGrpSpPr>
        <p:grpSpPr>
          <a:xfrm rot="0">
            <a:off x="15453360" y="4352544"/>
            <a:ext cx="2377440" cy="640080"/>
            <a:chOff x="0" y="0"/>
            <a:chExt cx="3169920" cy="853440"/>
          </a:xfrm>
        </p:grpSpPr>
        <p:sp>
          <p:nvSpPr>
            <p:cNvPr name="Freeform 75" id="75"/>
            <p:cNvSpPr/>
            <p:nvPr/>
          </p:nvSpPr>
          <p:spPr>
            <a:xfrm flipH="false" flipV="false" rot="0">
              <a:off x="0" y="0"/>
              <a:ext cx="3169920" cy="853440"/>
            </a:xfrm>
            <a:custGeom>
              <a:avLst/>
              <a:gdLst/>
              <a:ahLst/>
              <a:cxnLst/>
              <a:rect r="r" b="b" t="t" l="l"/>
              <a:pathLst>
                <a:path h="853440" w="3169920">
                  <a:moveTo>
                    <a:pt x="0" y="0"/>
                  </a:moveTo>
                  <a:lnTo>
                    <a:pt x="3169920" y="0"/>
                  </a:lnTo>
                  <a:lnTo>
                    <a:pt x="3169920" y="853440"/>
                  </a:lnTo>
                  <a:lnTo>
                    <a:pt x="0" y="853440"/>
                  </a:lnTo>
                  <a:close/>
                </a:path>
              </a:pathLst>
            </a:custGeom>
            <a:blipFill>
              <a:blip r:embed="rId2">
                <a:alphaModFix amt="0"/>
              </a:blip>
              <a:stretch>
                <a:fillRect l="0" t="-22372" r="0" b="-22372"/>
              </a:stretch>
            </a:blipFill>
          </p:spPr>
        </p:sp>
        <p:sp>
          <p:nvSpPr>
            <p:cNvPr name="TextBox 76" id="76"/>
            <p:cNvSpPr txBox="true"/>
            <p:nvPr/>
          </p:nvSpPr>
          <p:spPr>
            <a:xfrm>
              <a:off x="0" y="-47625"/>
              <a:ext cx="3169920" cy="901065"/>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Tata Kota</a:t>
              </a:r>
            </a:p>
          </p:txBody>
        </p:sp>
      </p:grpSp>
      <p:grpSp>
        <p:nvGrpSpPr>
          <p:cNvPr name="Group 77" id="77"/>
          <p:cNvGrpSpPr/>
          <p:nvPr/>
        </p:nvGrpSpPr>
        <p:grpSpPr>
          <a:xfrm rot="0">
            <a:off x="14666976" y="5394960"/>
            <a:ext cx="3108960" cy="640080"/>
            <a:chOff x="0" y="0"/>
            <a:chExt cx="4145280" cy="853440"/>
          </a:xfrm>
        </p:grpSpPr>
        <p:sp>
          <p:nvSpPr>
            <p:cNvPr name="Freeform 78" id="78"/>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2">
                <a:alphaModFix amt="0"/>
              </a:blip>
              <a:stretch>
                <a:fillRect l="0" t="-44641" r="0" b="-44641"/>
              </a:stretch>
            </a:blipFill>
          </p:spPr>
        </p:sp>
        <p:sp>
          <p:nvSpPr>
            <p:cNvPr name="TextBox 79" id="79"/>
            <p:cNvSpPr txBox="true"/>
            <p:nvPr/>
          </p:nvSpPr>
          <p:spPr>
            <a:xfrm>
              <a:off x="0" y="-38100"/>
              <a:ext cx="4145280" cy="891540"/>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Manajemen banjir</a:t>
              </a:r>
            </a:p>
          </p:txBody>
        </p:sp>
      </p:grpSp>
      <p:grpSp>
        <p:nvGrpSpPr>
          <p:cNvPr name="Group 80" id="80"/>
          <p:cNvGrpSpPr/>
          <p:nvPr/>
        </p:nvGrpSpPr>
        <p:grpSpPr>
          <a:xfrm rot="0">
            <a:off x="901703" y="8728967"/>
            <a:ext cx="16484603" cy="976379"/>
            <a:chOff x="0" y="0"/>
            <a:chExt cx="21979471" cy="1301839"/>
          </a:xfrm>
        </p:grpSpPr>
        <p:sp>
          <p:nvSpPr>
            <p:cNvPr name="Freeform 81" id="81"/>
            <p:cNvSpPr/>
            <p:nvPr/>
          </p:nvSpPr>
          <p:spPr>
            <a:xfrm flipH="false" flipV="false" rot="0">
              <a:off x="16891" y="16891"/>
              <a:ext cx="21945599" cy="1267968"/>
            </a:xfrm>
            <a:custGeom>
              <a:avLst/>
              <a:gdLst/>
              <a:ahLst/>
              <a:cxnLst/>
              <a:rect r="r" b="b" t="t" l="l"/>
              <a:pathLst>
                <a:path h="1267968" w="21945599">
                  <a:moveTo>
                    <a:pt x="0" y="0"/>
                  </a:moveTo>
                  <a:lnTo>
                    <a:pt x="21945599" y="0"/>
                  </a:lnTo>
                  <a:lnTo>
                    <a:pt x="21945599" y="1267968"/>
                  </a:lnTo>
                  <a:lnTo>
                    <a:pt x="0" y="1267968"/>
                  </a:lnTo>
                  <a:close/>
                </a:path>
              </a:pathLst>
            </a:custGeom>
            <a:blipFill>
              <a:blip r:embed="rId2">
                <a:alphaModFix amt="12000"/>
              </a:blip>
              <a:stretch>
                <a:fillRect l="-76" t="-287758" r="-77" b="-287765"/>
              </a:stretch>
            </a:blipFill>
          </p:spPr>
        </p:sp>
        <p:sp>
          <p:nvSpPr>
            <p:cNvPr name="Freeform 82" id="82"/>
            <p:cNvSpPr/>
            <p:nvPr/>
          </p:nvSpPr>
          <p:spPr>
            <a:xfrm flipH="false" flipV="false" rot="0">
              <a:off x="0" y="0"/>
              <a:ext cx="21979382" cy="1301750"/>
            </a:xfrm>
            <a:custGeom>
              <a:avLst/>
              <a:gdLst/>
              <a:ahLst/>
              <a:cxnLst/>
              <a:rect r="r" b="b" t="t" l="l"/>
              <a:pathLst>
                <a:path h="1301750" w="21979382">
                  <a:moveTo>
                    <a:pt x="16891" y="0"/>
                  </a:moveTo>
                  <a:lnTo>
                    <a:pt x="21962490" y="0"/>
                  </a:lnTo>
                  <a:cubicBezTo>
                    <a:pt x="21971890" y="0"/>
                    <a:pt x="21979382" y="7620"/>
                    <a:pt x="21979382" y="16891"/>
                  </a:cubicBezTo>
                  <a:lnTo>
                    <a:pt x="21979382" y="1284859"/>
                  </a:lnTo>
                  <a:cubicBezTo>
                    <a:pt x="21979382" y="1294257"/>
                    <a:pt x="21971763" y="1301750"/>
                    <a:pt x="21962490"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21962490" y="1267968"/>
                  </a:lnTo>
                  <a:lnTo>
                    <a:pt x="21962490" y="1284859"/>
                  </a:lnTo>
                  <a:lnTo>
                    <a:pt x="21945600" y="1284859"/>
                  </a:lnTo>
                  <a:lnTo>
                    <a:pt x="21945600" y="16891"/>
                  </a:lnTo>
                  <a:lnTo>
                    <a:pt x="21962490" y="16891"/>
                  </a:lnTo>
                  <a:lnTo>
                    <a:pt x="21962490" y="33909"/>
                  </a:lnTo>
                  <a:lnTo>
                    <a:pt x="16891" y="33909"/>
                  </a:lnTo>
                  <a:close/>
                </a:path>
              </a:pathLst>
            </a:custGeom>
            <a:solidFill>
              <a:srgbClr val="1EB8D0">
                <a:alpha val="1176"/>
              </a:srgbClr>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F4A261"/>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F4A261"/>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F4A261"/>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F4A261"/>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TUJUAN</a:t>
              </a:r>
            </a:p>
          </p:txBody>
        </p:sp>
      </p:grpSp>
      <p:grpSp>
        <p:nvGrpSpPr>
          <p:cNvPr name="Group 11" id="11"/>
          <p:cNvGrpSpPr/>
          <p:nvPr/>
        </p:nvGrpSpPr>
        <p:grpSpPr>
          <a:xfrm rot="0">
            <a:off x="5486400" y="256032"/>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Tujuan</a:t>
              </a:r>
            </a:p>
          </p:txBody>
        </p:sp>
      </p:grpSp>
      <p:grpSp>
        <p:nvGrpSpPr>
          <p:cNvPr name="Group 14" id="14"/>
          <p:cNvGrpSpPr/>
          <p:nvPr/>
        </p:nvGrpSpPr>
        <p:grpSpPr>
          <a:xfrm rot="0">
            <a:off x="914400" y="1609344"/>
            <a:ext cx="16459200" cy="768096"/>
            <a:chOff x="0" y="0"/>
            <a:chExt cx="21945600" cy="1024128"/>
          </a:xfrm>
        </p:grpSpPr>
        <p:sp>
          <p:nvSpPr>
            <p:cNvPr name="Freeform 15" id="15"/>
            <p:cNvSpPr/>
            <p:nvPr/>
          </p:nvSpPr>
          <p:spPr>
            <a:xfrm flipH="false" flipV="false" rot="0">
              <a:off x="0" y="0"/>
              <a:ext cx="21945600" cy="1024128"/>
            </a:xfrm>
            <a:custGeom>
              <a:avLst/>
              <a:gdLst/>
              <a:ahLst/>
              <a:cxnLst/>
              <a:rect r="r" b="b" t="t" l="l"/>
              <a:pathLst>
                <a:path h="1024128" w="21945600">
                  <a:moveTo>
                    <a:pt x="0" y="0"/>
                  </a:moveTo>
                  <a:lnTo>
                    <a:pt x="21945600" y="0"/>
                  </a:lnTo>
                  <a:lnTo>
                    <a:pt x="21945600" y="1024128"/>
                  </a:lnTo>
                  <a:lnTo>
                    <a:pt x="0" y="1024128"/>
                  </a:lnTo>
                  <a:close/>
                </a:path>
              </a:pathLst>
            </a:custGeom>
            <a:blipFill>
              <a:blip r:embed="rId2">
                <a:alphaModFix amt="0"/>
              </a:blip>
              <a:stretch>
                <a:fillRect l="0" t="-367536" r="0" b="-367536"/>
              </a:stretch>
            </a:blipFill>
          </p:spPr>
        </p:sp>
        <p:sp>
          <p:nvSpPr>
            <p:cNvPr name="TextBox 16" id="16"/>
            <p:cNvSpPr txBox="true"/>
            <p:nvPr/>
          </p:nvSpPr>
          <p:spPr>
            <a:xfrm>
              <a:off x="0" y="-47625"/>
              <a:ext cx="21945600" cy="1071753"/>
            </a:xfrm>
            <a:prstGeom prst="rect">
              <a:avLst/>
            </a:prstGeom>
          </p:spPr>
          <p:txBody>
            <a:bodyPr anchor="ctr" rtlCol="false" tIns="0" lIns="0" bIns="0" rIns="0"/>
            <a:lstStyle/>
            <a:p>
              <a:pPr algn="l">
                <a:lnSpc>
                  <a:spcPts val="2999"/>
                </a:lnSpc>
              </a:pPr>
              <a:r>
                <a:rPr lang="en-US" sz="2499" i="true">
                  <a:solidFill>
                    <a:srgbClr val="1E3A5F"/>
                  </a:solidFill>
                  <a:latin typeface="Calibri (MS) Italics"/>
                  <a:ea typeface="Calibri (MS) Italics"/>
                  <a:cs typeface="Calibri (MS) Italics"/>
                  <a:sym typeface="Calibri (MS) Italics"/>
                </a:rPr>
                <a:t>Tujuan pebelitian ini adalah untuk membuktikan bahwa dataset iklim harian BMKG memenuhi karakteristik 5V Big Data.</a:t>
              </a:r>
            </a:p>
          </p:txBody>
        </p:sp>
      </p:grpSp>
      <p:grpSp>
        <p:nvGrpSpPr>
          <p:cNvPr name="Group 17" id="17"/>
          <p:cNvGrpSpPr/>
          <p:nvPr/>
        </p:nvGrpSpPr>
        <p:grpSpPr>
          <a:xfrm rot="0">
            <a:off x="725167" y="2645407"/>
            <a:ext cx="8150857" cy="2664457"/>
            <a:chOff x="0" y="0"/>
            <a:chExt cx="10867809" cy="3552609"/>
          </a:xfrm>
        </p:grpSpPr>
        <p:sp>
          <p:nvSpPr>
            <p:cNvPr name="Freeform 18" id="18"/>
            <p:cNvSpPr/>
            <p:nvPr/>
          </p:nvSpPr>
          <p:spPr>
            <a:xfrm flipH="false" flipV="false" rot="0">
              <a:off x="8509" y="8509"/>
              <a:ext cx="10850880" cy="3535680"/>
            </a:xfrm>
            <a:custGeom>
              <a:avLst/>
              <a:gdLst/>
              <a:ahLst/>
              <a:cxnLst/>
              <a:rect r="r" b="b" t="t" l="l"/>
              <a:pathLst>
                <a:path h="3535680" w="10850880">
                  <a:moveTo>
                    <a:pt x="0" y="0"/>
                  </a:moveTo>
                  <a:lnTo>
                    <a:pt x="10850880" y="0"/>
                  </a:lnTo>
                  <a:lnTo>
                    <a:pt x="10850880" y="3535680"/>
                  </a:lnTo>
                  <a:lnTo>
                    <a:pt x="0" y="3535680"/>
                  </a:lnTo>
                  <a:close/>
                </a:path>
              </a:pathLst>
            </a:custGeom>
            <a:solidFill>
              <a:srgbClr val="FFFFFF"/>
            </a:solidFill>
          </p:spPr>
        </p:sp>
        <p:sp>
          <p:nvSpPr>
            <p:cNvPr name="Freeform 19" id="19"/>
            <p:cNvSpPr/>
            <p:nvPr/>
          </p:nvSpPr>
          <p:spPr>
            <a:xfrm flipH="false" flipV="false" rot="0">
              <a:off x="0" y="0"/>
              <a:ext cx="10867899" cy="3552698"/>
            </a:xfrm>
            <a:custGeom>
              <a:avLst/>
              <a:gdLst/>
              <a:ahLst/>
              <a:cxnLst/>
              <a:rect r="r" b="b" t="t" l="l"/>
              <a:pathLst>
                <a:path h="3552698" w="10867899">
                  <a:moveTo>
                    <a:pt x="8509" y="0"/>
                  </a:moveTo>
                  <a:lnTo>
                    <a:pt x="10859389" y="0"/>
                  </a:lnTo>
                  <a:cubicBezTo>
                    <a:pt x="10864088" y="0"/>
                    <a:pt x="10867899" y="3810"/>
                    <a:pt x="10867899" y="8509"/>
                  </a:cubicBezTo>
                  <a:lnTo>
                    <a:pt x="10867899" y="3544189"/>
                  </a:lnTo>
                  <a:cubicBezTo>
                    <a:pt x="10867899" y="3548888"/>
                    <a:pt x="10864088" y="3552698"/>
                    <a:pt x="10859389" y="3552698"/>
                  </a:cubicBezTo>
                  <a:lnTo>
                    <a:pt x="8509" y="3552698"/>
                  </a:lnTo>
                  <a:cubicBezTo>
                    <a:pt x="3810" y="3552698"/>
                    <a:pt x="0" y="3548888"/>
                    <a:pt x="0" y="3544189"/>
                  </a:cubicBezTo>
                  <a:lnTo>
                    <a:pt x="0" y="8509"/>
                  </a:lnTo>
                  <a:cubicBezTo>
                    <a:pt x="0" y="3810"/>
                    <a:pt x="3810" y="0"/>
                    <a:pt x="8509" y="0"/>
                  </a:cubicBezTo>
                  <a:moveTo>
                    <a:pt x="8509" y="16891"/>
                  </a:moveTo>
                  <a:lnTo>
                    <a:pt x="8509" y="8509"/>
                  </a:lnTo>
                  <a:lnTo>
                    <a:pt x="17018" y="8509"/>
                  </a:lnTo>
                  <a:lnTo>
                    <a:pt x="17018" y="3544189"/>
                  </a:lnTo>
                  <a:lnTo>
                    <a:pt x="8509" y="3544189"/>
                  </a:lnTo>
                  <a:lnTo>
                    <a:pt x="8509" y="3535680"/>
                  </a:lnTo>
                  <a:lnTo>
                    <a:pt x="10859389" y="3535680"/>
                  </a:lnTo>
                  <a:lnTo>
                    <a:pt x="10859389" y="3544189"/>
                  </a:lnTo>
                  <a:lnTo>
                    <a:pt x="10850880" y="3544189"/>
                  </a:lnTo>
                  <a:lnTo>
                    <a:pt x="10850880" y="8509"/>
                  </a:lnTo>
                  <a:lnTo>
                    <a:pt x="10859389" y="8509"/>
                  </a:lnTo>
                  <a:lnTo>
                    <a:pt x="10859389" y="17018"/>
                  </a:lnTo>
                  <a:lnTo>
                    <a:pt x="8509" y="17018"/>
                  </a:lnTo>
                  <a:close/>
                </a:path>
              </a:pathLst>
            </a:custGeom>
            <a:solidFill>
              <a:srgbClr val="D0E8F0"/>
            </a:solidFill>
          </p:spPr>
        </p:sp>
      </p:grpSp>
      <p:grpSp>
        <p:nvGrpSpPr>
          <p:cNvPr name="Group 20" id="20"/>
          <p:cNvGrpSpPr/>
          <p:nvPr/>
        </p:nvGrpSpPr>
        <p:grpSpPr>
          <a:xfrm rot="0">
            <a:off x="718823" y="2639063"/>
            <a:ext cx="263147" cy="2677163"/>
            <a:chOff x="0" y="0"/>
            <a:chExt cx="350863" cy="3569551"/>
          </a:xfrm>
        </p:grpSpPr>
        <p:sp>
          <p:nvSpPr>
            <p:cNvPr name="Freeform 21" id="21"/>
            <p:cNvSpPr/>
            <p:nvPr/>
          </p:nvSpPr>
          <p:spPr>
            <a:xfrm flipH="false" flipV="false" rot="0">
              <a:off x="16891" y="16891"/>
              <a:ext cx="316992" cy="3535680"/>
            </a:xfrm>
            <a:custGeom>
              <a:avLst/>
              <a:gdLst/>
              <a:ahLst/>
              <a:cxnLst/>
              <a:rect r="r" b="b" t="t" l="l"/>
              <a:pathLst>
                <a:path h="3535680" w="316992">
                  <a:moveTo>
                    <a:pt x="0" y="0"/>
                  </a:moveTo>
                  <a:lnTo>
                    <a:pt x="316992" y="0"/>
                  </a:lnTo>
                  <a:lnTo>
                    <a:pt x="316992" y="3535680"/>
                  </a:lnTo>
                  <a:lnTo>
                    <a:pt x="0" y="3535680"/>
                  </a:lnTo>
                  <a:close/>
                </a:path>
              </a:pathLst>
            </a:custGeom>
            <a:solidFill>
              <a:srgbClr val="1EB8D0"/>
            </a:solidFill>
          </p:spPr>
        </p:sp>
        <p:sp>
          <p:nvSpPr>
            <p:cNvPr name="Freeform 22" id="22"/>
            <p:cNvSpPr/>
            <p:nvPr/>
          </p:nvSpPr>
          <p:spPr>
            <a:xfrm flipH="false" flipV="false" rot="0">
              <a:off x="0" y="0"/>
              <a:ext cx="350774" cy="3569462"/>
            </a:xfrm>
            <a:custGeom>
              <a:avLst/>
              <a:gdLst/>
              <a:ahLst/>
              <a:cxnLst/>
              <a:rect r="r" b="b" t="t" l="l"/>
              <a:pathLst>
                <a:path h="3569462" w="350774">
                  <a:moveTo>
                    <a:pt x="16891" y="0"/>
                  </a:moveTo>
                  <a:lnTo>
                    <a:pt x="333883" y="0"/>
                  </a:lnTo>
                  <a:cubicBezTo>
                    <a:pt x="343281" y="0"/>
                    <a:pt x="350774" y="7620"/>
                    <a:pt x="350774" y="16891"/>
                  </a:cubicBezTo>
                  <a:lnTo>
                    <a:pt x="350774" y="3552571"/>
                  </a:lnTo>
                  <a:cubicBezTo>
                    <a:pt x="350774" y="3561969"/>
                    <a:pt x="343154" y="3569462"/>
                    <a:pt x="333883"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333883" y="3535680"/>
                  </a:lnTo>
                  <a:lnTo>
                    <a:pt x="333883" y="3552571"/>
                  </a:lnTo>
                  <a:lnTo>
                    <a:pt x="316992" y="3552571"/>
                  </a:lnTo>
                  <a:lnTo>
                    <a:pt x="316992" y="16891"/>
                  </a:lnTo>
                  <a:lnTo>
                    <a:pt x="333883" y="16891"/>
                  </a:lnTo>
                  <a:lnTo>
                    <a:pt x="333883" y="33909"/>
                  </a:lnTo>
                  <a:lnTo>
                    <a:pt x="16891" y="33909"/>
                  </a:lnTo>
                  <a:close/>
                </a:path>
              </a:pathLst>
            </a:custGeom>
            <a:solidFill>
              <a:srgbClr val="1EB8D0"/>
            </a:solidFill>
          </p:spPr>
        </p:sp>
      </p:grpSp>
      <p:grpSp>
        <p:nvGrpSpPr>
          <p:cNvPr name="Group 23" id="23"/>
          <p:cNvGrpSpPr/>
          <p:nvPr/>
        </p:nvGrpSpPr>
        <p:grpSpPr>
          <a:xfrm rot="0">
            <a:off x="1121159" y="2858519"/>
            <a:ext cx="976379" cy="665483"/>
            <a:chOff x="0" y="0"/>
            <a:chExt cx="1301839" cy="887311"/>
          </a:xfrm>
        </p:grpSpPr>
        <p:sp>
          <p:nvSpPr>
            <p:cNvPr name="Freeform 24" id="24"/>
            <p:cNvSpPr/>
            <p:nvPr/>
          </p:nvSpPr>
          <p:spPr>
            <a:xfrm flipH="false" flipV="false" rot="0">
              <a:off x="16891" y="16891"/>
              <a:ext cx="1267968" cy="853440"/>
            </a:xfrm>
            <a:custGeom>
              <a:avLst/>
              <a:gdLst/>
              <a:ahLst/>
              <a:cxnLst/>
              <a:rect r="r" b="b" t="t" l="l"/>
              <a:pathLst>
                <a:path h="853440" w="1267968">
                  <a:moveTo>
                    <a:pt x="0" y="0"/>
                  </a:moveTo>
                  <a:lnTo>
                    <a:pt x="1267968" y="0"/>
                  </a:lnTo>
                  <a:lnTo>
                    <a:pt x="1267968" y="853440"/>
                  </a:lnTo>
                  <a:lnTo>
                    <a:pt x="0" y="853440"/>
                  </a:lnTo>
                  <a:close/>
                </a:path>
              </a:pathLst>
            </a:custGeom>
            <a:solidFill>
              <a:srgbClr val="1EB8D0"/>
            </a:solidFill>
          </p:spPr>
        </p:sp>
        <p:sp>
          <p:nvSpPr>
            <p:cNvPr name="Freeform 25" id="25"/>
            <p:cNvSpPr/>
            <p:nvPr/>
          </p:nvSpPr>
          <p:spPr>
            <a:xfrm flipH="false" flipV="false" rot="0">
              <a:off x="0" y="0"/>
              <a:ext cx="1301750" cy="887224"/>
            </a:xfrm>
            <a:custGeom>
              <a:avLst/>
              <a:gdLst/>
              <a:ahLst/>
              <a:cxnLst/>
              <a:rect r="r" b="b" t="t" l="l"/>
              <a:pathLst>
                <a:path h="887224" w="1301750">
                  <a:moveTo>
                    <a:pt x="16891" y="0"/>
                  </a:moveTo>
                  <a:lnTo>
                    <a:pt x="1284859" y="0"/>
                  </a:lnTo>
                  <a:cubicBezTo>
                    <a:pt x="1294257" y="0"/>
                    <a:pt x="1301750" y="7620"/>
                    <a:pt x="1301750" y="16891"/>
                  </a:cubicBezTo>
                  <a:lnTo>
                    <a:pt x="1301750" y="870331"/>
                  </a:lnTo>
                  <a:cubicBezTo>
                    <a:pt x="1301750" y="879729"/>
                    <a:pt x="1294130" y="887222"/>
                    <a:pt x="1284859"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284859" y="853440"/>
                  </a:lnTo>
                  <a:lnTo>
                    <a:pt x="1284859" y="870331"/>
                  </a:lnTo>
                  <a:lnTo>
                    <a:pt x="1267968" y="870331"/>
                  </a:lnTo>
                  <a:lnTo>
                    <a:pt x="1267968" y="16891"/>
                  </a:lnTo>
                  <a:lnTo>
                    <a:pt x="1284859" y="16891"/>
                  </a:lnTo>
                  <a:lnTo>
                    <a:pt x="1284859" y="33909"/>
                  </a:lnTo>
                  <a:lnTo>
                    <a:pt x="16891" y="33909"/>
                  </a:lnTo>
                  <a:close/>
                </a:path>
              </a:pathLst>
            </a:custGeom>
            <a:solidFill>
              <a:srgbClr val="1EB8D0"/>
            </a:solidFill>
          </p:spPr>
        </p:sp>
      </p:grpSp>
      <p:grpSp>
        <p:nvGrpSpPr>
          <p:cNvPr name="Group 26" id="26"/>
          <p:cNvGrpSpPr/>
          <p:nvPr/>
        </p:nvGrpSpPr>
        <p:grpSpPr>
          <a:xfrm rot="0">
            <a:off x="1133856" y="2871216"/>
            <a:ext cx="950976" cy="640080"/>
            <a:chOff x="0" y="0"/>
            <a:chExt cx="1267968" cy="853440"/>
          </a:xfrm>
        </p:grpSpPr>
        <p:sp>
          <p:nvSpPr>
            <p:cNvPr name="Freeform 27" id="27"/>
            <p:cNvSpPr/>
            <p:nvPr/>
          </p:nvSpPr>
          <p:spPr>
            <a:xfrm flipH="false" flipV="false" rot="0">
              <a:off x="0" y="0"/>
              <a:ext cx="1267968" cy="853440"/>
            </a:xfrm>
            <a:custGeom>
              <a:avLst/>
              <a:gdLst/>
              <a:ahLst/>
              <a:cxnLst/>
              <a:rect r="r" b="b" t="t" l="l"/>
              <a:pathLst>
                <a:path h="853440" w="1267968">
                  <a:moveTo>
                    <a:pt x="0" y="0"/>
                  </a:moveTo>
                  <a:lnTo>
                    <a:pt x="1267968" y="0"/>
                  </a:lnTo>
                  <a:lnTo>
                    <a:pt x="1267968" y="853440"/>
                  </a:lnTo>
                  <a:lnTo>
                    <a:pt x="0" y="853440"/>
                  </a:lnTo>
                  <a:close/>
                </a:path>
              </a:pathLst>
            </a:custGeom>
            <a:blipFill>
              <a:blip r:embed="rId2">
                <a:alphaModFix amt="0"/>
              </a:blip>
              <a:stretch>
                <a:fillRect l="-36358" t="0" r="-36358" b="0"/>
              </a:stretch>
            </a:blipFill>
          </p:spPr>
        </p:sp>
        <p:sp>
          <p:nvSpPr>
            <p:cNvPr name="TextBox 28" id="28"/>
            <p:cNvSpPr txBox="true"/>
            <p:nvPr/>
          </p:nvSpPr>
          <p:spPr>
            <a:xfrm>
              <a:off x="0" y="-47625"/>
              <a:ext cx="1267968"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01</a:t>
              </a:r>
            </a:p>
          </p:txBody>
        </p:sp>
      </p:grpSp>
      <p:grpSp>
        <p:nvGrpSpPr>
          <p:cNvPr name="Group 29" id="29"/>
          <p:cNvGrpSpPr/>
          <p:nvPr/>
        </p:nvGrpSpPr>
        <p:grpSpPr>
          <a:xfrm rot="0">
            <a:off x="2286000" y="2889504"/>
            <a:ext cx="6309360" cy="640080"/>
            <a:chOff x="0" y="0"/>
            <a:chExt cx="8412480" cy="853440"/>
          </a:xfrm>
        </p:grpSpPr>
        <p:sp>
          <p:nvSpPr>
            <p:cNvPr name="Freeform 30" id="30"/>
            <p:cNvSpPr/>
            <p:nvPr/>
          </p:nvSpPr>
          <p:spPr>
            <a:xfrm flipH="false" flipV="false" rot="0">
              <a:off x="0" y="0"/>
              <a:ext cx="8412480" cy="853440"/>
            </a:xfrm>
            <a:custGeom>
              <a:avLst/>
              <a:gdLst/>
              <a:ahLst/>
              <a:cxnLst/>
              <a:rect r="r" b="b" t="t" l="l"/>
              <a:pathLst>
                <a:path h="853440" w="8412480">
                  <a:moveTo>
                    <a:pt x="0" y="0"/>
                  </a:moveTo>
                  <a:lnTo>
                    <a:pt x="8412480" y="0"/>
                  </a:lnTo>
                  <a:lnTo>
                    <a:pt x="8412480" y="853440"/>
                  </a:lnTo>
                  <a:lnTo>
                    <a:pt x="0" y="853440"/>
                  </a:lnTo>
                  <a:close/>
                </a:path>
              </a:pathLst>
            </a:custGeom>
            <a:blipFill>
              <a:blip r:embed="rId2">
                <a:alphaModFix amt="0"/>
              </a:blip>
              <a:stretch>
                <a:fillRect l="0" t="-142066" r="0" b="-142066"/>
              </a:stretch>
            </a:blipFill>
          </p:spPr>
        </p:sp>
        <p:sp>
          <p:nvSpPr>
            <p:cNvPr name="TextBox 31" id="31"/>
            <p:cNvSpPr txBox="true"/>
            <p:nvPr/>
          </p:nvSpPr>
          <p:spPr>
            <a:xfrm>
              <a:off x="0" y="-38100"/>
              <a:ext cx="8412480" cy="891540"/>
            </a:xfrm>
            <a:prstGeom prst="rect">
              <a:avLst/>
            </a:prstGeom>
          </p:spPr>
          <p:txBody>
            <a:bodyPr anchor="ctr" rtlCol="false" tIns="0" lIns="0" bIns="0" rIns="0"/>
            <a:lstStyle/>
            <a:p>
              <a:pPr algn="l">
                <a:lnSpc>
                  <a:spcPts val="2879"/>
                </a:lnSpc>
              </a:pPr>
              <a:r>
                <a:rPr lang="en-US" sz="2400" b="true">
                  <a:solidFill>
                    <a:srgbClr val="1EB8D0"/>
                  </a:solidFill>
                  <a:latin typeface="Calibri (MS) Bold"/>
                  <a:ea typeface="Calibri (MS) Bold"/>
                  <a:cs typeface="Calibri (MS) Bold"/>
                  <a:sym typeface="Calibri (MS) Bold"/>
                </a:rPr>
                <a:t>Memahami Konsep 5V</a:t>
              </a:r>
            </a:p>
          </p:txBody>
        </p:sp>
      </p:grpSp>
      <p:grpSp>
        <p:nvGrpSpPr>
          <p:cNvPr name="Group 32" id="32"/>
          <p:cNvGrpSpPr/>
          <p:nvPr/>
        </p:nvGrpSpPr>
        <p:grpSpPr>
          <a:xfrm rot="0">
            <a:off x="1133856" y="3712464"/>
            <a:ext cx="7498080" cy="1426464"/>
            <a:chOff x="0" y="0"/>
            <a:chExt cx="9997440" cy="1901952"/>
          </a:xfrm>
        </p:grpSpPr>
        <p:sp>
          <p:nvSpPr>
            <p:cNvPr name="Freeform 33" id="33"/>
            <p:cNvSpPr/>
            <p:nvPr/>
          </p:nvSpPr>
          <p:spPr>
            <a:xfrm flipH="false" flipV="false" rot="0">
              <a:off x="0" y="0"/>
              <a:ext cx="9997440" cy="1901952"/>
            </a:xfrm>
            <a:custGeom>
              <a:avLst/>
              <a:gdLst/>
              <a:ahLst/>
              <a:cxnLst/>
              <a:rect r="r" b="b" t="t" l="l"/>
              <a:pathLst>
                <a:path h="1901952" w="9997440">
                  <a:moveTo>
                    <a:pt x="0" y="0"/>
                  </a:moveTo>
                  <a:lnTo>
                    <a:pt x="9997440" y="0"/>
                  </a:lnTo>
                  <a:lnTo>
                    <a:pt x="9997440" y="1901952"/>
                  </a:lnTo>
                  <a:lnTo>
                    <a:pt x="0" y="1901952"/>
                  </a:lnTo>
                  <a:close/>
                </a:path>
              </a:pathLst>
            </a:custGeom>
            <a:blipFill>
              <a:blip r:embed="rId2">
                <a:alphaModFix amt="0"/>
              </a:blip>
              <a:stretch>
                <a:fillRect l="0" t="-52421" r="0" b="-52421"/>
              </a:stretch>
            </a:blipFill>
          </p:spPr>
        </p:sp>
        <p:sp>
          <p:nvSpPr>
            <p:cNvPr name="TextBox 34" id="34"/>
            <p:cNvSpPr txBox="true"/>
            <p:nvPr/>
          </p:nvSpPr>
          <p:spPr>
            <a:xfrm>
              <a:off x="0" y="-47625"/>
              <a:ext cx="9997440" cy="1949577"/>
            </a:xfrm>
            <a:prstGeom prst="rect">
              <a:avLst/>
            </a:prstGeom>
          </p:spPr>
          <p:txBody>
            <a:bodyPr anchor="ctr" rtlCol="false" tIns="0" lIns="0" bIns="0" rIns="0"/>
            <a:lstStyle/>
            <a:p>
              <a:pPr algn="l">
                <a:lnSpc>
                  <a:spcPts val="2640"/>
                </a:lnSpc>
              </a:pPr>
              <a:r>
                <a:rPr lang="en-US" sz="2200">
                  <a:solidFill>
                    <a:srgbClr val="1E3A5F"/>
                  </a:solidFill>
                  <a:latin typeface="Calibri (MS)"/>
                  <a:ea typeface="Calibri (MS)"/>
                  <a:cs typeface="Calibri (MS)"/>
                  <a:sym typeface="Calibri (MS)"/>
                </a:rPr>
                <a:t>Menjelaskan pengertian Volume, Velocity, Variety, Veracity, dan Value sebagai karakteristik utama Big Data</a:t>
              </a:r>
            </a:p>
          </p:txBody>
        </p:sp>
      </p:grpSp>
      <p:grpSp>
        <p:nvGrpSpPr>
          <p:cNvPr name="Group 35" id="35"/>
          <p:cNvGrpSpPr/>
          <p:nvPr/>
        </p:nvGrpSpPr>
        <p:grpSpPr>
          <a:xfrm rot="0">
            <a:off x="9411967" y="2645407"/>
            <a:ext cx="8150857" cy="2664457"/>
            <a:chOff x="0" y="0"/>
            <a:chExt cx="10867809" cy="3552609"/>
          </a:xfrm>
        </p:grpSpPr>
        <p:sp>
          <p:nvSpPr>
            <p:cNvPr name="Freeform 36" id="36"/>
            <p:cNvSpPr/>
            <p:nvPr/>
          </p:nvSpPr>
          <p:spPr>
            <a:xfrm flipH="false" flipV="false" rot="0">
              <a:off x="8509" y="8509"/>
              <a:ext cx="10850880" cy="3535680"/>
            </a:xfrm>
            <a:custGeom>
              <a:avLst/>
              <a:gdLst/>
              <a:ahLst/>
              <a:cxnLst/>
              <a:rect r="r" b="b" t="t" l="l"/>
              <a:pathLst>
                <a:path h="3535680" w="10850880">
                  <a:moveTo>
                    <a:pt x="0" y="0"/>
                  </a:moveTo>
                  <a:lnTo>
                    <a:pt x="10850880" y="0"/>
                  </a:lnTo>
                  <a:lnTo>
                    <a:pt x="10850880" y="3535680"/>
                  </a:lnTo>
                  <a:lnTo>
                    <a:pt x="0" y="3535680"/>
                  </a:lnTo>
                  <a:close/>
                </a:path>
              </a:pathLst>
            </a:custGeom>
            <a:solidFill>
              <a:srgbClr val="FFFFFF"/>
            </a:solidFill>
          </p:spPr>
        </p:sp>
        <p:sp>
          <p:nvSpPr>
            <p:cNvPr name="Freeform 37" id="37"/>
            <p:cNvSpPr/>
            <p:nvPr/>
          </p:nvSpPr>
          <p:spPr>
            <a:xfrm flipH="false" flipV="false" rot="0">
              <a:off x="0" y="0"/>
              <a:ext cx="10867899" cy="3552698"/>
            </a:xfrm>
            <a:custGeom>
              <a:avLst/>
              <a:gdLst/>
              <a:ahLst/>
              <a:cxnLst/>
              <a:rect r="r" b="b" t="t" l="l"/>
              <a:pathLst>
                <a:path h="3552698" w="10867899">
                  <a:moveTo>
                    <a:pt x="8509" y="0"/>
                  </a:moveTo>
                  <a:lnTo>
                    <a:pt x="10859389" y="0"/>
                  </a:lnTo>
                  <a:cubicBezTo>
                    <a:pt x="10864088" y="0"/>
                    <a:pt x="10867899" y="3810"/>
                    <a:pt x="10867899" y="8509"/>
                  </a:cubicBezTo>
                  <a:lnTo>
                    <a:pt x="10867899" y="3544189"/>
                  </a:lnTo>
                  <a:cubicBezTo>
                    <a:pt x="10867899" y="3548888"/>
                    <a:pt x="10864088" y="3552698"/>
                    <a:pt x="10859389" y="3552698"/>
                  </a:cubicBezTo>
                  <a:lnTo>
                    <a:pt x="8509" y="3552698"/>
                  </a:lnTo>
                  <a:cubicBezTo>
                    <a:pt x="3810" y="3552698"/>
                    <a:pt x="0" y="3548888"/>
                    <a:pt x="0" y="3544189"/>
                  </a:cubicBezTo>
                  <a:lnTo>
                    <a:pt x="0" y="8509"/>
                  </a:lnTo>
                  <a:cubicBezTo>
                    <a:pt x="0" y="3810"/>
                    <a:pt x="3810" y="0"/>
                    <a:pt x="8509" y="0"/>
                  </a:cubicBezTo>
                  <a:moveTo>
                    <a:pt x="8509" y="16891"/>
                  </a:moveTo>
                  <a:lnTo>
                    <a:pt x="8509" y="8509"/>
                  </a:lnTo>
                  <a:lnTo>
                    <a:pt x="17018" y="8509"/>
                  </a:lnTo>
                  <a:lnTo>
                    <a:pt x="17018" y="3544189"/>
                  </a:lnTo>
                  <a:lnTo>
                    <a:pt x="8509" y="3544189"/>
                  </a:lnTo>
                  <a:lnTo>
                    <a:pt x="8509" y="3535680"/>
                  </a:lnTo>
                  <a:lnTo>
                    <a:pt x="10859389" y="3535680"/>
                  </a:lnTo>
                  <a:lnTo>
                    <a:pt x="10859389" y="3544189"/>
                  </a:lnTo>
                  <a:lnTo>
                    <a:pt x="10850880" y="3544189"/>
                  </a:lnTo>
                  <a:lnTo>
                    <a:pt x="10850880" y="8509"/>
                  </a:lnTo>
                  <a:lnTo>
                    <a:pt x="10859389" y="8509"/>
                  </a:lnTo>
                  <a:lnTo>
                    <a:pt x="10859389" y="17018"/>
                  </a:lnTo>
                  <a:lnTo>
                    <a:pt x="8509" y="17018"/>
                  </a:lnTo>
                  <a:close/>
                </a:path>
              </a:pathLst>
            </a:custGeom>
            <a:solidFill>
              <a:srgbClr val="D0E8F0"/>
            </a:solidFill>
          </p:spPr>
        </p:sp>
      </p:grpSp>
      <p:grpSp>
        <p:nvGrpSpPr>
          <p:cNvPr name="Group 38" id="38"/>
          <p:cNvGrpSpPr/>
          <p:nvPr/>
        </p:nvGrpSpPr>
        <p:grpSpPr>
          <a:xfrm rot="0">
            <a:off x="9405623" y="2639063"/>
            <a:ext cx="263147" cy="2677163"/>
            <a:chOff x="0" y="0"/>
            <a:chExt cx="350863" cy="3569551"/>
          </a:xfrm>
        </p:grpSpPr>
        <p:sp>
          <p:nvSpPr>
            <p:cNvPr name="Freeform 39" id="39"/>
            <p:cNvSpPr/>
            <p:nvPr/>
          </p:nvSpPr>
          <p:spPr>
            <a:xfrm flipH="false" flipV="false" rot="0">
              <a:off x="16891" y="16891"/>
              <a:ext cx="316992" cy="3535680"/>
            </a:xfrm>
            <a:custGeom>
              <a:avLst/>
              <a:gdLst/>
              <a:ahLst/>
              <a:cxnLst/>
              <a:rect r="r" b="b" t="t" l="l"/>
              <a:pathLst>
                <a:path h="3535680" w="316992">
                  <a:moveTo>
                    <a:pt x="0" y="0"/>
                  </a:moveTo>
                  <a:lnTo>
                    <a:pt x="316992" y="0"/>
                  </a:lnTo>
                  <a:lnTo>
                    <a:pt x="316992" y="3535680"/>
                  </a:lnTo>
                  <a:lnTo>
                    <a:pt x="0" y="3535680"/>
                  </a:lnTo>
                  <a:close/>
                </a:path>
              </a:pathLst>
            </a:custGeom>
            <a:solidFill>
              <a:srgbClr val="F4A261"/>
            </a:solidFill>
          </p:spPr>
        </p:sp>
        <p:sp>
          <p:nvSpPr>
            <p:cNvPr name="Freeform 40" id="40"/>
            <p:cNvSpPr/>
            <p:nvPr/>
          </p:nvSpPr>
          <p:spPr>
            <a:xfrm flipH="false" flipV="false" rot="0">
              <a:off x="0" y="0"/>
              <a:ext cx="350774" cy="3569462"/>
            </a:xfrm>
            <a:custGeom>
              <a:avLst/>
              <a:gdLst/>
              <a:ahLst/>
              <a:cxnLst/>
              <a:rect r="r" b="b" t="t" l="l"/>
              <a:pathLst>
                <a:path h="3569462" w="350774">
                  <a:moveTo>
                    <a:pt x="16891" y="0"/>
                  </a:moveTo>
                  <a:lnTo>
                    <a:pt x="333883" y="0"/>
                  </a:lnTo>
                  <a:cubicBezTo>
                    <a:pt x="343281" y="0"/>
                    <a:pt x="350774" y="7620"/>
                    <a:pt x="350774" y="16891"/>
                  </a:cubicBezTo>
                  <a:lnTo>
                    <a:pt x="350774" y="3552571"/>
                  </a:lnTo>
                  <a:cubicBezTo>
                    <a:pt x="350774" y="3561969"/>
                    <a:pt x="343154" y="3569462"/>
                    <a:pt x="333883"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333883" y="3535680"/>
                  </a:lnTo>
                  <a:lnTo>
                    <a:pt x="333883" y="3552571"/>
                  </a:lnTo>
                  <a:lnTo>
                    <a:pt x="316992" y="3552571"/>
                  </a:lnTo>
                  <a:lnTo>
                    <a:pt x="316992" y="16891"/>
                  </a:lnTo>
                  <a:lnTo>
                    <a:pt x="333883" y="16891"/>
                  </a:lnTo>
                  <a:lnTo>
                    <a:pt x="333883" y="33909"/>
                  </a:lnTo>
                  <a:lnTo>
                    <a:pt x="16891" y="33909"/>
                  </a:lnTo>
                  <a:close/>
                </a:path>
              </a:pathLst>
            </a:custGeom>
            <a:solidFill>
              <a:srgbClr val="F4A261"/>
            </a:solidFill>
          </p:spPr>
        </p:sp>
      </p:grpSp>
      <p:grpSp>
        <p:nvGrpSpPr>
          <p:cNvPr name="Group 41" id="41"/>
          <p:cNvGrpSpPr/>
          <p:nvPr/>
        </p:nvGrpSpPr>
        <p:grpSpPr>
          <a:xfrm rot="0">
            <a:off x="9807959" y="2858519"/>
            <a:ext cx="976379" cy="665483"/>
            <a:chOff x="0" y="0"/>
            <a:chExt cx="1301839" cy="887311"/>
          </a:xfrm>
        </p:grpSpPr>
        <p:sp>
          <p:nvSpPr>
            <p:cNvPr name="Freeform 42" id="42"/>
            <p:cNvSpPr/>
            <p:nvPr/>
          </p:nvSpPr>
          <p:spPr>
            <a:xfrm flipH="false" flipV="false" rot="0">
              <a:off x="16891" y="16891"/>
              <a:ext cx="1267968" cy="853440"/>
            </a:xfrm>
            <a:custGeom>
              <a:avLst/>
              <a:gdLst/>
              <a:ahLst/>
              <a:cxnLst/>
              <a:rect r="r" b="b" t="t" l="l"/>
              <a:pathLst>
                <a:path h="853440" w="1267968">
                  <a:moveTo>
                    <a:pt x="0" y="0"/>
                  </a:moveTo>
                  <a:lnTo>
                    <a:pt x="1267968" y="0"/>
                  </a:lnTo>
                  <a:lnTo>
                    <a:pt x="1267968" y="853440"/>
                  </a:lnTo>
                  <a:lnTo>
                    <a:pt x="0" y="853440"/>
                  </a:lnTo>
                  <a:close/>
                </a:path>
              </a:pathLst>
            </a:custGeom>
            <a:solidFill>
              <a:srgbClr val="F4A261"/>
            </a:solidFill>
          </p:spPr>
        </p:sp>
        <p:sp>
          <p:nvSpPr>
            <p:cNvPr name="Freeform 43" id="43"/>
            <p:cNvSpPr/>
            <p:nvPr/>
          </p:nvSpPr>
          <p:spPr>
            <a:xfrm flipH="false" flipV="false" rot="0">
              <a:off x="0" y="0"/>
              <a:ext cx="1301750" cy="887224"/>
            </a:xfrm>
            <a:custGeom>
              <a:avLst/>
              <a:gdLst/>
              <a:ahLst/>
              <a:cxnLst/>
              <a:rect r="r" b="b" t="t" l="l"/>
              <a:pathLst>
                <a:path h="887224" w="1301750">
                  <a:moveTo>
                    <a:pt x="16891" y="0"/>
                  </a:moveTo>
                  <a:lnTo>
                    <a:pt x="1284859" y="0"/>
                  </a:lnTo>
                  <a:cubicBezTo>
                    <a:pt x="1294257" y="0"/>
                    <a:pt x="1301750" y="7620"/>
                    <a:pt x="1301750" y="16891"/>
                  </a:cubicBezTo>
                  <a:lnTo>
                    <a:pt x="1301750" y="870331"/>
                  </a:lnTo>
                  <a:cubicBezTo>
                    <a:pt x="1301750" y="879729"/>
                    <a:pt x="1294130" y="887222"/>
                    <a:pt x="1284859"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284859" y="853440"/>
                  </a:lnTo>
                  <a:lnTo>
                    <a:pt x="1284859" y="870331"/>
                  </a:lnTo>
                  <a:lnTo>
                    <a:pt x="1267968" y="870331"/>
                  </a:lnTo>
                  <a:lnTo>
                    <a:pt x="1267968" y="16891"/>
                  </a:lnTo>
                  <a:lnTo>
                    <a:pt x="1284859" y="16891"/>
                  </a:lnTo>
                  <a:lnTo>
                    <a:pt x="1284859" y="33909"/>
                  </a:lnTo>
                  <a:lnTo>
                    <a:pt x="16891" y="33909"/>
                  </a:lnTo>
                  <a:close/>
                </a:path>
              </a:pathLst>
            </a:custGeom>
            <a:solidFill>
              <a:srgbClr val="F4A261"/>
            </a:solidFill>
          </p:spPr>
        </p:sp>
      </p:grpSp>
      <p:grpSp>
        <p:nvGrpSpPr>
          <p:cNvPr name="Group 44" id="44"/>
          <p:cNvGrpSpPr/>
          <p:nvPr/>
        </p:nvGrpSpPr>
        <p:grpSpPr>
          <a:xfrm rot="0">
            <a:off x="9820656" y="2871216"/>
            <a:ext cx="950976" cy="640080"/>
            <a:chOff x="0" y="0"/>
            <a:chExt cx="1267968" cy="853440"/>
          </a:xfrm>
        </p:grpSpPr>
        <p:sp>
          <p:nvSpPr>
            <p:cNvPr name="Freeform 45" id="45"/>
            <p:cNvSpPr/>
            <p:nvPr/>
          </p:nvSpPr>
          <p:spPr>
            <a:xfrm flipH="false" flipV="false" rot="0">
              <a:off x="0" y="0"/>
              <a:ext cx="1267968" cy="853440"/>
            </a:xfrm>
            <a:custGeom>
              <a:avLst/>
              <a:gdLst/>
              <a:ahLst/>
              <a:cxnLst/>
              <a:rect r="r" b="b" t="t" l="l"/>
              <a:pathLst>
                <a:path h="853440" w="1267968">
                  <a:moveTo>
                    <a:pt x="0" y="0"/>
                  </a:moveTo>
                  <a:lnTo>
                    <a:pt x="1267968" y="0"/>
                  </a:lnTo>
                  <a:lnTo>
                    <a:pt x="1267968" y="853440"/>
                  </a:lnTo>
                  <a:lnTo>
                    <a:pt x="0" y="853440"/>
                  </a:lnTo>
                  <a:close/>
                </a:path>
              </a:pathLst>
            </a:custGeom>
            <a:blipFill>
              <a:blip r:embed="rId2">
                <a:alphaModFix amt="0"/>
              </a:blip>
              <a:stretch>
                <a:fillRect l="-36358" t="0" r="-36358" b="0"/>
              </a:stretch>
            </a:blipFill>
          </p:spPr>
        </p:sp>
        <p:sp>
          <p:nvSpPr>
            <p:cNvPr name="TextBox 46" id="46"/>
            <p:cNvSpPr txBox="true"/>
            <p:nvPr/>
          </p:nvSpPr>
          <p:spPr>
            <a:xfrm>
              <a:off x="0" y="-47625"/>
              <a:ext cx="1267968"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02</a:t>
              </a:r>
            </a:p>
          </p:txBody>
        </p:sp>
      </p:grpSp>
      <p:grpSp>
        <p:nvGrpSpPr>
          <p:cNvPr name="Group 47" id="47"/>
          <p:cNvGrpSpPr/>
          <p:nvPr/>
        </p:nvGrpSpPr>
        <p:grpSpPr>
          <a:xfrm rot="0">
            <a:off x="10972800" y="2889504"/>
            <a:ext cx="6309360" cy="640080"/>
            <a:chOff x="0" y="0"/>
            <a:chExt cx="8412480" cy="853440"/>
          </a:xfrm>
        </p:grpSpPr>
        <p:sp>
          <p:nvSpPr>
            <p:cNvPr name="Freeform 48" id="48"/>
            <p:cNvSpPr/>
            <p:nvPr/>
          </p:nvSpPr>
          <p:spPr>
            <a:xfrm flipH="false" flipV="false" rot="0">
              <a:off x="0" y="0"/>
              <a:ext cx="8412480" cy="853440"/>
            </a:xfrm>
            <a:custGeom>
              <a:avLst/>
              <a:gdLst/>
              <a:ahLst/>
              <a:cxnLst/>
              <a:rect r="r" b="b" t="t" l="l"/>
              <a:pathLst>
                <a:path h="853440" w="8412480">
                  <a:moveTo>
                    <a:pt x="0" y="0"/>
                  </a:moveTo>
                  <a:lnTo>
                    <a:pt x="8412480" y="0"/>
                  </a:lnTo>
                  <a:lnTo>
                    <a:pt x="8412480" y="853440"/>
                  </a:lnTo>
                  <a:lnTo>
                    <a:pt x="0" y="853440"/>
                  </a:lnTo>
                  <a:close/>
                </a:path>
              </a:pathLst>
            </a:custGeom>
            <a:blipFill>
              <a:blip r:embed="rId2">
                <a:alphaModFix amt="0"/>
              </a:blip>
              <a:stretch>
                <a:fillRect l="0" t="-142066" r="0" b="-142066"/>
              </a:stretch>
            </a:blipFill>
          </p:spPr>
        </p:sp>
        <p:sp>
          <p:nvSpPr>
            <p:cNvPr name="TextBox 49" id="49"/>
            <p:cNvSpPr txBox="true"/>
            <p:nvPr/>
          </p:nvSpPr>
          <p:spPr>
            <a:xfrm>
              <a:off x="0" y="-38100"/>
              <a:ext cx="8412480" cy="891540"/>
            </a:xfrm>
            <a:prstGeom prst="rect">
              <a:avLst/>
            </a:prstGeom>
          </p:spPr>
          <p:txBody>
            <a:bodyPr anchor="ctr" rtlCol="false" tIns="0" lIns="0" bIns="0" rIns="0"/>
            <a:lstStyle/>
            <a:p>
              <a:pPr algn="l">
                <a:lnSpc>
                  <a:spcPts val="2879"/>
                </a:lnSpc>
              </a:pPr>
              <a:r>
                <a:rPr lang="en-US" sz="2400" b="true">
                  <a:solidFill>
                    <a:srgbClr val="F4A261"/>
                  </a:solidFill>
                  <a:latin typeface="Calibri (MS) Bold"/>
                  <a:ea typeface="Calibri (MS) Bold"/>
                  <a:cs typeface="Calibri (MS) Bold"/>
                  <a:sym typeface="Calibri (MS) Bold"/>
                </a:rPr>
                <a:t>Menerapkan 5V pada Dataset</a:t>
              </a:r>
            </a:p>
          </p:txBody>
        </p:sp>
      </p:grpSp>
      <p:grpSp>
        <p:nvGrpSpPr>
          <p:cNvPr name="Group 50" id="50"/>
          <p:cNvGrpSpPr/>
          <p:nvPr/>
        </p:nvGrpSpPr>
        <p:grpSpPr>
          <a:xfrm rot="0">
            <a:off x="9820656" y="3712464"/>
            <a:ext cx="7498080" cy="1426464"/>
            <a:chOff x="0" y="0"/>
            <a:chExt cx="9997440" cy="1901952"/>
          </a:xfrm>
        </p:grpSpPr>
        <p:sp>
          <p:nvSpPr>
            <p:cNvPr name="Freeform 51" id="51"/>
            <p:cNvSpPr/>
            <p:nvPr/>
          </p:nvSpPr>
          <p:spPr>
            <a:xfrm flipH="false" flipV="false" rot="0">
              <a:off x="0" y="0"/>
              <a:ext cx="9997440" cy="1901952"/>
            </a:xfrm>
            <a:custGeom>
              <a:avLst/>
              <a:gdLst/>
              <a:ahLst/>
              <a:cxnLst/>
              <a:rect r="r" b="b" t="t" l="l"/>
              <a:pathLst>
                <a:path h="1901952" w="9997440">
                  <a:moveTo>
                    <a:pt x="0" y="0"/>
                  </a:moveTo>
                  <a:lnTo>
                    <a:pt x="9997440" y="0"/>
                  </a:lnTo>
                  <a:lnTo>
                    <a:pt x="9997440" y="1901952"/>
                  </a:lnTo>
                  <a:lnTo>
                    <a:pt x="0" y="1901952"/>
                  </a:lnTo>
                  <a:close/>
                </a:path>
              </a:pathLst>
            </a:custGeom>
            <a:blipFill>
              <a:blip r:embed="rId2">
                <a:alphaModFix amt="0"/>
              </a:blip>
              <a:stretch>
                <a:fillRect l="0" t="-52421" r="0" b="-52421"/>
              </a:stretch>
            </a:blipFill>
          </p:spPr>
        </p:sp>
        <p:sp>
          <p:nvSpPr>
            <p:cNvPr name="TextBox 52" id="52"/>
            <p:cNvSpPr txBox="true"/>
            <p:nvPr/>
          </p:nvSpPr>
          <p:spPr>
            <a:xfrm>
              <a:off x="0" y="-47625"/>
              <a:ext cx="9997440" cy="1949577"/>
            </a:xfrm>
            <a:prstGeom prst="rect">
              <a:avLst/>
            </a:prstGeom>
          </p:spPr>
          <p:txBody>
            <a:bodyPr anchor="ctr" rtlCol="false" tIns="0" lIns="0" bIns="0" rIns="0"/>
            <a:lstStyle/>
            <a:p>
              <a:pPr algn="l">
                <a:lnSpc>
                  <a:spcPts val="2640"/>
                </a:lnSpc>
              </a:pPr>
              <a:r>
                <a:rPr lang="en-US" sz="2200">
                  <a:solidFill>
                    <a:srgbClr val="1E3A5F"/>
                  </a:solidFill>
                  <a:latin typeface="Calibri (MS)"/>
                  <a:ea typeface="Calibri (MS)"/>
                  <a:cs typeface="Calibri (MS)"/>
                  <a:sym typeface="Calibri (MS)"/>
                </a:rPr>
                <a:t>Membuktikan setiap karakteristik 5V terpenuhi dalam dataset iklim harian BMKG Stasiun Meteorologi Juanda</a:t>
              </a:r>
            </a:p>
          </p:txBody>
        </p:sp>
      </p:grpSp>
      <p:grpSp>
        <p:nvGrpSpPr>
          <p:cNvPr name="Group 53" id="53"/>
          <p:cNvGrpSpPr/>
          <p:nvPr/>
        </p:nvGrpSpPr>
        <p:grpSpPr>
          <a:xfrm rot="0">
            <a:off x="725167" y="5662927"/>
            <a:ext cx="8150857" cy="2664457"/>
            <a:chOff x="0" y="0"/>
            <a:chExt cx="10867809" cy="3552609"/>
          </a:xfrm>
        </p:grpSpPr>
        <p:sp>
          <p:nvSpPr>
            <p:cNvPr name="Freeform 54" id="54"/>
            <p:cNvSpPr/>
            <p:nvPr/>
          </p:nvSpPr>
          <p:spPr>
            <a:xfrm flipH="false" flipV="false" rot="0">
              <a:off x="8509" y="8509"/>
              <a:ext cx="10850880" cy="3535680"/>
            </a:xfrm>
            <a:custGeom>
              <a:avLst/>
              <a:gdLst/>
              <a:ahLst/>
              <a:cxnLst/>
              <a:rect r="r" b="b" t="t" l="l"/>
              <a:pathLst>
                <a:path h="3535680" w="10850880">
                  <a:moveTo>
                    <a:pt x="0" y="0"/>
                  </a:moveTo>
                  <a:lnTo>
                    <a:pt x="10850880" y="0"/>
                  </a:lnTo>
                  <a:lnTo>
                    <a:pt x="10850880" y="3535680"/>
                  </a:lnTo>
                  <a:lnTo>
                    <a:pt x="0" y="3535680"/>
                  </a:lnTo>
                  <a:close/>
                </a:path>
              </a:pathLst>
            </a:custGeom>
            <a:solidFill>
              <a:srgbClr val="FFFFFF"/>
            </a:solidFill>
          </p:spPr>
        </p:sp>
        <p:sp>
          <p:nvSpPr>
            <p:cNvPr name="Freeform 55" id="55"/>
            <p:cNvSpPr/>
            <p:nvPr/>
          </p:nvSpPr>
          <p:spPr>
            <a:xfrm flipH="false" flipV="false" rot="0">
              <a:off x="0" y="0"/>
              <a:ext cx="10867899" cy="3552698"/>
            </a:xfrm>
            <a:custGeom>
              <a:avLst/>
              <a:gdLst/>
              <a:ahLst/>
              <a:cxnLst/>
              <a:rect r="r" b="b" t="t" l="l"/>
              <a:pathLst>
                <a:path h="3552698" w="10867899">
                  <a:moveTo>
                    <a:pt x="8509" y="0"/>
                  </a:moveTo>
                  <a:lnTo>
                    <a:pt x="10859389" y="0"/>
                  </a:lnTo>
                  <a:cubicBezTo>
                    <a:pt x="10864088" y="0"/>
                    <a:pt x="10867899" y="3810"/>
                    <a:pt x="10867899" y="8509"/>
                  </a:cubicBezTo>
                  <a:lnTo>
                    <a:pt x="10867899" y="3544189"/>
                  </a:lnTo>
                  <a:cubicBezTo>
                    <a:pt x="10867899" y="3548888"/>
                    <a:pt x="10864088" y="3552698"/>
                    <a:pt x="10859389" y="3552698"/>
                  </a:cubicBezTo>
                  <a:lnTo>
                    <a:pt x="8509" y="3552698"/>
                  </a:lnTo>
                  <a:cubicBezTo>
                    <a:pt x="3810" y="3552698"/>
                    <a:pt x="0" y="3548888"/>
                    <a:pt x="0" y="3544189"/>
                  </a:cubicBezTo>
                  <a:lnTo>
                    <a:pt x="0" y="8509"/>
                  </a:lnTo>
                  <a:cubicBezTo>
                    <a:pt x="0" y="3810"/>
                    <a:pt x="3810" y="0"/>
                    <a:pt x="8509" y="0"/>
                  </a:cubicBezTo>
                  <a:moveTo>
                    <a:pt x="8509" y="16891"/>
                  </a:moveTo>
                  <a:lnTo>
                    <a:pt x="8509" y="8509"/>
                  </a:lnTo>
                  <a:lnTo>
                    <a:pt x="17018" y="8509"/>
                  </a:lnTo>
                  <a:lnTo>
                    <a:pt x="17018" y="3544189"/>
                  </a:lnTo>
                  <a:lnTo>
                    <a:pt x="8509" y="3544189"/>
                  </a:lnTo>
                  <a:lnTo>
                    <a:pt x="8509" y="3535680"/>
                  </a:lnTo>
                  <a:lnTo>
                    <a:pt x="10859389" y="3535680"/>
                  </a:lnTo>
                  <a:lnTo>
                    <a:pt x="10859389" y="3544189"/>
                  </a:lnTo>
                  <a:lnTo>
                    <a:pt x="10850880" y="3544189"/>
                  </a:lnTo>
                  <a:lnTo>
                    <a:pt x="10850880" y="8509"/>
                  </a:lnTo>
                  <a:lnTo>
                    <a:pt x="10859389" y="8509"/>
                  </a:lnTo>
                  <a:lnTo>
                    <a:pt x="10859389" y="17018"/>
                  </a:lnTo>
                  <a:lnTo>
                    <a:pt x="8509" y="17018"/>
                  </a:lnTo>
                  <a:close/>
                </a:path>
              </a:pathLst>
            </a:custGeom>
            <a:solidFill>
              <a:srgbClr val="D0E8F0"/>
            </a:solidFill>
          </p:spPr>
        </p:sp>
      </p:grpSp>
      <p:grpSp>
        <p:nvGrpSpPr>
          <p:cNvPr name="Group 56" id="56"/>
          <p:cNvGrpSpPr/>
          <p:nvPr/>
        </p:nvGrpSpPr>
        <p:grpSpPr>
          <a:xfrm rot="0">
            <a:off x="718823" y="5656583"/>
            <a:ext cx="263147" cy="2677163"/>
            <a:chOff x="0" y="0"/>
            <a:chExt cx="350863" cy="3569551"/>
          </a:xfrm>
        </p:grpSpPr>
        <p:sp>
          <p:nvSpPr>
            <p:cNvPr name="Freeform 57" id="57"/>
            <p:cNvSpPr/>
            <p:nvPr/>
          </p:nvSpPr>
          <p:spPr>
            <a:xfrm flipH="false" flipV="false" rot="0">
              <a:off x="16891" y="16891"/>
              <a:ext cx="316992" cy="3535680"/>
            </a:xfrm>
            <a:custGeom>
              <a:avLst/>
              <a:gdLst/>
              <a:ahLst/>
              <a:cxnLst/>
              <a:rect r="r" b="b" t="t" l="l"/>
              <a:pathLst>
                <a:path h="3535680" w="316992">
                  <a:moveTo>
                    <a:pt x="0" y="0"/>
                  </a:moveTo>
                  <a:lnTo>
                    <a:pt x="316992" y="0"/>
                  </a:lnTo>
                  <a:lnTo>
                    <a:pt x="316992" y="3535680"/>
                  </a:lnTo>
                  <a:lnTo>
                    <a:pt x="0" y="3535680"/>
                  </a:lnTo>
                  <a:close/>
                </a:path>
              </a:pathLst>
            </a:custGeom>
            <a:solidFill>
              <a:srgbClr val="9B59B6"/>
            </a:solidFill>
          </p:spPr>
        </p:sp>
        <p:sp>
          <p:nvSpPr>
            <p:cNvPr name="Freeform 58" id="58"/>
            <p:cNvSpPr/>
            <p:nvPr/>
          </p:nvSpPr>
          <p:spPr>
            <a:xfrm flipH="false" flipV="false" rot="0">
              <a:off x="0" y="0"/>
              <a:ext cx="350774" cy="3569462"/>
            </a:xfrm>
            <a:custGeom>
              <a:avLst/>
              <a:gdLst/>
              <a:ahLst/>
              <a:cxnLst/>
              <a:rect r="r" b="b" t="t" l="l"/>
              <a:pathLst>
                <a:path h="3569462" w="350774">
                  <a:moveTo>
                    <a:pt x="16891" y="0"/>
                  </a:moveTo>
                  <a:lnTo>
                    <a:pt x="333883" y="0"/>
                  </a:lnTo>
                  <a:cubicBezTo>
                    <a:pt x="343281" y="0"/>
                    <a:pt x="350774" y="7620"/>
                    <a:pt x="350774" y="16891"/>
                  </a:cubicBezTo>
                  <a:lnTo>
                    <a:pt x="350774" y="3552571"/>
                  </a:lnTo>
                  <a:cubicBezTo>
                    <a:pt x="350774" y="3561969"/>
                    <a:pt x="343154" y="3569462"/>
                    <a:pt x="333883"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333883" y="3535680"/>
                  </a:lnTo>
                  <a:lnTo>
                    <a:pt x="333883" y="3552571"/>
                  </a:lnTo>
                  <a:lnTo>
                    <a:pt x="316992" y="3552571"/>
                  </a:lnTo>
                  <a:lnTo>
                    <a:pt x="316992" y="16891"/>
                  </a:lnTo>
                  <a:lnTo>
                    <a:pt x="333883" y="16891"/>
                  </a:lnTo>
                  <a:lnTo>
                    <a:pt x="333883" y="33909"/>
                  </a:lnTo>
                  <a:lnTo>
                    <a:pt x="16891" y="33909"/>
                  </a:lnTo>
                  <a:close/>
                </a:path>
              </a:pathLst>
            </a:custGeom>
            <a:solidFill>
              <a:srgbClr val="9B59B6"/>
            </a:solidFill>
          </p:spPr>
        </p:sp>
      </p:grpSp>
      <p:grpSp>
        <p:nvGrpSpPr>
          <p:cNvPr name="Group 59" id="59"/>
          <p:cNvGrpSpPr/>
          <p:nvPr/>
        </p:nvGrpSpPr>
        <p:grpSpPr>
          <a:xfrm rot="0">
            <a:off x="1121159" y="5876039"/>
            <a:ext cx="976379" cy="665483"/>
            <a:chOff x="0" y="0"/>
            <a:chExt cx="1301839" cy="887311"/>
          </a:xfrm>
        </p:grpSpPr>
        <p:sp>
          <p:nvSpPr>
            <p:cNvPr name="Freeform 60" id="60"/>
            <p:cNvSpPr/>
            <p:nvPr/>
          </p:nvSpPr>
          <p:spPr>
            <a:xfrm flipH="false" flipV="false" rot="0">
              <a:off x="16891" y="16891"/>
              <a:ext cx="1267968" cy="853440"/>
            </a:xfrm>
            <a:custGeom>
              <a:avLst/>
              <a:gdLst/>
              <a:ahLst/>
              <a:cxnLst/>
              <a:rect r="r" b="b" t="t" l="l"/>
              <a:pathLst>
                <a:path h="853440" w="1267968">
                  <a:moveTo>
                    <a:pt x="0" y="0"/>
                  </a:moveTo>
                  <a:lnTo>
                    <a:pt x="1267968" y="0"/>
                  </a:lnTo>
                  <a:lnTo>
                    <a:pt x="1267968" y="853440"/>
                  </a:lnTo>
                  <a:lnTo>
                    <a:pt x="0" y="853440"/>
                  </a:lnTo>
                  <a:close/>
                </a:path>
              </a:pathLst>
            </a:custGeom>
            <a:solidFill>
              <a:srgbClr val="9B59B6"/>
            </a:solidFill>
          </p:spPr>
        </p:sp>
        <p:sp>
          <p:nvSpPr>
            <p:cNvPr name="Freeform 61" id="61"/>
            <p:cNvSpPr/>
            <p:nvPr/>
          </p:nvSpPr>
          <p:spPr>
            <a:xfrm flipH="false" flipV="false" rot="0">
              <a:off x="0" y="0"/>
              <a:ext cx="1301750" cy="887224"/>
            </a:xfrm>
            <a:custGeom>
              <a:avLst/>
              <a:gdLst/>
              <a:ahLst/>
              <a:cxnLst/>
              <a:rect r="r" b="b" t="t" l="l"/>
              <a:pathLst>
                <a:path h="887224" w="1301750">
                  <a:moveTo>
                    <a:pt x="16891" y="0"/>
                  </a:moveTo>
                  <a:lnTo>
                    <a:pt x="1284859" y="0"/>
                  </a:lnTo>
                  <a:cubicBezTo>
                    <a:pt x="1294257" y="0"/>
                    <a:pt x="1301750" y="7620"/>
                    <a:pt x="1301750" y="16891"/>
                  </a:cubicBezTo>
                  <a:lnTo>
                    <a:pt x="1301750" y="870331"/>
                  </a:lnTo>
                  <a:cubicBezTo>
                    <a:pt x="1301750" y="879729"/>
                    <a:pt x="1294130" y="887222"/>
                    <a:pt x="1284859"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284859" y="853440"/>
                  </a:lnTo>
                  <a:lnTo>
                    <a:pt x="1284859" y="870331"/>
                  </a:lnTo>
                  <a:lnTo>
                    <a:pt x="1267968" y="870331"/>
                  </a:lnTo>
                  <a:lnTo>
                    <a:pt x="1267968" y="16891"/>
                  </a:lnTo>
                  <a:lnTo>
                    <a:pt x="1284859" y="16891"/>
                  </a:lnTo>
                  <a:lnTo>
                    <a:pt x="1284859" y="33909"/>
                  </a:lnTo>
                  <a:lnTo>
                    <a:pt x="16891" y="33909"/>
                  </a:lnTo>
                  <a:close/>
                </a:path>
              </a:pathLst>
            </a:custGeom>
            <a:solidFill>
              <a:srgbClr val="9B59B6"/>
            </a:solidFill>
          </p:spPr>
        </p:sp>
      </p:grpSp>
      <p:grpSp>
        <p:nvGrpSpPr>
          <p:cNvPr name="Group 62" id="62"/>
          <p:cNvGrpSpPr/>
          <p:nvPr/>
        </p:nvGrpSpPr>
        <p:grpSpPr>
          <a:xfrm rot="0">
            <a:off x="1133856" y="5888736"/>
            <a:ext cx="950976" cy="640080"/>
            <a:chOff x="0" y="0"/>
            <a:chExt cx="1267968" cy="853440"/>
          </a:xfrm>
        </p:grpSpPr>
        <p:sp>
          <p:nvSpPr>
            <p:cNvPr name="Freeform 63" id="63"/>
            <p:cNvSpPr/>
            <p:nvPr/>
          </p:nvSpPr>
          <p:spPr>
            <a:xfrm flipH="false" flipV="false" rot="0">
              <a:off x="0" y="0"/>
              <a:ext cx="1267968" cy="853440"/>
            </a:xfrm>
            <a:custGeom>
              <a:avLst/>
              <a:gdLst/>
              <a:ahLst/>
              <a:cxnLst/>
              <a:rect r="r" b="b" t="t" l="l"/>
              <a:pathLst>
                <a:path h="853440" w="1267968">
                  <a:moveTo>
                    <a:pt x="0" y="0"/>
                  </a:moveTo>
                  <a:lnTo>
                    <a:pt x="1267968" y="0"/>
                  </a:lnTo>
                  <a:lnTo>
                    <a:pt x="1267968" y="853440"/>
                  </a:lnTo>
                  <a:lnTo>
                    <a:pt x="0" y="853440"/>
                  </a:lnTo>
                  <a:close/>
                </a:path>
              </a:pathLst>
            </a:custGeom>
            <a:blipFill>
              <a:blip r:embed="rId2">
                <a:alphaModFix amt="0"/>
              </a:blip>
              <a:stretch>
                <a:fillRect l="-36358" t="0" r="-36358" b="0"/>
              </a:stretch>
            </a:blipFill>
          </p:spPr>
        </p:sp>
        <p:sp>
          <p:nvSpPr>
            <p:cNvPr name="TextBox 64" id="64"/>
            <p:cNvSpPr txBox="true"/>
            <p:nvPr/>
          </p:nvSpPr>
          <p:spPr>
            <a:xfrm>
              <a:off x="0" y="-47625"/>
              <a:ext cx="1267968"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03</a:t>
              </a:r>
            </a:p>
          </p:txBody>
        </p:sp>
      </p:grpSp>
      <p:grpSp>
        <p:nvGrpSpPr>
          <p:cNvPr name="Group 65" id="65"/>
          <p:cNvGrpSpPr/>
          <p:nvPr/>
        </p:nvGrpSpPr>
        <p:grpSpPr>
          <a:xfrm rot="0">
            <a:off x="2286000" y="5907024"/>
            <a:ext cx="6309360" cy="640080"/>
            <a:chOff x="0" y="0"/>
            <a:chExt cx="8412480" cy="853440"/>
          </a:xfrm>
        </p:grpSpPr>
        <p:sp>
          <p:nvSpPr>
            <p:cNvPr name="Freeform 66" id="66"/>
            <p:cNvSpPr/>
            <p:nvPr/>
          </p:nvSpPr>
          <p:spPr>
            <a:xfrm flipH="false" flipV="false" rot="0">
              <a:off x="0" y="0"/>
              <a:ext cx="8412480" cy="853440"/>
            </a:xfrm>
            <a:custGeom>
              <a:avLst/>
              <a:gdLst/>
              <a:ahLst/>
              <a:cxnLst/>
              <a:rect r="r" b="b" t="t" l="l"/>
              <a:pathLst>
                <a:path h="853440" w="8412480">
                  <a:moveTo>
                    <a:pt x="0" y="0"/>
                  </a:moveTo>
                  <a:lnTo>
                    <a:pt x="8412480" y="0"/>
                  </a:lnTo>
                  <a:lnTo>
                    <a:pt x="8412480" y="853440"/>
                  </a:lnTo>
                  <a:lnTo>
                    <a:pt x="0" y="853440"/>
                  </a:lnTo>
                  <a:close/>
                </a:path>
              </a:pathLst>
            </a:custGeom>
            <a:blipFill>
              <a:blip r:embed="rId2">
                <a:alphaModFix amt="0"/>
              </a:blip>
              <a:stretch>
                <a:fillRect l="0" t="-142066" r="0" b="-142066"/>
              </a:stretch>
            </a:blipFill>
          </p:spPr>
        </p:sp>
        <p:sp>
          <p:nvSpPr>
            <p:cNvPr name="TextBox 67" id="67"/>
            <p:cNvSpPr txBox="true"/>
            <p:nvPr/>
          </p:nvSpPr>
          <p:spPr>
            <a:xfrm>
              <a:off x="0" y="-38100"/>
              <a:ext cx="8412480" cy="891540"/>
            </a:xfrm>
            <a:prstGeom prst="rect">
              <a:avLst/>
            </a:prstGeom>
          </p:spPr>
          <p:txBody>
            <a:bodyPr anchor="ctr" rtlCol="false" tIns="0" lIns="0" bIns="0" rIns="0"/>
            <a:lstStyle/>
            <a:p>
              <a:pPr algn="l">
                <a:lnSpc>
                  <a:spcPts val="2879"/>
                </a:lnSpc>
              </a:pPr>
              <a:r>
                <a:rPr lang="en-US" sz="2400" b="true">
                  <a:solidFill>
                    <a:srgbClr val="9B59B6"/>
                  </a:solidFill>
                  <a:latin typeface="Calibri (MS) Bold"/>
                  <a:ea typeface="Calibri (MS) Bold"/>
                  <a:cs typeface="Calibri (MS) Bold"/>
                  <a:sym typeface="Calibri (MS) Bold"/>
                </a:rPr>
                <a:t>Analisis Data Iklim</a:t>
              </a:r>
            </a:p>
          </p:txBody>
        </p:sp>
      </p:grpSp>
      <p:grpSp>
        <p:nvGrpSpPr>
          <p:cNvPr name="Group 68" id="68"/>
          <p:cNvGrpSpPr/>
          <p:nvPr/>
        </p:nvGrpSpPr>
        <p:grpSpPr>
          <a:xfrm rot="0">
            <a:off x="1133856" y="6729984"/>
            <a:ext cx="7498080" cy="1426464"/>
            <a:chOff x="0" y="0"/>
            <a:chExt cx="9997440" cy="1901952"/>
          </a:xfrm>
        </p:grpSpPr>
        <p:sp>
          <p:nvSpPr>
            <p:cNvPr name="Freeform 69" id="69"/>
            <p:cNvSpPr/>
            <p:nvPr/>
          </p:nvSpPr>
          <p:spPr>
            <a:xfrm flipH="false" flipV="false" rot="0">
              <a:off x="0" y="0"/>
              <a:ext cx="9997440" cy="1901952"/>
            </a:xfrm>
            <a:custGeom>
              <a:avLst/>
              <a:gdLst/>
              <a:ahLst/>
              <a:cxnLst/>
              <a:rect r="r" b="b" t="t" l="l"/>
              <a:pathLst>
                <a:path h="1901952" w="9997440">
                  <a:moveTo>
                    <a:pt x="0" y="0"/>
                  </a:moveTo>
                  <a:lnTo>
                    <a:pt x="9997440" y="0"/>
                  </a:lnTo>
                  <a:lnTo>
                    <a:pt x="9997440" y="1901952"/>
                  </a:lnTo>
                  <a:lnTo>
                    <a:pt x="0" y="1901952"/>
                  </a:lnTo>
                  <a:close/>
                </a:path>
              </a:pathLst>
            </a:custGeom>
            <a:blipFill>
              <a:blip r:embed="rId2">
                <a:alphaModFix amt="0"/>
              </a:blip>
              <a:stretch>
                <a:fillRect l="0" t="-52421" r="0" b="-52421"/>
              </a:stretch>
            </a:blipFill>
          </p:spPr>
        </p:sp>
        <p:sp>
          <p:nvSpPr>
            <p:cNvPr name="TextBox 70" id="70"/>
            <p:cNvSpPr txBox="true"/>
            <p:nvPr/>
          </p:nvSpPr>
          <p:spPr>
            <a:xfrm>
              <a:off x="0" y="-47625"/>
              <a:ext cx="9997440" cy="1949577"/>
            </a:xfrm>
            <a:prstGeom prst="rect">
              <a:avLst/>
            </a:prstGeom>
          </p:spPr>
          <p:txBody>
            <a:bodyPr anchor="ctr" rtlCol="false" tIns="0" lIns="0" bIns="0" rIns="0"/>
            <a:lstStyle/>
            <a:p>
              <a:pPr algn="l">
                <a:lnSpc>
                  <a:spcPts val="2640"/>
                </a:lnSpc>
              </a:pPr>
              <a:r>
                <a:rPr lang="en-US" sz="2200">
                  <a:solidFill>
                    <a:srgbClr val="1E3A5F"/>
                  </a:solidFill>
                  <a:latin typeface="Calibri (MS)"/>
                  <a:ea typeface="Calibri (MS)"/>
                  <a:cs typeface="Calibri (MS)"/>
                  <a:sym typeface="Calibri (MS)"/>
                </a:rPr>
                <a:t>Menganalisis pola curah hujan, suhu, kelembapan, dan parameter iklim lainnya selama Maret 2025–Maret 2026</a:t>
              </a:r>
            </a:p>
          </p:txBody>
        </p:sp>
      </p:grpSp>
      <p:grpSp>
        <p:nvGrpSpPr>
          <p:cNvPr name="Group 71" id="71"/>
          <p:cNvGrpSpPr/>
          <p:nvPr/>
        </p:nvGrpSpPr>
        <p:grpSpPr>
          <a:xfrm rot="0">
            <a:off x="9411967" y="5662927"/>
            <a:ext cx="8150857" cy="2664457"/>
            <a:chOff x="0" y="0"/>
            <a:chExt cx="10867809" cy="3552609"/>
          </a:xfrm>
        </p:grpSpPr>
        <p:sp>
          <p:nvSpPr>
            <p:cNvPr name="Freeform 72" id="72"/>
            <p:cNvSpPr/>
            <p:nvPr/>
          </p:nvSpPr>
          <p:spPr>
            <a:xfrm flipH="false" flipV="false" rot="0">
              <a:off x="8509" y="8509"/>
              <a:ext cx="10850880" cy="3535680"/>
            </a:xfrm>
            <a:custGeom>
              <a:avLst/>
              <a:gdLst/>
              <a:ahLst/>
              <a:cxnLst/>
              <a:rect r="r" b="b" t="t" l="l"/>
              <a:pathLst>
                <a:path h="3535680" w="10850880">
                  <a:moveTo>
                    <a:pt x="0" y="0"/>
                  </a:moveTo>
                  <a:lnTo>
                    <a:pt x="10850880" y="0"/>
                  </a:lnTo>
                  <a:lnTo>
                    <a:pt x="10850880" y="3535680"/>
                  </a:lnTo>
                  <a:lnTo>
                    <a:pt x="0" y="3535680"/>
                  </a:lnTo>
                  <a:close/>
                </a:path>
              </a:pathLst>
            </a:custGeom>
            <a:solidFill>
              <a:srgbClr val="FFFFFF"/>
            </a:solidFill>
          </p:spPr>
        </p:sp>
        <p:sp>
          <p:nvSpPr>
            <p:cNvPr name="Freeform 73" id="73"/>
            <p:cNvSpPr/>
            <p:nvPr/>
          </p:nvSpPr>
          <p:spPr>
            <a:xfrm flipH="false" flipV="false" rot="0">
              <a:off x="0" y="0"/>
              <a:ext cx="10867899" cy="3552698"/>
            </a:xfrm>
            <a:custGeom>
              <a:avLst/>
              <a:gdLst/>
              <a:ahLst/>
              <a:cxnLst/>
              <a:rect r="r" b="b" t="t" l="l"/>
              <a:pathLst>
                <a:path h="3552698" w="10867899">
                  <a:moveTo>
                    <a:pt x="8509" y="0"/>
                  </a:moveTo>
                  <a:lnTo>
                    <a:pt x="10859389" y="0"/>
                  </a:lnTo>
                  <a:cubicBezTo>
                    <a:pt x="10864088" y="0"/>
                    <a:pt x="10867899" y="3810"/>
                    <a:pt x="10867899" y="8509"/>
                  </a:cubicBezTo>
                  <a:lnTo>
                    <a:pt x="10867899" y="3544189"/>
                  </a:lnTo>
                  <a:cubicBezTo>
                    <a:pt x="10867899" y="3548888"/>
                    <a:pt x="10864088" y="3552698"/>
                    <a:pt x="10859389" y="3552698"/>
                  </a:cubicBezTo>
                  <a:lnTo>
                    <a:pt x="8509" y="3552698"/>
                  </a:lnTo>
                  <a:cubicBezTo>
                    <a:pt x="3810" y="3552698"/>
                    <a:pt x="0" y="3548888"/>
                    <a:pt x="0" y="3544189"/>
                  </a:cubicBezTo>
                  <a:lnTo>
                    <a:pt x="0" y="8509"/>
                  </a:lnTo>
                  <a:cubicBezTo>
                    <a:pt x="0" y="3810"/>
                    <a:pt x="3810" y="0"/>
                    <a:pt x="8509" y="0"/>
                  </a:cubicBezTo>
                  <a:moveTo>
                    <a:pt x="8509" y="16891"/>
                  </a:moveTo>
                  <a:lnTo>
                    <a:pt x="8509" y="8509"/>
                  </a:lnTo>
                  <a:lnTo>
                    <a:pt x="17018" y="8509"/>
                  </a:lnTo>
                  <a:lnTo>
                    <a:pt x="17018" y="3544189"/>
                  </a:lnTo>
                  <a:lnTo>
                    <a:pt x="8509" y="3544189"/>
                  </a:lnTo>
                  <a:lnTo>
                    <a:pt x="8509" y="3535680"/>
                  </a:lnTo>
                  <a:lnTo>
                    <a:pt x="10859389" y="3535680"/>
                  </a:lnTo>
                  <a:lnTo>
                    <a:pt x="10859389" y="3544189"/>
                  </a:lnTo>
                  <a:lnTo>
                    <a:pt x="10850880" y="3544189"/>
                  </a:lnTo>
                  <a:lnTo>
                    <a:pt x="10850880" y="8509"/>
                  </a:lnTo>
                  <a:lnTo>
                    <a:pt x="10859389" y="8509"/>
                  </a:lnTo>
                  <a:lnTo>
                    <a:pt x="10859389" y="17018"/>
                  </a:lnTo>
                  <a:lnTo>
                    <a:pt x="8509" y="17018"/>
                  </a:lnTo>
                  <a:close/>
                </a:path>
              </a:pathLst>
            </a:custGeom>
            <a:solidFill>
              <a:srgbClr val="D0E8F0"/>
            </a:solidFill>
          </p:spPr>
        </p:sp>
      </p:grpSp>
      <p:grpSp>
        <p:nvGrpSpPr>
          <p:cNvPr name="Group 74" id="74"/>
          <p:cNvGrpSpPr/>
          <p:nvPr/>
        </p:nvGrpSpPr>
        <p:grpSpPr>
          <a:xfrm rot="0">
            <a:off x="9405623" y="5656583"/>
            <a:ext cx="263147" cy="2677163"/>
            <a:chOff x="0" y="0"/>
            <a:chExt cx="350863" cy="3569551"/>
          </a:xfrm>
        </p:grpSpPr>
        <p:sp>
          <p:nvSpPr>
            <p:cNvPr name="Freeform 75" id="75"/>
            <p:cNvSpPr/>
            <p:nvPr/>
          </p:nvSpPr>
          <p:spPr>
            <a:xfrm flipH="false" flipV="false" rot="0">
              <a:off x="16891" y="16891"/>
              <a:ext cx="316992" cy="3535680"/>
            </a:xfrm>
            <a:custGeom>
              <a:avLst/>
              <a:gdLst/>
              <a:ahLst/>
              <a:cxnLst/>
              <a:rect r="r" b="b" t="t" l="l"/>
              <a:pathLst>
                <a:path h="3535680" w="316992">
                  <a:moveTo>
                    <a:pt x="0" y="0"/>
                  </a:moveTo>
                  <a:lnTo>
                    <a:pt x="316992" y="0"/>
                  </a:lnTo>
                  <a:lnTo>
                    <a:pt x="316992" y="3535680"/>
                  </a:lnTo>
                  <a:lnTo>
                    <a:pt x="0" y="3535680"/>
                  </a:lnTo>
                  <a:close/>
                </a:path>
              </a:pathLst>
            </a:custGeom>
            <a:solidFill>
              <a:srgbClr val="2ECC71"/>
            </a:solidFill>
          </p:spPr>
        </p:sp>
        <p:sp>
          <p:nvSpPr>
            <p:cNvPr name="Freeform 76" id="76"/>
            <p:cNvSpPr/>
            <p:nvPr/>
          </p:nvSpPr>
          <p:spPr>
            <a:xfrm flipH="false" flipV="false" rot="0">
              <a:off x="0" y="0"/>
              <a:ext cx="350774" cy="3569462"/>
            </a:xfrm>
            <a:custGeom>
              <a:avLst/>
              <a:gdLst/>
              <a:ahLst/>
              <a:cxnLst/>
              <a:rect r="r" b="b" t="t" l="l"/>
              <a:pathLst>
                <a:path h="3569462" w="350774">
                  <a:moveTo>
                    <a:pt x="16891" y="0"/>
                  </a:moveTo>
                  <a:lnTo>
                    <a:pt x="333883" y="0"/>
                  </a:lnTo>
                  <a:cubicBezTo>
                    <a:pt x="343281" y="0"/>
                    <a:pt x="350774" y="7620"/>
                    <a:pt x="350774" y="16891"/>
                  </a:cubicBezTo>
                  <a:lnTo>
                    <a:pt x="350774" y="3552571"/>
                  </a:lnTo>
                  <a:cubicBezTo>
                    <a:pt x="350774" y="3561969"/>
                    <a:pt x="343154" y="3569462"/>
                    <a:pt x="333883"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333883" y="3535680"/>
                  </a:lnTo>
                  <a:lnTo>
                    <a:pt x="333883" y="3552571"/>
                  </a:lnTo>
                  <a:lnTo>
                    <a:pt x="316992" y="3552571"/>
                  </a:lnTo>
                  <a:lnTo>
                    <a:pt x="316992" y="16891"/>
                  </a:lnTo>
                  <a:lnTo>
                    <a:pt x="333883" y="16891"/>
                  </a:lnTo>
                  <a:lnTo>
                    <a:pt x="333883" y="33909"/>
                  </a:lnTo>
                  <a:lnTo>
                    <a:pt x="16891" y="33909"/>
                  </a:lnTo>
                  <a:close/>
                </a:path>
              </a:pathLst>
            </a:custGeom>
            <a:solidFill>
              <a:srgbClr val="2ECC71"/>
            </a:solidFill>
          </p:spPr>
        </p:sp>
      </p:grpSp>
      <p:grpSp>
        <p:nvGrpSpPr>
          <p:cNvPr name="Group 77" id="77"/>
          <p:cNvGrpSpPr/>
          <p:nvPr/>
        </p:nvGrpSpPr>
        <p:grpSpPr>
          <a:xfrm rot="0">
            <a:off x="9807959" y="5876039"/>
            <a:ext cx="976379" cy="665483"/>
            <a:chOff x="0" y="0"/>
            <a:chExt cx="1301839" cy="887311"/>
          </a:xfrm>
        </p:grpSpPr>
        <p:sp>
          <p:nvSpPr>
            <p:cNvPr name="Freeform 78" id="78"/>
            <p:cNvSpPr/>
            <p:nvPr/>
          </p:nvSpPr>
          <p:spPr>
            <a:xfrm flipH="false" flipV="false" rot="0">
              <a:off x="16891" y="16891"/>
              <a:ext cx="1267968" cy="853440"/>
            </a:xfrm>
            <a:custGeom>
              <a:avLst/>
              <a:gdLst/>
              <a:ahLst/>
              <a:cxnLst/>
              <a:rect r="r" b="b" t="t" l="l"/>
              <a:pathLst>
                <a:path h="853440" w="1267968">
                  <a:moveTo>
                    <a:pt x="0" y="0"/>
                  </a:moveTo>
                  <a:lnTo>
                    <a:pt x="1267968" y="0"/>
                  </a:lnTo>
                  <a:lnTo>
                    <a:pt x="1267968" y="853440"/>
                  </a:lnTo>
                  <a:lnTo>
                    <a:pt x="0" y="853440"/>
                  </a:lnTo>
                  <a:close/>
                </a:path>
              </a:pathLst>
            </a:custGeom>
            <a:solidFill>
              <a:srgbClr val="2ECC71"/>
            </a:solidFill>
          </p:spPr>
        </p:sp>
        <p:sp>
          <p:nvSpPr>
            <p:cNvPr name="Freeform 79" id="79"/>
            <p:cNvSpPr/>
            <p:nvPr/>
          </p:nvSpPr>
          <p:spPr>
            <a:xfrm flipH="false" flipV="false" rot="0">
              <a:off x="0" y="0"/>
              <a:ext cx="1301750" cy="887224"/>
            </a:xfrm>
            <a:custGeom>
              <a:avLst/>
              <a:gdLst/>
              <a:ahLst/>
              <a:cxnLst/>
              <a:rect r="r" b="b" t="t" l="l"/>
              <a:pathLst>
                <a:path h="887224" w="1301750">
                  <a:moveTo>
                    <a:pt x="16891" y="0"/>
                  </a:moveTo>
                  <a:lnTo>
                    <a:pt x="1284859" y="0"/>
                  </a:lnTo>
                  <a:cubicBezTo>
                    <a:pt x="1294257" y="0"/>
                    <a:pt x="1301750" y="7620"/>
                    <a:pt x="1301750" y="16891"/>
                  </a:cubicBezTo>
                  <a:lnTo>
                    <a:pt x="1301750" y="870331"/>
                  </a:lnTo>
                  <a:cubicBezTo>
                    <a:pt x="1301750" y="879729"/>
                    <a:pt x="1294130" y="887222"/>
                    <a:pt x="1284859"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284859" y="853440"/>
                  </a:lnTo>
                  <a:lnTo>
                    <a:pt x="1284859" y="870331"/>
                  </a:lnTo>
                  <a:lnTo>
                    <a:pt x="1267968" y="870331"/>
                  </a:lnTo>
                  <a:lnTo>
                    <a:pt x="1267968" y="16891"/>
                  </a:lnTo>
                  <a:lnTo>
                    <a:pt x="1284859" y="16891"/>
                  </a:lnTo>
                  <a:lnTo>
                    <a:pt x="1284859" y="33909"/>
                  </a:lnTo>
                  <a:lnTo>
                    <a:pt x="16891" y="33909"/>
                  </a:lnTo>
                  <a:close/>
                </a:path>
              </a:pathLst>
            </a:custGeom>
            <a:solidFill>
              <a:srgbClr val="2ECC71"/>
            </a:solidFill>
          </p:spPr>
        </p:sp>
      </p:grpSp>
      <p:grpSp>
        <p:nvGrpSpPr>
          <p:cNvPr name="Group 80" id="80"/>
          <p:cNvGrpSpPr/>
          <p:nvPr/>
        </p:nvGrpSpPr>
        <p:grpSpPr>
          <a:xfrm rot="0">
            <a:off x="9820656" y="5888736"/>
            <a:ext cx="950976" cy="640080"/>
            <a:chOff x="0" y="0"/>
            <a:chExt cx="1267968" cy="853440"/>
          </a:xfrm>
        </p:grpSpPr>
        <p:sp>
          <p:nvSpPr>
            <p:cNvPr name="Freeform 81" id="81"/>
            <p:cNvSpPr/>
            <p:nvPr/>
          </p:nvSpPr>
          <p:spPr>
            <a:xfrm flipH="false" flipV="false" rot="0">
              <a:off x="0" y="0"/>
              <a:ext cx="1267968" cy="853440"/>
            </a:xfrm>
            <a:custGeom>
              <a:avLst/>
              <a:gdLst/>
              <a:ahLst/>
              <a:cxnLst/>
              <a:rect r="r" b="b" t="t" l="l"/>
              <a:pathLst>
                <a:path h="853440" w="1267968">
                  <a:moveTo>
                    <a:pt x="0" y="0"/>
                  </a:moveTo>
                  <a:lnTo>
                    <a:pt x="1267968" y="0"/>
                  </a:lnTo>
                  <a:lnTo>
                    <a:pt x="1267968" y="853440"/>
                  </a:lnTo>
                  <a:lnTo>
                    <a:pt x="0" y="853440"/>
                  </a:lnTo>
                  <a:close/>
                </a:path>
              </a:pathLst>
            </a:custGeom>
            <a:blipFill>
              <a:blip r:embed="rId2">
                <a:alphaModFix amt="0"/>
              </a:blip>
              <a:stretch>
                <a:fillRect l="-36358" t="0" r="-36358" b="0"/>
              </a:stretch>
            </a:blipFill>
          </p:spPr>
        </p:sp>
        <p:sp>
          <p:nvSpPr>
            <p:cNvPr name="TextBox 82" id="82"/>
            <p:cNvSpPr txBox="true"/>
            <p:nvPr/>
          </p:nvSpPr>
          <p:spPr>
            <a:xfrm>
              <a:off x="0" y="-47625"/>
              <a:ext cx="1267968"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04</a:t>
              </a:r>
            </a:p>
          </p:txBody>
        </p:sp>
      </p:grpSp>
      <p:grpSp>
        <p:nvGrpSpPr>
          <p:cNvPr name="Group 83" id="83"/>
          <p:cNvGrpSpPr/>
          <p:nvPr/>
        </p:nvGrpSpPr>
        <p:grpSpPr>
          <a:xfrm rot="0">
            <a:off x="10972800" y="5907024"/>
            <a:ext cx="6309360" cy="640080"/>
            <a:chOff x="0" y="0"/>
            <a:chExt cx="8412480" cy="853440"/>
          </a:xfrm>
        </p:grpSpPr>
        <p:sp>
          <p:nvSpPr>
            <p:cNvPr name="Freeform 84" id="84"/>
            <p:cNvSpPr/>
            <p:nvPr/>
          </p:nvSpPr>
          <p:spPr>
            <a:xfrm flipH="false" flipV="false" rot="0">
              <a:off x="0" y="0"/>
              <a:ext cx="8412480" cy="853440"/>
            </a:xfrm>
            <a:custGeom>
              <a:avLst/>
              <a:gdLst/>
              <a:ahLst/>
              <a:cxnLst/>
              <a:rect r="r" b="b" t="t" l="l"/>
              <a:pathLst>
                <a:path h="853440" w="8412480">
                  <a:moveTo>
                    <a:pt x="0" y="0"/>
                  </a:moveTo>
                  <a:lnTo>
                    <a:pt x="8412480" y="0"/>
                  </a:lnTo>
                  <a:lnTo>
                    <a:pt x="8412480" y="853440"/>
                  </a:lnTo>
                  <a:lnTo>
                    <a:pt x="0" y="853440"/>
                  </a:lnTo>
                  <a:close/>
                </a:path>
              </a:pathLst>
            </a:custGeom>
            <a:blipFill>
              <a:blip r:embed="rId2">
                <a:alphaModFix amt="0"/>
              </a:blip>
              <a:stretch>
                <a:fillRect l="0" t="-142066" r="0" b="-142066"/>
              </a:stretch>
            </a:blipFill>
          </p:spPr>
        </p:sp>
        <p:sp>
          <p:nvSpPr>
            <p:cNvPr name="TextBox 85" id="85"/>
            <p:cNvSpPr txBox="true"/>
            <p:nvPr/>
          </p:nvSpPr>
          <p:spPr>
            <a:xfrm>
              <a:off x="0" y="-38100"/>
              <a:ext cx="8412480" cy="891540"/>
            </a:xfrm>
            <a:prstGeom prst="rect">
              <a:avLst/>
            </a:prstGeom>
          </p:spPr>
          <p:txBody>
            <a:bodyPr anchor="ctr" rtlCol="false" tIns="0" lIns="0" bIns="0" rIns="0"/>
            <a:lstStyle/>
            <a:p>
              <a:pPr algn="l">
                <a:lnSpc>
                  <a:spcPts val="2879"/>
                </a:lnSpc>
              </a:pPr>
              <a:r>
                <a:rPr lang="en-US" sz="2400" b="true">
                  <a:solidFill>
                    <a:srgbClr val="2ECC71"/>
                  </a:solidFill>
                  <a:latin typeface="Calibri (MS) Bold"/>
                  <a:ea typeface="Calibri (MS) Bold"/>
                  <a:cs typeface="Calibri (MS) Bold"/>
                  <a:sym typeface="Calibri (MS) Bold"/>
                </a:rPr>
                <a:t>Menghasilkan Insight</a:t>
              </a:r>
            </a:p>
          </p:txBody>
        </p:sp>
      </p:grpSp>
      <p:grpSp>
        <p:nvGrpSpPr>
          <p:cNvPr name="Group 86" id="86"/>
          <p:cNvGrpSpPr/>
          <p:nvPr/>
        </p:nvGrpSpPr>
        <p:grpSpPr>
          <a:xfrm rot="0">
            <a:off x="9820656" y="6729984"/>
            <a:ext cx="7498080" cy="1426464"/>
            <a:chOff x="0" y="0"/>
            <a:chExt cx="9997440" cy="1901952"/>
          </a:xfrm>
        </p:grpSpPr>
        <p:sp>
          <p:nvSpPr>
            <p:cNvPr name="Freeform 87" id="87"/>
            <p:cNvSpPr/>
            <p:nvPr/>
          </p:nvSpPr>
          <p:spPr>
            <a:xfrm flipH="false" flipV="false" rot="0">
              <a:off x="0" y="0"/>
              <a:ext cx="9997440" cy="1901952"/>
            </a:xfrm>
            <a:custGeom>
              <a:avLst/>
              <a:gdLst/>
              <a:ahLst/>
              <a:cxnLst/>
              <a:rect r="r" b="b" t="t" l="l"/>
              <a:pathLst>
                <a:path h="1901952" w="9997440">
                  <a:moveTo>
                    <a:pt x="0" y="0"/>
                  </a:moveTo>
                  <a:lnTo>
                    <a:pt x="9997440" y="0"/>
                  </a:lnTo>
                  <a:lnTo>
                    <a:pt x="9997440" y="1901952"/>
                  </a:lnTo>
                  <a:lnTo>
                    <a:pt x="0" y="1901952"/>
                  </a:lnTo>
                  <a:close/>
                </a:path>
              </a:pathLst>
            </a:custGeom>
            <a:blipFill>
              <a:blip r:embed="rId2">
                <a:alphaModFix amt="0"/>
              </a:blip>
              <a:stretch>
                <a:fillRect l="0" t="-52421" r="0" b="-52421"/>
              </a:stretch>
            </a:blipFill>
          </p:spPr>
        </p:sp>
        <p:sp>
          <p:nvSpPr>
            <p:cNvPr name="TextBox 88" id="88"/>
            <p:cNvSpPr txBox="true"/>
            <p:nvPr/>
          </p:nvSpPr>
          <p:spPr>
            <a:xfrm>
              <a:off x="0" y="-47625"/>
              <a:ext cx="9997440" cy="1949577"/>
            </a:xfrm>
            <a:prstGeom prst="rect">
              <a:avLst/>
            </a:prstGeom>
          </p:spPr>
          <p:txBody>
            <a:bodyPr anchor="ctr" rtlCol="false" tIns="0" lIns="0" bIns="0" rIns="0"/>
            <a:lstStyle/>
            <a:p>
              <a:pPr algn="l">
                <a:lnSpc>
                  <a:spcPts val="2640"/>
                </a:lnSpc>
              </a:pPr>
              <a:r>
                <a:rPr lang="en-US" sz="2200">
                  <a:solidFill>
                    <a:srgbClr val="1E3A5F"/>
                  </a:solidFill>
                  <a:latin typeface="Calibri (MS)"/>
                  <a:ea typeface="Calibri (MS)"/>
                  <a:cs typeface="Calibri (MS)"/>
                  <a:sym typeface="Calibri (MS)"/>
                </a:rPr>
                <a:t>Menghasilkan insight bermakna dari data iklim yang bermanfaat bagi penerbangan, pertanian, dan mitigasi bencana</a:t>
              </a:r>
            </a:p>
          </p:txBody>
        </p:sp>
      </p:grpSp>
      <p:grpSp>
        <p:nvGrpSpPr>
          <p:cNvPr name="Group 89" id="89"/>
          <p:cNvGrpSpPr/>
          <p:nvPr/>
        </p:nvGrpSpPr>
        <p:grpSpPr>
          <a:xfrm rot="-5400000">
            <a:off x="8915939" y="804014"/>
            <a:ext cx="979369" cy="17581883"/>
            <a:chOff x="0" y="0"/>
            <a:chExt cx="572038" cy="10269369"/>
          </a:xfrm>
        </p:grpSpPr>
        <p:sp>
          <p:nvSpPr>
            <p:cNvPr name="Freeform 90" id="90"/>
            <p:cNvSpPr/>
            <p:nvPr/>
          </p:nvSpPr>
          <p:spPr>
            <a:xfrm flipH="false" flipV="false" rot="0">
              <a:off x="27539" y="48594"/>
              <a:ext cx="516816" cy="10171924"/>
            </a:xfrm>
            <a:custGeom>
              <a:avLst/>
              <a:gdLst/>
              <a:ahLst/>
              <a:cxnLst/>
              <a:rect r="r" b="b" t="t" l="l"/>
              <a:pathLst>
                <a:path h="10171924" w="516816">
                  <a:moveTo>
                    <a:pt x="0" y="0"/>
                  </a:moveTo>
                  <a:lnTo>
                    <a:pt x="516815" y="0"/>
                  </a:lnTo>
                  <a:lnTo>
                    <a:pt x="516815" y="10171925"/>
                  </a:lnTo>
                  <a:lnTo>
                    <a:pt x="0" y="10171925"/>
                  </a:lnTo>
                  <a:close/>
                </a:path>
              </a:pathLst>
            </a:custGeom>
            <a:solidFill>
              <a:srgbClr val="1EB8D0"/>
            </a:solidFill>
          </p:spPr>
        </p:sp>
        <p:sp>
          <p:nvSpPr>
            <p:cNvPr name="Freeform 91" id="91"/>
            <p:cNvSpPr/>
            <p:nvPr/>
          </p:nvSpPr>
          <p:spPr>
            <a:xfrm flipH="false" flipV="false" rot="0">
              <a:off x="0" y="0"/>
              <a:ext cx="571893" cy="10269113"/>
            </a:xfrm>
            <a:custGeom>
              <a:avLst/>
              <a:gdLst/>
              <a:ahLst/>
              <a:cxnLst/>
              <a:rect r="r" b="b" t="t" l="l"/>
              <a:pathLst>
                <a:path h="10269113" w="571893">
                  <a:moveTo>
                    <a:pt x="27539" y="0"/>
                  </a:moveTo>
                  <a:lnTo>
                    <a:pt x="544354" y="0"/>
                  </a:lnTo>
                  <a:cubicBezTo>
                    <a:pt x="559677" y="0"/>
                    <a:pt x="571893" y="21922"/>
                    <a:pt x="571893" y="48594"/>
                  </a:cubicBezTo>
                  <a:lnTo>
                    <a:pt x="571893" y="10220519"/>
                  </a:lnTo>
                  <a:cubicBezTo>
                    <a:pt x="571893" y="10247557"/>
                    <a:pt x="559469" y="10269113"/>
                    <a:pt x="544354" y="10269113"/>
                  </a:cubicBezTo>
                  <a:lnTo>
                    <a:pt x="27539" y="10269113"/>
                  </a:lnTo>
                  <a:cubicBezTo>
                    <a:pt x="12216" y="10269113"/>
                    <a:pt x="0" y="10247191"/>
                    <a:pt x="0" y="10220519"/>
                  </a:cubicBezTo>
                  <a:lnTo>
                    <a:pt x="0" y="48594"/>
                  </a:lnTo>
                  <a:cubicBezTo>
                    <a:pt x="0" y="21922"/>
                    <a:pt x="12423" y="0"/>
                    <a:pt x="27539" y="0"/>
                  </a:cubicBezTo>
                  <a:moveTo>
                    <a:pt x="27539" y="97554"/>
                  </a:moveTo>
                  <a:lnTo>
                    <a:pt x="27539" y="48594"/>
                  </a:lnTo>
                  <a:lnTo>
                    <a:pt x="55284" y="48594"/>
                  </a:lnTo>
                  <a:lnTo>
                    <a:pt x="55284" y="10220519"/>
                  </a:lnTo>
                  <a:lnTo>
                    <a:pt x="27539" y="10220519"/>
                  </a:lnTo>
                  <a:lnTo>
                    <a:pt x="27539" y="10171925"/>
                  </a:lnTo>
                  <a:lnTo>
                    <a:pt x="544354" y="10171925"/>
                  </a:lnTo>
                  <a:lnTo>
                    <a:pt x="544354" y="10220519"/>
                  </a:lnTo>
                  <a:lnTo>
                    <a:pt x="516816" y="10220519"/>
                  </a:lnTo>
                  <a:lnTo>
                    <a:pt x="516816" y="48594"/>
                  </a:lnTo>
                  <a:lnTo>
                    <a:pt x="544354" y="48594"/>
                  </a:lnTo>
                  <a:lnTo>
                    <a:pt x="544354" y="97554"/>
                  </a:lnTo>
                  <a:lnTo>
                    <a:pt x="27539" y="97554"/>
                  </a:lnTo>
                  <a:close/>
                </a:path>
              </a:pathLst>
            </a:custGeom>
            <a:solidFill>
              <a:srgbClr val="1EB8D0"/>
            </a:solidFill>
          </p:spPr>
        </p:sp>
      </p:grpSp>
      <p:sp>
        <p:nvSpPr>
          <p:cNvPr name="TextBox 92" id="92"/>
          <p:cNvSpPr txBox="true"/>
          <p:nvPr/>
        </p:nvSpPr>
        <p:spPr>
          <a:xfrm rot="0">
            <a:off x="850397" y="9204365"/>
            <a:ext cx="16995428" cy="733557"/>
          </a:xfrm>
          <a:prstGeom prst="rect">
            <a:avLst/>
          </a:prstGeom>
        </p:spPr>
        <p:txBody>
          <a:bodyPr anchor="t" rtlCol="false" tIns="0" lIns="0" bIns="0" rIns="0">
            <a:spAutoFit/>
          </a:bodyPr>
          <a:lstStyle/>
          <a:p>
            <a:pPr algn="ctr">
              <a:lnSpc>
                <a:spcPts val="2759"/>
              </a:lnSpc>
              <a:spcBef>
                <a:spcPct val="0"/>
              </a:spcBef>
            </a:pPr>
            <a:r>
              <a:rPr lang="en-US" b="true" sz="2299">
                <a:solidFill>
                  <a:srgbClr val="000000"/>
                </a:solidFill>
                <a:latin typeface="Calibri (MS) Bold"/>
                <a:ea typeface="Calibri (MS) Bold"/>
                <a:cs typeface="Calibri (MS) Bold"/>
                <a:sym typeface="Calibri (MS) Bold"/>
              </a:rPr>
              <a:t>Menganalisis data iklim harian BMKG Stasiun Juanda untuk memahami pola musiman, mendeteksi anomali cuaca ekstrem, menganalisis tren jangka panjang, serta menyajikan hasil dalam bentuk visualisasi yang informatif sebagai dasar pengambilan keputusan berbasis data.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9B59B6"/>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9B59B6"/>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9B59B6"/>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9B59B6"/>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SUMBER DATA</a:t>
              </a:r>
            </a:p>
          </p:txBody>
        </p:sp>
      </p:grpSp>
      <p:grpSp>
        <p:nvGrpSpPr>
          <p:cNvPr name="Group 11" id="11"/>
          <p:cNvGrpSpPr/>
          <p:nvPr/>
        </p:nvGrpSpPr>
        <p:grpSpPr>
          <a:xfrm rot="0">
            <a:off x="5486400" y="256032"/>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Sumber Data</a:t>
              </a:r>
            </a:p>
          </p:txBody>
        </p:sp>
      </p:grpSp>
      <p:grpSp>
        <p:nvGrpSpPr>
          <p:cNvPr name="Group 14" id="14"/>
          <p:cNvGrpSpPr/>
          <p:nvPr/>
        </p:nvGrpSpPr>
        <p:grpSpPr>
          <a:xfrm rot="0">
            <a:off x="901703" y="1596647"/>
            <a:ext cx="3865883" cy="1854203"/>
            <a:chOff x="0" y="0"/>
            <a:chExt cx="5154511" cy="2472271"/>
          </a:xfrm>
        </p:grpSpPr>
        <p:sp>
          <p:nvSpPr>
            <p:cNvPr name="Freeform 15" id="15"/>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9B59B6"/>
            </a:solidFill>
          </p:spPr>
        </p:sp>
        <p:sp>
          <p:nvSpPr>
            <p:cNvPr name="Freeform 16" id="16"/>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9B59B6"/>
            </a:solidFill>
          </p:spPr>
        </p:sp>
      </p:grpSp>
      <p:grpSp>
        <p:nvGrpSpPr>
          <p:cNvPr name="Group 17" id="17"/>
          <p:cNvGrpSpPr/>
          <p:nvPr/>
        </p:nvGrpSpPr>
        <p:grpSpPr>
          <a:xfrm rot="0">
            <a:off x="914400" y="1700784"/>
            <a:ext cx="3840480" cy="950976"/>
            <a:chOff x="0" y="0"/>
            <a:chExt cx="5120640" cy="1267968"/>
          </a:xfrm>
        </p:grpSpPr>
        <p:sp>
          <p:nvSpPr>
            <p:cNvPr name="Freeform 18" id="18"/>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19" id="19"/>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13</a:t>
              </a:r>
            </a:p>
          </p:txBody>
        </p:sp>
      </p:grpSp>
      <p:grpSp>
        <p:nvGrpSpPr>
          <p:cNvPr name="Group 20" id="20"/>
          <p:cNvGrpSpPr/>
          <p:nvPr/>
        </p:nvGrpSpPr>
        <p:grpSpPr>
          <a:xfrm rot="0">
            <a:off x="914400" y="2633472"/>
            <a:ext cx="3840480" cy="640080"/>
            <a:chOff x="0" y="0"/>
            <a:chExt cx="5120640" cy="853440"/>
          </a:xfrm>
        </p:grpSpPr>
        <p:sp>
          <p:nvSpPr>
            <p:cNvPr name="Freeform 21" id="21"/>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22" id="22"/>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File XLSX</a:t>
              </a:r>
            </a:p>
          </p:txBody>
        </p:sp>
      </p:grpSp>
      <p:grpSp>
        <p:nvGrpSpPr>
          <p:cNvPr name="Group 23" id="23"/>
          <p:cNvGrpSpPr/>
          <p:nvPr/>
        </p:nvGrpSpPr>
        <p:grpSpPr>
          <a:xfrm rot="0">
            <a:off x="5016503" y="1596647"/>
            <a:ext cx="3865883" cy="1854203"/>
            <a:chOff x="0" y="0"/>
            <a:chExt cx="5154511" cy="2472271"/>
          </a:xfrm>
        </p:grpSpPr>
        <p:sp>
          <p:nvSpPr>
            <p:cNvPr name="Freeform 24" id="24"/>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7D3C98"/>
            </a:solidFill>
          </p:spPr>
        </p:sp>
        <p:sp>
          <p:nvSpPr>
            <p:cNvPr name="Freeform 25" id="25"/>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7D3C98"/>
            </a:solidFill>
          </p:spPr>
        </p:sp>
      </p:grpSp>
      <p:grpSp>
        <p:nvGrpSpPr>
          <p:cNvPr name="Group 26" id="26"/>
          <p:cNvGrpSpPr/>
          <p:nvPr/>
        </p:nvGrpSpPr>
        <p:grpSpPr>
          <a:xfrm rot="0">
            <a:off x="5029200" y="1700784"/>
            <a:ext cx="3840480" cy="950976"/>
            <a:chOff x="0" y="0"/>
            <a:chExt cx="5120640" cy="1267968"/>
          </a:xfrm>
        </p:grpSpPr>
        <p:sp>
          <p:nvSpPr>
            <p:cNvPr name="Freeform 27" id="27"/>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28" id="28"/>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365+</a:t>
              </a:r>
            </a:p>
          </p:txBody>
        </p:sp>
      </p:grpSp>
      <p:grpSp>
        <p:nvGrpSpPr>
          <p:cNvPr name="Group 29" id="29"/>
          <p:cNvGrpSpPr/>
          <p:nvPr/>
        </p:nvGrpSpPr>
        <p:grpSpPr>
          <a:xfrm rot="0">
            <a:off x="5029200" y="2633472"/>
            <a:ext cx="3840480" cy="640080"/>
            <a:chOff x="0" y="0"/>
            <a:chExt cx="5120640" cy="853440"/>
          </a:xfrm>
        </p:grpSpPr>
        <p:sp>
          <p:nvSpPr>
            <p:cNvPr name="Freeform 30" id="30"/>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31" id="31"/>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Total Record</a:t>
              </a:r>
            </a:p>
          </p:txBody>
        </p:sp>
      </p:grpSp>
      <p:grpSp>
        <p:nvGrpSpPr>
          <p:cNvPr name="Group 32" id="32"/>
          <p:cNvGrpSpPr/>
          <p:nvPr/>
        </p:nvGrpSpPr>
        <p:grpSpPr>
          <a:xfrm rot="0">
            <a:off x="9131303" y="1596647"/>
            <a:ext cx="3865883" cy="1854203"/>
            <a:chOff x="0" y="0"/>
            <a:chExt cx="5154511" cy="2472271"/>
          </a:xfrm>
        </p:grpSpPr>
        <p:sp>
          <p:nvSpPr>
            <p:cNvPr name="Freeform 33" id="33"/>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6C3483"/>
            </a:solidFill>
          </p:spPr>
        </p:sp>
        <p:sp>
          <p:nvSpPr>
            <p:cNvPr name="Freeform 34" id="34"/>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6C3483"/>
            </a:solidFill>
          </p:spPr>
        </p:sp>
      </p:grpSp>
      <p:grpSp>
        <p:nvGrpSpPr>
          <p:cNvPr name="Group 35" id="35"/>
          <p:cNvGrpSpPr/>
          <p:nvPr/>
        </p:nvGrpSpPr>
        <p:grpSpPr>
          <a:xfrm rot="0">
            <a:off x="9144000" y="1700784"/>
            <a:ext cx="3840480" cy="950976"/>
            <a:chOff x="0" y="0"/>
            <a:chExt cx="5120640" cy="1267968"/>
          </a:xfrm>
        </p:grpSpPr>
        <p:sp>
          <p:nvSpPr>
            <p:cNvPr name="Freeform 36" id="36"/>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37" id="37"/>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11</a:t>
              </a:r>
            </a:p>
          </p:txBody>
        </p:sp>
      </p:grpSp>
      <p:grpSp>
        <p:nvGrpSpPr>
          <p:cNvPr name="Group 38" id="38"/>
          <p:cNvGrpSpPr/>
          <p:nvPr/>
        </p:nvGrpSpPr>
        <p:grpSpPr>
          <a:xfrm rot="0">
            <a:off x="9144000" y="2633472"/>
            <a:ext cx="3840480" cy="640080"/>
            <a:chOff x="0" y="0"/>
            <a:chExt cx="5120640" cy="853440"/>
          </a:xfrm>
        </p:grpSpPr>
        <p:sp>
          <p:nvSpPr>
            <p:cNvPr name="Freeform 39" id="39"/>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40" id="40"/>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Parameter Iklim</a:t>
              </a:r>
            </a:p>
          </p:txBody>
        </p:sp>
      </p:grpSp>
      <p:grpSp>
        <p:nvGrpSpPr>
          <p:cNvPr name="Group 41" id="41"/>
          <p:cNvGrpSpPr/>
          <p:nvPr/>
        </p:nvGrpSpPr>
        <p:grpSpPr>
          <a:xfrm rot="0">
            <a:off x="908047" y="3797551"/>
            <a:ext cx="8242297" cy="5718553"/>
            <a:chOff x="0" y="0"/>
            <a:chExt cx="10989729" cy="7624737"/>
          </a:xfrm>
        </p:grpSpPr>
        <p:sp>
          <p:nvSpPr>
            <p:cNvPr name="Freeform 42" id="42"/>
            <p:cNvSpPr/>
            <p:nvPr/>
          </p:nvSpPr>
          <p:spPr>
            <a:xfrm flipH="false" flipV="false" rot="0">
              <a:off x="8509" y="8509"/>
              <a:ext cx="10972800" cy="7607808"/>
            </a:xfrm>
            <a:custGeom>
              <a:avLst/>
              <a:gdLst/>
              <a:ahLst/>
              <a:cxnLst/>
              <a:rect r="r" b="b" t="t" l="l"/>
              <a:pathLst>
                <a:path h="7607808" w="10972800">
                  <a:moveTo>
                    <a:pt x="0" y="0"/>
                  </a:moveTo>
                  <a:lnTo>
                    <a:pt x="10972800" y="0"/>
                  </a:lnTo>
                  <a:lnTo>
                    <a:pt x="10972800" y="7607808"/>
                  </a:lnTo>
                  <a:lnTo>
                    <a:pt x="0" y="7607808"/>
                  </a:lnTo>
                  <a:close/>
                </a:path>
              </a:pathLst>
            </a:custGeom>
            <a:solidFill>
              <a:srgbClr val="FFFFFF"/>
            </a:solidFill>
          </p:spPr>
        </p:sp>
        <p:sp>
          <p:nvSpPr>
            <p:cNvPr name="Freeform 43" id="43"/>
            <p:cNvSpPr/>
            <p:nvPr/>
          </p:nvSpPr>
          <p:spPr>
            <a:xfrm flipH="false" flipV="false" rot="0">
              <a:off x="0" y="0"/>
              <a:ext cx="10989818" cy="7624826"/>
            </a:xfrm>
            <a:custGeom>
              <a:avLst/>
              <a:gdLst/>
              <a:ahLst/>
              <a:cxnLst/>
              <a:rect r="r" b="b" t="t" l="l"/>
              <a:pathLst>
                <a:path h="7624826" w="10989818">
                  <a:moveTo>
                    <a:pt x="8509" y="0"/>
                  </a:moveTo>
                  <a:lnTo>
                    <a:pt x="10981309" y="0"/>
                  </a:lnTo>
                  <a:cubicBezTo>
                    <a:pt x="10986008" y="0"/>
                    <a:pt x="10989818" y="3810"/>
                    <a:pt x="10989818" y="8509"/>
                  </a:cubicBezTo>
                  <a:lnTo>
                    <a:pt x="10989818" y="7616317"/>
                  </a:lnTo>
                  <a:cubicBezTo>
                    <a:pt x="10989818" y="7621016"/>
                    <a:pt x="10986008" y="7624826"/>
                    <a:pt x="10981309" y="7624826"/>
                  </a:cubicBezTo>
                  <a:lnTo>
                    <a:pt x="8509" y="7624826"/>
                  </a:lnTo>
                  <a:cubicBezTo>
                    <a:pt x="3810" y="7624826"/>
                    <a:pt x="0" y="7621016"/>
                    <a:pt x="0" y="7616317"/>
                  </a:cubicBezTo>
                  <a:lnTo>
                    <a:pt x="0" y="8509"/>
                  </a:lnTo>
                  <a:cubicBezTo>
                    <a:pt x="0" y="3810"/>
                    <a:pt x="3810" y="0"/>
                    <a:pt x="8509" y="0"/>
                  </a:cubicBezTo>
                  <a:moveTo>
                    <a:pt x="8509" y="16891"/>
                  </a:moveTo>
                  <a:lnTo>
                    <a:pt x="8509" y="8509"/>
                  </a:lnTo>
                  <a:lnTo>
                    <a:pt x="17018" y="8509"/>
                  </a:lnTo>
                  <a:lnTo>
                    <a:pt x="17018" y="7616317"/>
                  </a:lnTo>
                  <a:lnTo>
                    <a:pt x="8509" y="7616317"/>
                  </a:lnTo>
                  <a:lnTo>
                    <a:pt x="8509" y="7607808"/>
                  </a:lnTo>
                  <a:lnTo>
                    <a:pt x="10981309" y="7607808"/>
                  </a:lnTo>
                  <a:lnTo>
                    <a:pt x="10981309" y="7616317"/>
                  </a:lnTo>
                  <a:lnTo>
                    <a:pt x="10972800" y="7616317"/>
                  </a:lnTo>
                  <a:lnTo>
                    <a:pt x="10972800" y="8509"/>
                  </a:lnTo>
                  <a:lnTo>
                    <a:pt x="10981309" y="8509"/>
                  </a:lnTo>
                  <a:lnTo>
                    <a:pt x="10981309" y="17018"/>
                  </a:lnTo>
                  <a:lnTo>
                    <a:pt x="8509" y="17018"/>
                  </a:lnTo>
                  <a:close/>
                </a:path>
              </a:pathLst>
            </a:custGeom>
            <a:solidFill>
              <a:srgbClr val="D0E8F0"/>
            </a:solidFill>
          </p:spPr>
        </p:sp>
      </p:grpSp>
      <p:grpSp>
        <p:nvGrpSpPr>
          <p:cNvPr name="Group 44" id="44"/>
          <p:cNvGrpSpPr/>
          <p:nvPr/>
        </p:nvGrpSpPr>
        <p:grpSpPr>
          <a:xfrm rot="0">
            <a:off x="901703" y="3791207"/>
            <a:ext cx="263147" cy="5731259"/>
            <a:chOff x="0" y="0"/>
            <a:chExt cx="350863" cy="7641679"/>
          </a:xfrm>
        </p:grpSpPr>
        <p:sp>
          <p:nvSpPr>
            <p:cNvPr name="Freeform 45" id="45"/>
            <p:cNvSpPr/>
            <p:nvPr/>
          </p:nvSpPr>
          <p:spPr>
            <a:xfrm flipH="false" flipV="false" rot="0">
              <a:off x="16891" y="16891"/>
              <a:ext cx="316992" cy="7607808"/>
            </a:xfrm>
            <a:custGeom>
              <a:avLst/>
              <a:gdLst/>
              <a:ahLst/>
              <a:cxnLst/>
              <a:rect r="r" b="b" t="t" l="l"/>
              <a:pathLst>
                <a:path h="7607808" w="316992">
                  <a:moveTo>
                    <a:pt x="0" y="0"/>
                  </a:moveTo>
                  <a:lnTo>
                    <a:pt x="316992" y="0"/>
                  </a:lnTo>
                  <a:lnTo>
                    <a:pt x="316992" y="7607808"/>
                  </a:lnTo>
                  <a:lnTo>
                    <a:pt x="0" y="7607808"/>
                  </a:lnTo>
                  <a:close/>
                </a:path>
              </a:pathLst>
            </a:custGeom>
            <a:solidFill>
              <a:srgbClr val="9B59B6"/>
            </a:solidFill>
          </p:spPr>
        </p:sp>
        <p:sp>
          <p:nvSpPr>
            <p:cNvPr name="Freeform 46" id="46"/>
            <p:cNvSpPr/>
            <p:nvPr/>
          </p:nvSpPr>
          <p:spPr>
            <a:xfrm flipH="false" flipV="false" rot="0">
              <a:off x="0" y="0"/>
              <a:ext cx="350774" cy="7641590"/>
            </a:xfrm>
            <a:custGeom>
              <a:avLst/>
              <a:gdLst/>
              <a:ahLst/>
              <a:cxnLst/>
              <a:rect r="r" b="b" t="t" l="l"/>
              <a:pathLst>
                <a:path h="7641590" w="350774">
                  <a:moveTo>
                    <a:pt x="16891" y="0"/>
                  </a:moveTo>
                  <a:lnTo>
                    <a:pt x="333883" y="0"/>
                  </a:lnTo>
                  <a:cubicBezTo>
                    <a:pt x="343281" y="0"/>
                    <a:pt x="350774" y="7620"/>
                    <a:pt x="350774" y="16891"/>
                  </a:cubicBezTo>
                  <a:lnTo>
                    <a:pt x="350774" y="7624699"/>
                  </a:lnTo>
                  <a:cubicBezTo>
                    <a:pt x="350774" y="7634097"/>
                    <a:pt x="343154" y="7641590"/>
                    <a:pt x="333883" y="7641590"/>
                  </a:cubicBezTo>
                  <a:lnTo>
                    <a:pt x="16891" y="7641590"/>
                  </a:lnTo>
                  <a:cubicBezTo>
                    <a:pt x="7493" y="7641590"/>
                    <a:pt x="0" y="7633970"/>
                    <a:pt x="0" y="7624699"/>
                  </a:cubicBezTo>
                  <a:lnTo>
                    <a:pt x="0" y="16891"/>
                  </a:lnTo>
                  <a:cubicBezTo>
                    <a:pt x="0" y="7620"/>
                    <a:pt x="7620" y="0"/>
                    <a:pt x="16891" y="0"/>
                  </a:cubicBezTo>
                  <a:moveTo>
                    <a:pt x="16891" y="33909"/>
                  </a:moveTo>
                  <a:lnTo>
                    <a:pt x="16891" y="16891"/>
                  </a:lnTo>
                  <a:lnTo>
                    <a:pt x="33909" y="16891"/>
                  </a:lnTo>
                  <a:lnTo>
                    <a:pt x="33909" y="7624699"/>
                  </a:lnTo>
                  <a:lnTo>
                    <a:pt x="16891" y="7624699"/>
                  </a:lnTo>
                  <a:lnTo>
                    <a:pt x="16891" y="7607808"/>
                  </a:lnTo>
                  <a:lnTo>
                    <a:pt x="333883" y="7607808"/>
                  </a:lnTo>
                  <a:lnTo>
                    <a:pt x="333883" y="7624699"/>
                  </a:lnTo>
                  <a:lnTo>
                    <a:pt x="316992" y="7624699"/>
                  </a:lnTo>
                  <a:lnTo>
                    <a:pt x="316992" y="16891"/>
                  </a:lnTo>
                  <a:lnTo>
                    <a:pt x="333883" y="16891"/>
                  </a:lnTo>
                  <a:lnTo>
                    <a:pt x="333883" y="33909"/>
                  </a:lnTo>
                  <a:lnTo>
                    <a:pt x="16891" y="33909"/>
                  </a:lnTo>
                  <a:close/>
                </a:path>
              </a:pathLst>
            </a:custGeom>
            <a:solidFill>
              <a:srgbClr val="9B59B6"/>
            </a:solidFill>
          </p:spPr>
        </p:sp>
      </p:grpSp>
      <p:grpSp>
        <p:nvGrpSpPr>
          <p:cNvPr name="Group 47" id="47"/>
          <p:cNvGrpSpPr/>
          <p:nvPr/>
        </p:nvGrpSpPr>
        <p:grpSpPr>
          <a:xfrm rot="0">
            <a:off x="901703" y="3791207"/>
            <a:ext cx="8255003" cy="720347"/>
            <a:chOff x="0" y="0"/>
            <a:chExt cx="11006671" cy="960463"/>
          </a:xfrm>
        </p:grpSpPr>
        <p:sp>
          <p:nvSpPr>
            <p:cNvPr name="Freeform 48" id="48"/>
            <p:cNvSpPr/>
            <p:nvPr/>
          </p:nvSpPr>
          <p:spPr>
            <a:xfrm flipH="false" flipV="false" rot="0">
              <a:off x="16891" y="16891"/>
              <a:ext cx="10972800" cy="926592"/>
            </a:xfrm>
            <a:custGeom>
              <a:avLst/>
              <a:gdLst/>
              <a:ahLst/>
              <a:cxnLst/>
              <a:rect r="r" b="b" t="t" l="l"/>
              <a:pathLst>
                <a:path h="926592" w="10972800">
                  <a:moveTo>
                    <a:pt x="0" y="0"/>
                  </a:moveTo>
                  <a:lnTo>
                    <a:pt x="10972800" y="0"/>
                  </a:lnTo>
                  <a:lnTo>
                    <a:pt x="10972800" y="926592"/>
                  </a:lnTo>
                  <a:lnTo>
                    <a:pt x="0" y="926592"/>
                  </a:lnTo>
                  <a:close/>
                </a:path>
              </a:pathLst>
            </a:custGeom>
            <a:solidFill>
              <a:srgbClr val="9B59B6"/>
            </a:solidFill>
          </p:spPr>
        </p:sp>
        <p:sp>
          <p:nvSpPr>
            <p:cNvPr name="Freeform 49" id="49"/>
            <p:cNvSpPr/>
            <p:nvPr/>
          </p:nvSpPr>
          <p:spPr>
            <a:xfrm flipH="false" flipV="false" rot="0">
              <a:off x="0" y="0"/>
              <a:ext cx="11006582" cy="960376"/>
            </a:xfrm>
            <a:custGeom>
              <a:avLst/>
              <a:gdLst/>
              <a:ahLst/>
              <a:cxnLst/>
              <a:rect r="r" b="b" t="t" l="l"/>
              <a:pathLst>
                <a:path h="960376" w="11006582">
                  <a:moveTo>
                    <a:pt x="16891" y="0"/>
                  </a:moveTo>
                  <a:lnTo>
                    <a:pt x="10989691" y="0"/>
                  </a:lnTo>
                  <a:cubicBezTo>
                    <a:pt x="10999089" y="0"/>
                    <a:pt x="11006582" y="7620"/>
                    <a:pt x="11006582" y="16891"/>
                  </a:cubicBezTo>
                  <a:lnTo>
                    <a:pt x="11006582" y="943483"/>
                  </a:lnTo>
                  <a:cubicBezTo>
                    <a:pt x="11006582" y="952881"/>
                    <a:pt x="10998962" y="960374"/>
                    <a:pt x="109896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0989691" y="926592"/>
                  </a:lnTo>
                  <a:lnTo>
                    <a:pt x="10989691" y="943483"/>
                  </a:lnTo>
                  <a:lnTo>
                    <a:pt x="10972800" y="943483"/>
                  </a:lnTo>
                  <a:lnTo>
                    <a:pt x="10972800" y="16891"/>
                  </a:lnTo>
                  <a:lnTo>
                    <a:pt x="10989691" y="16891"/>
                  </a:lnTo>
                  <a:lnTo>
                    <a:pt x="10989691" y="33909"/>
                  </a:lnTo>
                  <a:lnTo>
                    <a:pt x="16891" y="33909"/>
                  </a:lnTo>
                  <a:close/>
                </a:path>
              </a:pathLst>
            </a:custGeom>
            <a:solidFill>
              <a:srgbClr val="9B59B6"/>
            </a:solidFill>
          </p:spPr>
        </p:sp>
      </p:grpSp>
      <p:grpSp>
        <p:nvGrpSpPr>
          <p:cNvPr name="Group 50" id="50"/>
          <p:cNvGrpSpPr/>
          <p:nvPr/>
        </p:nvGrpSpPr>
        <p:grpSpPr>
          <a:xfrm rot="0">
            <a:off x="1243584" y="3791207"/>
            <a:ext cx="7863840" cy="694944"/>
            <a:chOff x="0" y="0"/>
            <a:chExt cx="10485120" cy="926592"/>
          </a:xfrm>
        </p:grpSpPr>
        <p:sp>
          <p:nvSpPr>
            <p:cNvPr name="Freeform 51" id="51"/>
            <p:cNvSpPr/>
            <p:nvPr/>
          </p:nvSpPr>
          <p:spPr>
            <a:xfrm flipH="false" flipV="false" rot="0">
              <a:off x="0" y="0"/>
              <a:ext cx="10485120" cy="926592"/>
            </a:xfrm>
            <a:custGeom>
              <a:avLst/>
              <a:gdLst/>
              <a:ahLst/>
              <a:cxnLst/>
              <a:rect r="r" b="b" t="t" l="l"/>
              <a:pathLst>
                <a:path h="926592" w="10485120">
                  <a:moveTo>
                    <a:pt x="0" y="0"/>
                  </a:moveTo>
                  <a:lnTo>
                    <a:pt x="10485120" y="0"/>
                  </a:lnTo>
                  <a:lnTo>
                    <a:pt x="10485120" y="926592"/>
                  </a:lnTo>
                  <a:lnTo>
                    <a:pt x="0" y="926592"/>
                  </a:lnTo>
                  <a:close/>
                </a:path>
              </a:pathLst>
            </a:custGeom>
            <a:blipFill>
              <a:blip r:embed="rId2">
                <a:alphaModFix amt="0"/>
              </a:blip>
              <a:stretch>
                <a:fillRect l="0" t="-170488" r="0" b="-170488"/>
              </a:stretch>
            </a:blipFill>
          </p:spPr>
        </p:sp>
        <p:sp>
          <p:nvSpPr>
            <p:cNvPr name="TextBox 52" id="52"/>
            <p:cNvSpPr txBox="true"/>
            <p:nvPr/>
          </p:nvSpPr>
          <p:spPr>
            <a:xfrm>
              <a:off x="0" y="-38100"/>
              <a:ext cx="10485120" cy="96469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Informasi Dataset</a:t>
              </a:r>
            </a:p>
          </p:txBody>
        </p:sp>
      </p:grpSp>
      <p:grpSp>
        <p:nvGrpSpPr>
          <p:cNvPr name="Group 53" id="53"/>
          <p:cNvGrpSpPr/>
          <p:nvPr/>
        </p:nvGrpSpPr>
        <p:grpSpPr>
          <a:xfrm rot="0">
            <a:off x="1243584" y="4718304"/>
            <a:ext cx="2377440" cy="585216"/>
            <a:chOff x="0" y="0"/>
            <a:chExt cx="3169920" cy="780288"/>
          </a:xfrm>
        </p:grpSpPr>
        <p:sp>
          <p:nvSpPr>
            <p:cNvPr name="Freeform 54" id="54"/>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55" id="55"/>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Sumber</a:t>
              </a:r>
            </a:p>
          </p:txBody>
        </p:sp>
      </p:grpSp>
      <p:grpSp>
        <p:nvGrpSpPr>
          <p:cNvPr name="Group 56" id="56"/>
          <p:cNvGrpSpPr/>
          <p:nvPr/>
        </p:nvGrpSpPr>
        <p:grpSpPr>
          <a:xfrm rot="0">
            <a:off x="3749040" y="4718304"/>
            <a:ext cx="5120640" cy="585216"/>
            <a:chOff x="0" y="0"/>
            <a:chExt cx="6827520" cy="780288"/>
          </a:xfrm>
        </p:grpSpPr>
        <p:sp>
          <p:nvSpPr>
            <p:cNvPr name="Freeform 57" id="57"/>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58" id="58"/>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BMKG — bmkg.go.id</a:t>
              </a:r>
            </a:p>
          </p:txBody>
        </p:sp>
      </p:grpSp>
      <p:grpSp>
        <p:nvGrpSpPr>
          <p:cNvPr name="Group 59" id="59"/>
          <p:cNvGrpSpPr/>
          <p:nvPr/>
        </p:nvGrpSpPr>
        <p:grpSpPr>
          <a:xfrm rot="0">
            <a:off x="1092203" y="5316731"/>
            <a:ext cx="7691123" cy="10163"/>
            <a:chOff x="0" y="0"/>
            <a:chExt cx="10254831" cy="13551"/>
          </a:xfrm>
        </p:grpSpPr>
        <p:sp>
          <p:nvSpPr>
            <p:cNvPr name="Freeform 60" id="60"/>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61" id="61"/>
          <p:cNvGrpSpPr/>
          <p:nvPr/>
        </p:nvGrpSpPr>
        <p:grpSpPr>
          <a:xfrm rot="0">
            <a:off x="1243584" y="5376672"/>
            <a:ext cx="2377440" cy="585216"/>
            <a:chOff x="0" y="0"/>
            <a:chExt cx="3169920" cy="780288"/>
          </a:xfrm>
        </p:grpSpPr>
        <p:sp>
          <p:nvSpPr>
            <p:cNvPr name="Freeform 62" id="62"/>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63" id="63"/>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Stasiun</a:t>
              </a:r>
            </a:p>
          </p:txBody>
        </p:sp>
      </p:grpSp>
      <p:grpSp>
        <p:nvGrpSpPr>
          <p:cNvPr name="Group 64" id="64"/>
          <p:cNvGrpSpPr/>
          <p:nvPr/>
        </p:nvGrpSpPr>
        <p:grpSpPr>
          <a:xfrm rot="0">
            <a:off x="3749040" y="5376672"/>
            <a:ext cx="5120640" cy="585216"/>
            <a:chOff x="0" y="0"/>
            <a:chExt cx="6827520" cy="780288"/>
          </a:xfrm>
        </p:grpSpPr>
        <p:sp>
          <p:nvSpPr>
            <p:cNvPr name="Freeform 65" id="65"/>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66" id="66"/>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Meteorologi Juanda, Surabaya</a:t>
              </a:r>
            </a:p>
          </p:txBody>
        </p:sp>
      </p:grpSp>
      <p:grpSp>
        <p:nvGrpSpPr>
          <p:cNvPr name="Group 67" id="67"/>
          <p:cNvGrpSpPr/>
          <p:nvPr/>
        </p:nvGrpSpPr>
        <p:grpSpPr>
          <a:xfrm rot="0">
            <a:off x="1092203" y="5975099"/>
            <a:ext cx="7691123" cy="10163"/>
            <a:chOff x="0" y="0"/>
            <a:chExt cx="10254831" cy="13551"/>
          </a:xfrm>
        </p:grpSpPr>
        <p:sp>
          <p:nvSpPr>
            <p:cNvPr name="Freeform 68" id="68"/>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69" id="69"/>
          <p:cNvGrpSpPr/>
          <p:nvPr/>
        </p:nvGrpSpPr>
        <p:grpSpPr>
          <a:xfrm rot="0">
            <a:off x="1243584" y="6035040"/>
            <a:ext cx="2377440" cy="585216"/>
            <a:chOff x="0" y="0"/>
            <a:chExt cx="3169920" cy="780288"/>
          </a:xfrm>
        </p:grpSpPr>
        <p:sp>
          <p:nvSpPr>
            <p:cNvPr name="Freeform 70" id="70"/>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71" id="71"/>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ID WMO</a:t>
              </a:r>
            </a:p>
          </p:txBody>
        </p:sp>
      </p:grpSp>
      <p:grpSp>
        <p:nvGrpSpPr>
          <p:cNvPr name="Group 72" id="72"/>
          <p:cNvGrpSpPr/>
          <p:nvPr/>
        </p:nvGrpSpPr>
        <p:grpSpPr>
          <a:xfrm rot="0">
            <a:off x="3749040" y="6035040"/>
            <a:ext cx="5120640" cy="585216"/>
            <a:chOff x="0" y="0"/>
            <a:chExt cx="6827520" cy="780288"/>
          </a:xfrm>
        </p:grpSpPr>
        <p:sp>
          <p:nvSpPr>
            <p:cNvPr name="Freeform 73" id="73"/>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74" id="74"/>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96935</a:t>
              </a:r>
            </a:p>
          </p:txBody>
        </p:sp>
      </p:grpSp>
      <p:grpSp>
        <p:nvGrpSpPr>
          <p:cNvPr name="Group 75" id="75"/>
          <p:cNvGrpSpPr/>
          <p:nvPr/>
        </p:nvGrpSpPr>
        <p:grpSpPr>
          <a:xfrm rot="0">
            <a:off x="1092203" y="6633467"/>
            <a:ext cx="7691123" cy="10163"/>
            <a:chOff x="0" y="0"/>
            <a:chExt cx="10254831" cy="13551"/>
          </a:xfrm>
        </p:grpSpPr>
        <p:sp>
          <p:nvSpPr>
            <p:cNvPr name="Freeform 76" id="76"/>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77" id="77"/>
          <p:cNvGrpSpPr/>
          <p:nvPr/>
        </p:nvGrpSpPr>
        <p:grpSpPr>
          <a:xfrm rot="0">
            <a:off x="1243584" y="6693408"/>
            <a:ext cx="2377440" cy="585216"/>
            <a:chOff x="0" y="0"/>
            <a:chExt cx="3169920" cy="780288"/>
          </a:xfrm>
        </p:grpSpPr>
        <p:sp>
          <p:nvSpPr>
            <p:cNvPr name="Freeform 78" id="78"/>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79" id="79"/>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Koordinat</a:t>
              </a:r>
            </a:p>
          </p:txBody>
        </p:sp>
      </p:grpSp>
      <p:grpSp>
        <p:nvGrpSpPr>
          <p:cNvPr name="Group 80" id="80"/>
          <p:cNvGrpSpPr/>
          <p:nvPr/>
        </p:nvGrpSpPr>
        <p:grpSpPr>
          <a:xfrm rot="0">
            <a:off x="3749040" y="6693408"/>
            <a:ext cx="5120640" cy="585216"/>
            <a:chOff x="0" y="0"/>
            <a:chExt cx="6827520" cy="780288"/>
          </a:xfrm>
        </p:grpSpPr>
        <p:sp>
          <p:nvSpPr>
            <p:cNvPr name="Freeform 81" id="81"/>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82" id="82"/>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-7.38° LS,  112.78° BT</a:t>
              </a:r>
            </a:p>
          </p:txBody>
        </p:sp>
      </p:grpSp>
      <p:grpSp>
        <p:nvGrpSpPr>
          <p:cNvPr name="Group 83" id="83"/>
          <p:cNvGrpSpPr/>
          <p:nvPr/>
        </p:nvGrpSpPr>
        <p:grpSpPr>
          <a:xfrm rot="0">
            <a:off x="1092203" y="7291835"/>
            <a:ext cx="7691123" cy="10163"/>
            <a:chOff x="0" y="0"/>
            <a:chExt cx="10254831" cy="13551"/>
          </a:xfrm>
        </p:grpSpPr>
        <p:sp>
          <p:nvSpPr>
            <p:cNvPr name="Freeform 84" id="84"/>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85" id="85"/>
          <p:cNvGrpSpPr/>
          <p:nvPr/>
        </p:nvGrpSpPr>
        <p:grpSpPr>
          <a:xfrm rot="0">
            <a:off x="1243584" y="7351776"/>
            <a:ext cx="2377440" cy="585216"/>
            <a:chOff x="0" y="0"/>
            <a:chExt cx="3169920" cy="780288"/>
          </a:xfrm>
        </p:grpSpPr>
        <p:sp>
          <p:nvSpPr>
            <p:cNvPr name="Freeform 86" id="86"/>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87" id="87"/>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Elevasi</a:t>
              </a:r>
            </a:p>
          </p:txBody>
        </p:sp>
      </p:grpSp>
      <p:grpSp>
        <p:nvGrpSpPr>
          <p:cNvPr name="Group 88" id="88"/>
          <p:cNvGrpSpPr/>
          <p:nvPr/>
        </p:nvGrpSpPr>
        <p:grpSpPr>
          <a:xfrm rot="0">
            <a:off x="3749040" y="7351776"/>
            <a:ext cx="5120640" cy="585216"/>
            <a:chOff x="0" y="0"/>
            <a:chExt cx="6827520" cy="780288"/>
          </a:xfrm>
        </p:grpSpPr>
        <p:sp>
          <p:nvSpPr>
            <p:cNvPr name="Freeform 89" id="89"/>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90" id="90"/>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3 Meter dpl</a:t>
              </a:r>
            </a:p>
          </p:txBody>
        </p:sp>
      </p:grpSp>
      <p:grpSp>
        <p:nvGrpSpPr>
          <p:cNvPr name="Group 91" id="91"/>
          <p:cNvGrpSpPr/>
          <p:nvPr/>
        </p:nvGrpSpPr>
        <p:grpSpPr>
          <a:xfrm rot="0">
            <a:off x="1092203" y="7950203"/>
            <a:ext cx="7691123" cy="10163"/>
            <a:chOff x="0" y="0"/>
            <a:chExt cx="10254831" cy="13551"/>
          </a:xfrm>
        </p:grpSpPr>
        <p:sp>
          <p:nvSpPr>
            <p:cNvPr name="Freeform 92" id="92"/>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93" id="93"/>
          <p:cNvGrpSpPr/>
          <p:nvPr/>
        </p:nvGrpSpPr>
        <p:grpSpPr>
          <a:xfrm rot="0">
            <a:off x="1243584" y="8010144"/>
            <a:ext cx="2377440" cy="585216"/>
            <a:chOff x="0" y="0"/>
            <a:chExt cx="3169920" cy="780288"/>
          </a:xfrm>
        </p:grpSpPr>
        <p:sp>
          <p:nvSpPr>
            <p:cNvPr name="Freeform 94" id="94"/>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95" id="95"/>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Periode</a:t>
              </a:r>
            </a:p>
          </p:txBody>
        </p:sp>
      </p:grpSp>
      <p:grpSp>
        <p:nvGrpSpPr>
          <p:cNvPr name="Group 96" id="96"/>
          <p:cNvGrpSpPr/>
          <p:nvPr/>
        </p:nvGrpSpPr>
        <p:grpSpPr>
          <a:xfrm rot="0">
            <a:off x="3749040" y="8010144"/>
            <a:ext cx="5120640" cy="585216"/>
            <a:chOff x="0" y="0"/>
            <a:chExt cx="6827520" cy="780288"/>
          </a:xfrm>
        </p:grpSpPr>
        <p:sp>
          <p:nvSpPr>
            <p:cNvPr name="Freeform 97" id="97"/>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98" id="98"/>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Maret 2025 – Maret 2026</a:t>
              </a:r>
            </a:p>
          </p:txBody>
        </p:sp>
      </p:grpSp>
      <p:grpSp>
        <p:nvGrpSpPr>
          <p:cNvPr name="Group 99" id="99"/>
          <p:cNvGrpSpPr/>
          <p:nvPr/>
        </p:nvGrpSpPr>
        <p:grpSpPr>
          <a:xfrm rot="0">
            <a:off x="1092203" y="8608571"/>
            <a:ext cx="7691123" cy="10163"/>
            <a:chOff x="0" y="0"/>
            <a:chExt cx="10254831" cy="13551"/>
          </a:xfrm>
        </p:grpSpPr>
        <p:sp>
          <p:nvSpPr>
            <p:cNvPr name="Freeform 100" id="100"/>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101" id="101"/>
          <p:cNvGrpSpPr/>
          <p:nvPr/>
        </p:nvGrpSpPr>
        <p:grpSpPr>
          <a:xfrm rot="0">
            <a:off x="1243584" y="8668512"/>
            <a:ext cx="2377440" cy="585216"/>
            <a:chOff x="0" y="0"/>
            <a:chExt cx="3169920" cy="780288"/>
          </a:xfrm>
        </p:grpSpPr>
        <p:sp>
          <p:nvSpPr>
            <p:cNvPr name="Freeform 102" id="102"/>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103" id="103"/>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Format</a:t>
              </a:r>
            </a:p>
          </p:txBody>
        </p:sp>
      </p:grpSp>
      <p:grpSp>
        <p:nvGrpSpPr>
          <p:cNvPr name="Group 104" id="104"/>
          <p:cNvGrpSpPr/>
          <p:nvPr/>
        </p:nvGrpSpPr>
        <p:grpSpPr>
          <a:xfrm rot="0">
            <a:off x="3749040" y="8668512"/>
            <a:ext cx="5120640" cy="585216"/>
            <a:chOff x="0" y="0"/>
            <a:chExt cx="6827520" cy="780288"/>
          </a:xfrm>
        </p:grpSpPr>
        <p:sp>
          <p:nvSpPr>
            <p:cNvPr name="Freeform 105" id="105"/>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106" id="106"/>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Microsoft Excel (.xlsx)</a:t>
              </a:r>
            </a:p>
          </p:txBody>
        </p:sp>
      </p:grpSp>
      <p:grpSp>
        <p:nvGrpSpPr>
          <p:cNvPr name="Group 107" id="107"/>
          <p:cNvGrpSpPr/>
          <p:nvPr/>
        </p:nvGrpSpPr>
        <p:grpSpPr>
          <a:xfrm rot="0">
            <a:off x="9503407" y="3797551"/>
            <a:ext cx="8059417" cy="5718553"/>
            <a:chOff x="0" y="0"/>
            <a:chExt cx="10745889" cy="7624737"/>
          </a:xfrm>
        </p:grpSpPr>
        <p:sp>
          <p:nvSpPr>
            <p:cNvPr name="Freeform 108" id="108"/>
            <p:cNvSpPr/>
            <p:nvPr/>
          </p:nvSpPr>
          <p:spPr>
            <a:xfrm flipH="false" flipV="false" rot="0">
              <a:off x="8509" y="8509"/>
              <a:ext cx="10728960" cy="7607808"/>
            </a:xfrm>
            <a:custGeom>
              <a:avLst/>
              <a:gdLst/>
              <a:ahLst/>
              <a:cxnLst/>
              <a:rect r="r" b="b" t="t" l="l"/>
              <a:pathLst>
                <a:path h="7607808" w="10728960">
                  <a:moveTo>
                    <a:pt x="0" y="0"/>
                  </a:moveTo>
                  <a:lnTo>
                    <a:pt x="10728960" y="0"/>
                  </a:lnTo>
                  <a:lnTo>
                    <a:pt x="10728960" y="7607808"/>
                  </a:lnTo>
                  <a:lnTo>
                    <a:pt x="0" y="7607808"/>
                  </a:lnTo>
                  <a:close/>
                </a:path>
              </a:pathLst>
            </a:custGeom>
            <a:solidFill>
              <a:srgbClr val="FFFFFF"/>
            </a:solidFill>
          </p:spPr>
        </p:sp>
        <p:sp>
          <p:nvSpPr>
            <p:cNvPr name="Freeform 109" id="109"/>
            <p:cNvSpPr/>
            <p:nvPr/>
          </p:nvSpPr>
          <p:spPr>
            <a:xfrm flipH="false" flipV="false" rot="0">
              <a:off x="0" y="0"/>
              <a:ext cx="10745978" cy="7624826"/>
            </a:xfrm>
            <a:custGeom>
              <a:avLst/>
              <a:gdLst/>
              <a:ahLst/>
              <a:cxnLst/>
              <a:rect r="r" b="b" t="t" l="l"/>
              <a:pathLst>
                <a:path h="7624826" w="10745978">
                  <a:moveTo>
                    <a:pt x="8509" y="0"/>
                  </a:moveTo>
                  <a:lnTo>
                    <a:pt x="10737469" y="0"/>
                  </a:lnTo>
                  <a:cubicBezTo>
                    <a:pt x="10742168" y="0"/>
                    <a:pt x="10745978" y="3810"/>
                    <a:pt x="10745978" y="8509"/>
                  </a:cubicBezTo>
                  <a:lnTo>
                    <a:pt x="10745978" y="7616317"/>
                  </a:lnTo>
                  <a:cubicBezTo>
                    <a:pt x="10745978" y="7621016"/>
                    <a:pt x="10742168" y="7624826"/>
                    <a:pt x="10737469" y="7624826"/>
                  </a:cubicBezTo>
                  <a:lnTo>
                    <a:pt x="8509" y="7624826"/>
                  </a:lnTo>
                  <a:cubicBezTo>
                    <a:pt x="3810" y="7624826"/>
                    <a:pt x="0" y="7621016"/>
                    <a:pt x="0" y="7616317"/>
                  </a:cubicBezTo>
                  <a:lnTo>
                    <a:pt x="0" y="8509"/>
                  </a:lnTo>
                  <a:cubicBezTo>
                    <a:pt x="0" y="3810"/>
                    <a:pt x="3810" y="0"/>
                    <a:pt x="8509" y="0"/>
                  </a:cubicBezTo>
                  <a:moveTo>
                    <a:pt x="8509" y="16891"/>
                  </a:moveTo>
                  <a:lnTo>
                    <a:pt x="8509" y="8509"/>
                  </a:lnTo>
                  <a:lnTo>
                    <a:pt x="17018" y="8509"/>
                  </a:lnTo>
                  <a:lnTo>
                    <a:pt x="17018" y="7616317"/>
                  </a:lnTo>
                  <a:lnTo>
                    <a:pt x="8509" y="7616317"/>
                  </a:lnTo>
                  <a:lnTo>
                    <a:pt x="8509" y="7607808"/>
                  </a:lnTo>
                  <a:lnTo>
                    <a:pt x="10737469" y="7607808"/>
                  </a:lnTo>
                  <a:lnTo>
                    <a:pt x="10737469" y="7616317"/>
                  </a:lnTo>
                  <a:lnTo>
                    <a:pt x="10728960" y="7616317"/>
                  </a:lnTo>
                  <a:lnTo>
                    <a:pt x="10728960" y="8509"/>
                  </a:lnTo>
                  <a:lnTo>
                    <a:pt x="10737469" y="8509"/>
                  </a:lnTo>
                  <a:lnTo>
                    <a:pt x="10737469" y="17018"/>
                  </a:lnTo>
                  <a:lnTo>
                    <a:pt x="8509" y="17018"/>
                  </a:lnTo>
                  <a:close/>
                </a:path>
              </a:pathLst>
            </a:custGeom>
            <a:solidFill>
              <a:srgbClr val="D0E8F0"/>
            </a:solidFill>
          </p:spPr>
        </p:sp>
      </p:grpSp>
      <p:grpSp>
        <p:nvGrpSpPr>
          <p:cNvPr name="Group 110" id="110"/>
          <p:cNvGrpSpPr/>
          <p:nvPr/>
        </p:nvGrpSpPr>
        <p:grpSpPr>
          <a:xfrm rot="0">
            <a:off x="9497063" y="3791207"/>
            <a:ext cx="263147" cy="5731259"/>
            <a:chOff x="0" y="0"/>
            <a:chExt cx="350863" cy="7641679"/>
          </a:xfrm>
        </p:grpSpPr>
        <p:sp>
          <p:nvSpPr>
            <p:cNvPr name="Freeform 111" id="111"/>
            <p:cNvSpPr/>
            <p:nvPr/>
          </p:nvSpPr>
          <p:spPr>
            <a:xfrm flipH="false" flipV="false" rot="0">
              <a:off x="16891" y="16891"/>
              <a:ext cx="316992" cy="7607808"/>
            </a:xfrm>
            <a:custGeom>
              <a:avLst/>
              <a:gdLst/>
              <a:ahLst/>
              <a:cxnLst/>
              <a:rect r="r" b="b" t="t" l="l"/>
              <a:pathLst>
                <a:path h="7607808" w="316992">
                  <a:moveTo>
                    <a:pt x="0" y="0"/>
                  </a:moveTo>
                  <a:lnTo>
                    <a:pt x="316992" y="0"/>
                  </a:lnTo>
                  <a:lnTo>
                    <a:pt x="316992" y="7607808"/>
                  </a:lnTo>
                  <a:lnTo>
                    <a:pt x="0" y="7607808"/>
                  </a:lnTo>
                  <a:close/>
                </a:path>
              </a:pathLst>
            </a:custGeom>
            <a:solidFill>
              <a:srgbClr val="F4A261"/>
            </a:solidFill>
          </p:spPr>
        </p:sp>
        <p:sp>
          <p:nvSpPr>
            <p:cNvPr name="Freeform 112" id="112"/>
            <p:cNvSpPr/>
            <p:nvPr/>
          </p:nvSpPr>
          <p:spPr>
            <a:xfrm flipH="false" flipV="false" rot="0">
              <a:off x="0" y="0"/>
              <a:ext cx="350774" cy="7641590"/>
            </a:xfrm>
            <a:custGeom>
              <a:avLst/>
              <a:gdLst/>
              <a:ahLst/>
              <a:cxnLst/>
              <a:rect r="r" b="b" t="t" l="l"/>
              <a:pathLst>
                <a:path h="7641590" w="350774">
                  <a:moveTo>
                    <a:pt x="16891" y="0"/>
                  </a:moveTo>
                  <a:lnTo>
                    <a:pt x="333883" y="0"/>
                  </a:lnTo>
                  <a:cubicBezTo>
                    <a:pt x="343281" y="0"/>
                    <a:pt x="350774" y="7620"/>
                    <a:pt x="350774" y="16891"/>
                  </a:cubicBezTo>
                  <a:lnTo>
                    <a:pt x="350774" y="7624699"/>
                  </a:lnTo>
                  <a:cubicBezTo>
                    <a:pt x="350774" y="7634097"/>
                    <a:pt x="343154" y="7641590"/>
                    <a:pt x="333883" y="7641590"/>
                  </a:cubicBezTo>
                  <a:lnTo>
                    <a:pt x="16891" y="7641590"/>
                  </a:lnTo>
                  <a:cubicBezTo>
                    <a:pt x="7493" y="7641590"/>
                    <a:pt x="0" y="7633970"/>
                    <a:pt x="0" y="7624699"/>
                  </a:cubicBezTo>
                  <a:lnTo>
                    <a:pt x="0" y="16891"/>
                  </a:lnTo>
                  <a:cubicBezTo>
                    <a:pt x="0" y="7620"/>
                    <a:pt x="7620" y="0"/>
                    <a:pt x="16891" y="0"/>
                  </a:cubicBezTo>
                  <a:moveTo>
                    <a:pt x="16891" y="33909"/>
                  </a:moveTo>
                  <a:lnTo>
                    <a:pt x="16891" y="16891"/>
                  </a:lnTo>
                  <a:lnTo>
                    <a:pt x="33909" y="16891"/>
                  </a:lnTo>
                  <a:lnTo>
                    <a:pt x="33909" y="7624699"/>
                  </a:lnTo>
                  <a:lnTo>
                    <a:pt x="16891" y="7624699"/>
                  </a:lnTo>
                  <a:lnTo>
                    <a:pt x="16891" y="7607808"/>
                  </a:lnTo>
                  <a:lnTo>
                    <a:pt x="333883" y="7607808"/>
                  </a:lnTo>
                  <a:lnTo>
                    <a:pt x="333883" y="7624699"/>
                  </a:lnTo>
                  <a:lnTo>
                    <a:pt x="316992" y="7624699"/>
                  </a:lnTo>
                  <a:lnTo>
                    <a:pt x="316992" y="16891"/>
                  </a:lnTo>
                  <a:lnTo>
                    <a:pt x="333883" y="16891"/>
                  </a:lnTo>
                  <a:lnTo>
                    <a:pt x="333883" y="33909"/>
                  </a:lnTo>
                  <a:lnTo>
                    <a:pt x="16891" y="33909"/>
                  </a:lnTo>
                  <a:close/>
                </a:path>
              </a:pathLst>
            </a:custGeom>
            <a:solidFill>
              <a:srgbClr val="F4A261"/>
            </a:solidFill>
          </p:spPr>
        </p:sp>
      </p:grpSp>
      <p:grpSp>
        <p:nvGrpSpPr>
          <p:cNvPr name="Group 113" id="113"/>
          <p:cNvGrpSpPr/>
          <p:nvPr/>
        </p:nvGrpSpPr>
        <p:grpSpPr>
          <a:xfrm rot="0">
            <a:off x="9497063" y="3791207"/>
            <a:ext cx="8072123" cy="720347"/>
            <a:chOff x="0" y="0"/>
            <a:chExt cx="10762831" cy="960463"/>
          </a:xfrm>
        </p:grpSpPr>
        <p:sp>
          <p:nvSpPr>
            <p:cNvPr name="Freeform 114" id="114"/>
            <p:cNvSpPr/>
            <p:nvPr/>
          </p:nvSpPr>
          <p:spPr>
            <a:xfrm flipH="false" flipV="false" rot="0">
              <a:off x="16891" y="16891"/>
              <a:ext cx="10728960" cy="926592"/>
            </a:xfrm>
            <a:custGeom>
              <a:avLst/>
              <a:gdLst/>
              <a:ahLst/>
              <a:cxnLst/>
              <a:rect r="r" b="b" t="t" l="l"/>
              <a:pathLst>
                <a:path h="926592" w="10728960">
                  <a:moveTo>
                    <a:pt x="0" y="0"/>
                  </a:moveTo>
                  <a:lnTo>
                    <a:pt x="10728960" y="0"/>
                  </a:lnTo>
                  <a:lnTo>
                    <a:pt x="10728960" y="926592"/>
                  </a:lnTo>
                  <a:lnTo>
                    <a:pt x="0" y="926592"/>
                  </a:lnTo>
                  <a:close/>
                </a:path>
              </a:pathLst>
            </a:custGeom>
            <a:solidFill>
              <a:srgbClr val="F4A261"/>
            </a:solidFill>
          </p:spPr>
        </p:sp>
        <p:sp>
          <p:nvSpPr>
            <p:cNvPr name="Freeform 115" id="115"/>
            <p:cNvSpPr/>
            <p:nvPr/>
          </p:nvSpPr>
          <p:spPr>
            <a:xfrm flipH="false" flipV="false" rot="0">
              <a:off x="0" y="0"/>
              <a:ext cx="10762742" cy="960376"/>
            </a:xfrm>
            <a:custGeom>
              <a:avLst/>
              <a:gdLst/>
              <a:ahLst/>
              <a:cxnLst/>
              <a:rect r="r" b="b" t="t" l="l"/>
              <a:pathLst>
                <a:path h="960376" w="10762742">
                  <a:moveTo>
                    <a:pt x="16891" y="0"/>
                  </a:moveTo>
                  <a:lnTo>
                    <a:pt x="10745851" y="0"/>
                  </a:lnTo>
                  <a:cubicBezTo>
                    <a:pt x="10755249" y="0"/>
                    <a:pt x="10762742" y="7620"/>
                    <a:pt x="10762742" y="16891"/>
                  </a:cubicBezTo>
                  <a:lnTo>
                    <a:pt x="10762742" y="943483"/>
                  </a:lnTo>
                  <a:cubicBezTo>
                    <a:pt x="10762742" y="952881"/>
                    <a:pt x="10755122" y="960374"/>
                    <a:pt x="1074585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0745851" y="926592"/>
                  </a:lnTo>
                  <a:lnTo>
                    <a:pt x="10745851" y="943483"/>
                  </a:lnTo>
                  <a:lnTo>
                    <a:pt x="10728960" y="943483"/>
                  </a:lnTo>
                  <a:lnTo>
                    <a:pt x="10728960" y="16891"/>
                  </a:lnTo>
                  <a:lnTo>
                    <a:pt x="10745851" y="16891"/>
                  </a:lnTo>
                  <a:lnTo>
                    <a:pt x="10745851" y="33909"/>
                  </a:lnTo>
                  <a:lnTo>
                    <a:pt x="16891" y="33909"/>
                  </a:lnTo>
                  <a:close/>
                </a:path>
              </a:pathLst>
            </a:custGeom>
            <a:solidFill>
              <a:srgbClr val="F4A261"/>
            </a:solidFill>
          </p:spPr>
        </p:sp>
      </p:grpSp>
      <p:grpSp>
        <p:nvGrpSpPr>
          <p:cNvPr name="Group 116" id="116"/>
          <p:cNvGrpSpPr/>
          <p:nvPr/>
        </p:nvGrpSpPr>
        <p:grpSpPr>
          <a:xfrm rot="0">
            <a:off x="9692640" y="3803904"/>
            <a:ext cx="7680960" cy="694944"/>
            <a:chOff x="0" y="0"/>
            <a:chExt cx="10241280" cy="926592"/>
          </a:xfrm>
        </p:grpSpPr>
        <p:sp>
          <p:nvSpPr>
            <p:cNvPr name="Freeform 117" id="117"/>
            <p:cNvSpPr/>
            <p:nvPr/>
          </p:nvSpPr>
          <p:spPr>
            <a:xfrm flipH="false" flipV="false" rot="0">
              <a:off x="0" y="0"/>
              <a:ext cx="10241280" cy="926592"/>
            </a:xfrm>
            <a:custGeom>
              <a:avLst/>
              <a:gdLst/>
              <a:ahLst/>
              <a:cxnLst/>
              <a:rect r="r" b="b" t="t" l="l"/>
              <a:pathLst>
                <a:path h="926592" w="10241280">
                  <a:moveTo>
                    <a:pt x="0" y="0"/>
                  </a:moveTo>
                  <a:lnTo>
                    <a:pt x="10241280" y="0"/>
                  </a:lnTo>
                  <a:lnTo>
                    <a:pt x="10241280" y="926592"/>
                  </a:lnTo>
                  <a:lnTo>
                    <a:pt x="0" y="926592"/>
                  </a:lnTo>
                  <a:close/>
                </a:path>
              </a:pathLst>
            </a:custGeom>
            <a:blipFill>
              <a:blip r:embed="rId2">
                <a:alphaModFix amt="0"/>
              </a:blip>
              <a:stretch>
                <a:fillRect l="0" t="-165360" r="0" b="-165360"/>
              </a:stretch>
            </a:blipFill>
          </p:spPr>
        </p:sp>
        <p:sp>
          <p:nvSpPr>
            <p:cNvPr name="TextBox 118" id="118"/>
            <p:cNvSpPr txBox="true"/>
            <p:nvPr/>
          </p:nvSpPr>
          <p:spPr>
            <a:xfrm>
              <a:off x="0" y="-38100"/>
              <a:ext cx="10241280" cy="96469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11 Parameter Iklim</a:t>
              </a:r>
            </a:p>
          </p:txBody>
        </p:sp>
      </p:grpSp>
      <p:grpSp>
        <p:nvGrpSpPr>
          <p:cNvPr name="Group 119" id="119"/>
          <p:cNvGrpSpPr/>
          <p:nvPr/>
        </p:nvGrpSpPr>
        <p:grpSpPr>
          <a:xfrm rot="0">
            <a:off x="9838944" y="4718304"/>
            <a:ext cx="3108960" cy="585216"/>
            <a:chOff x="0" y="0"/>
            <a:chExt cx="4145280" cy="780288"/>
          </a:xfrm>
        </p:grpSpPr>
        <p:sp>
          <p:nvSpPr>
            <p:cNvPr name="Freeform 120" id="120"/>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21" id="121"/>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TN / TX / TAVG</a:t>
              </a:r>
            </a:p>
          </p:txBody>
        </p:sp>
      </p:grpSp>
      <p:grpSp>
        <p:nvGrpSpPr>
          <p:cNvPr name="Group 122" id="122"/>
          <p:cNvGrpSpPr/>
          <p:nvPr/>
        </p:nvGrpSpPr>
        <p:grpSpPr>
          <a:xfrm rot="0">
            <a:off x="13021056" y="4718304"/>
            <a:ext cx="4297680" cy="585216"/>
            <a:chOff x="0" y="0"/>
            <a:chExt cx="5730240" cy="780288"/>
          </a:xfrm>
        </p:grpSpPr>
        <p:sp>
          <p:nvSpPr>
            <p:cNvPr name="Freeform 123" id="123"/>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24" id="124"/>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Suhu min, maks, rata-rata (°C)</a:t>
              </a:r>
            </a:p>
          </p:txBody>
        </p:sp>
      </p:grpSp>
      <p:grpSp>
        <p:nvGrpSpPr>
          <p:cNvPr name="Group 125" id="125"/>
          <p:cNvGrpSpPr/>
          <p:nvPr/>
        </p:nvGrpSpPr>
        <p:grpSpPr>
          <a:xfrm rot="0">
            <a:off x="9687563" y="5316731"/>
            <a:ext cx="7599683" cy="10163"/>
            <a:chOff x="0" y="0"/>
            <a:chExt cx="10132911" cy="13551"/>
          </a:xfrm>
        </p:grpSpPr>
        <p:sp>
          <p:nvSpPr>
            <p:cNvPr name="Freeform 126" id="126"/>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27" id="127"/>
          <p:cNvGrpSpPr/>
          <p:nvPr/>
        </p:nvGrpSpPr>
        <p:grpSpPr>
          <a:xfrm rot="0">
            <a:off x="9838944" y="5376672"/>
            <a:ext cx="3108960" cy="585216"/>
            <a:chOff x="0" y="0"/>
            <a:chExt cx="4145280" cy="780288"/>
          </a:xfrm>
        </p:grpSpPr>
        <p:sp>
          <p:nvSpPr>
            <p:cNvPr name="Freeform 128" id="128"/>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29" id="129"/>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RH_AVG</a:t>
              </a:r>
            </a:p>
          </p:txBody>
        </p:sp>
      </p:grpSp>
      <p:grpSp>
        <p:nvGrpSpPr>
          <p:cNvPr name="Group 130" id="130"/>
          <p:cNvGrpSpPr/>
          <p:nvPr/>
        </p:nvGrpSpPr>
        <p:grpSpPr>
          <a:xfrm rot="0">
            <a:off x="13021056" y="5376672"/>
            <a:ext cx="4297680" cy="585216"/>
            <a:chOff x="0" y="0"/>
            <a:chExt cx="5730240" cy="780288"/>
          </a:xfrm>
        </p:grpSpPr>
        <p:sp>
          <p:nvSpPr>
            <p:cNvPr name="Freeform 131" id="131"/>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32" id="132"/>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Kelembapan relatif rata-rata (%)</a:t>
              </a:r>
            </a:p>
          </p:txBody>
        </p:sp>
      </p:grpSp>
      <p:grpSp>
        <p:nvGrpSpPr>
          <p:cNvPr name="Group 133" id="133"/>
          <p:cNvGrpSpPr/>
          <p:nvPr/>
        </p:nvGrpSpPr>
        <p:grpSpPr>
          <a:xfrm rot="0">
            <a:off x="9687563" y="5975099"/>
            <a:ext cx="7599683" cy="10163"/>
            <a:chOff x="0" y="0"/>
            <a:chExt cx="10132911" cy="13551"/>
          </a:xfrm>
        </p:grpSpPr>
        <p:sp>
          <p:nvSpPr>
            <p:cNvPr name="Freeform 134" id="134"/>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35" id="135"/>
          <p:cNvGrpSpPr/>
          <p:nvPr/>
        </p:nvGrpSpPr>
        <p:grpSpPr>
          <a:xfrm rot="0">
            <a:off x="9838944" y="6035040"/>
            <a:ext cx="3108960" cy="585216"/>
            <a:chOff x="0" y="0"/>
            <a:chExt cx="4145280" cy="780288"/>
          </a:xfrm>
        </p:grpSpPr>
        <p:sp>
          <p:nvSpPr>
            <p:cNvPr name="Freeform 136" id="136"/>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37" id="137"/>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RR</a:t>
              </a:r>
            </a:p>
          </p:txBody>
        </p:sp>
      </p:grpSp>
      <p:grpSp>
        <p:nvGrpSpPr>
          <p:cNvPr name="Group 138" id="138"/>
          <p:cNvGrpSpPr/>
          <p:nvPr/>
        </p:nvGrpSpPr>
        <p:grpSpPr>
          <a:xfrm rot="0">
            <a:off x="13021056" y="6035040"/>
            <a:ext cx="4297680" cy="585216"/>
            <a:chOff x="0" y="0"/>
            <a:chExt cx="5730240" cy="780288"/>
          </a:xfrm>
        </p:grpSpPr>
        <p:sp>
          <p:nvSpPr>
            <p:cNvPr name="Freeform 139" id="139"/>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40" id="140"/>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Curah hujan harian (mm)</a:t>
              </a:r>
            </a:p>
          </p:txBody>
        </p:sp>
      </p:grpSp>
      <p:grpSp>
        <p:nvGrpSpPr>
          <p:cNvPr name="Group 141" id="141"/>
          <p:cNvGrpSpPr/>
          <p:nvPr/>
        </p:nvGrpSpPr>
        <p:grpSpPr>
          <a:xfrm rot="0">
            <a:off x="9687563" y="6633467"/>
            <a:ext cx="7599683" cy="10163"/>
            <a:chOff x="0" y="0"/>
            <a:chExt cx="10132911" cy="13551"/>
          </a:xfrm>
        </p:grpSpPr>
        <p:sp>
          <p:nvSpPr>
            <p:cNvPr name="Freeform 142" id="142"/>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43" id="143"/>
          <p:cNvGrpSpPr/>
          <p:nvPr/>
        </p:nvGrpSpPr>
        <p:grpSpPr>
          <a:xfrm rot="0">
            <a:off x="9838944" y="6693408"/>
            <a:ext cx="3108960" cy="585216"/>
            <a:chOff x="0" y="0"/>
            <a:chExt cx="4145280" cy="780288"/>
          </a:xfrm>
        </p:grpSpPr>
        <p:sp>
          <p:nvSpPr>
            <p:cNvPr name="Freeform 144" id="144"/>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45" id="145"/>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SS</a:t>
              </a:r>
            </a:p>
          </p:txBody>
        </p:sp>
      </p:grpSp>
      <p:grpSp>
        <p:nvGrpSpPr>
          <p:cNvPr name="Group 146" id="146"/>
          <p:cNvGrpSpPr/>
          <p:nvPr/>
        </p:nvGrpSpPr>
        <p:grpSpPr>
          <a:xfrm rot="0">
            <a:off x="13021056" y="6693408"/>
            <a:ext cx="4297680" cy="585216"/>
            <a:chOff x="0" y="0"/>
            <a:chExt cx="5730240" cy="780288"/>
          </a:xfrm>
        </p:grpSpPr>
        <p:sp>
          <p:nvSpPr>
            <p:cNvPr name="Freeform 147" id="147"/>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48" id="148"/>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Lama penyinaran matahari (jam)</a:t>
              </a:r>
            </a:p>
          </p:txBody>
        </p:sp>
      </p:grpSp>
      <p:grpSp>
        <p:nvGrpSpPr>
          <p:cNvPr name="Group 149" id="149"/>
          <p:cNvGrpSpPr/>
          <p:nvPr/>
        </p:nvGrpSpPr>
        <p:grpSpPr>
          <a:xfrm rot="0">
            <a:off x="9687563" y="7291835"/>
            <a:ext cx="7599683" cy="10163"/>
            <a:chOff x="0" y="0"/>
            <a:chExt cx="10132911" cy="13551"/>
          </a:xfrm>
        </p:grpSpPr>
        <p:sp>
          <p:nvSpPr>
            <p:cNvPr name="Freeform 150" id="150"/>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51" id="151"/>
          <p:cNvGrpSpPr/>
          <p:nvPr/>
        </p:nvGrpSpPr>
        <p:grpSpPr>
          <a:xfrm rot="0">
            <a:off x="9838944" y="7351776"/>
            <a:ext cx="3108960" cy="585216"/>
            <a:chOff x="0" y="0"/>
            <a:chExt cx="4145280" cy="780288"/>
          </a:xfrm>
        </p:grpSpPr>
        <p:sp>
          <p:nvSpPr>
            <p:cNvPr name="Freeform 152" id="152"/>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53" id="153"/>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FF_X / FF_AVG</a:t>
              </a:r>
            </a:p>
          </p:txBody>
        </p:sp>
      </p:grpSp>
      <p:grpSp>
        <p:nvGrpSpPr>
          <p:cNvPr name="Group 154" id="154"/>
          <p:cNvGrpSpPr/>
          <p:nvPr/>
        </p:nvGrpSpPr>
        <p:grpSpPr>
          <a:xfrm rot="0">
            <a:off x="13021056" y="7351776"/>
            <a:ext cx="4297680" cy="585216"/>
            <a:chOff x="0" y="0"/>
            <a:chExt cx="5730240" cy="780288"/>
          </a:xfrm>
        </p:grpSpPr>
        <p:sp>
          <p:nvSpPr>
            <p:cNvPr name="Freeform 155" id="155"/>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56" id="156"/>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Kec. angin maks &amp; rata-rata (m/s)</a:t>
              </a:r>
            </a:p>
          </p:txBody>
        </p:sp>
      </p:grpSp>
      <p:grpSp>
        <p:nvGrpSpPr>
          <p:cNvPr name="Group 157" id="157"/>
          <p:cNvGrpSpPr/>
          <p:nvPr/>
        </p:nvGrpSpPr>
        <p:grpSpPr>
          <a:xfrm rot="0">
            <a:off x="9687563" y="7950203"/>
            <a:ext cx="7599683" cy="10163"/>
            <a:chOff x="0" y="0"/>
            <a:chExt cx="10132911" cy="13551"/>
          </a:xfrm>
        </p:grpSpPr>
        <p:sp>
          <p:nvSpPr>
            <p:cNvPr name="Freeform 158" id="158"/>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59" id="159"/>
          <p:cNvGrpSpPr/>
          <p:nvPr/>
        </p:nvGrpSpPr>
        <p:grpSpPr>
          <a:xfrm rot="0">
            <a:off x="9838944" y="8010144"/>
            <a:ext cx="3108960" cy="585216"/>
            <a:chOff x="0" y="0"/>
            <a:chExt cx="4145280" cy="780288"/>
          </a:xfrm>
        </p:grpSpPr>
        <p:sp>
          <p:nvSpPr>
            <p:cNvPr name="Freeform 160" id="160"/>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61" id="161"/>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DDD_X</a:t>
              </a:r>
            </a:p>
          </p:txBody>
        </p:sp>
      </p:grpSp>
      <p:grpSp>
        <p:nvGrpSpPr>
          <p:cNvPr name="Group 162" id="162"/>
          <p:cNvGrpSpPr/>
          <p:nvPr/>
        </p:nvGrpSpPr>
        <p:grpSpPr>
          <a:xfrm rot="0">
            <a:off x="13021056" y="8010144"/>
            <a:ext cx="4297680" cy="585216"/>
            <a:chOff x="0" y="0"/>
            <a:chExt cx="5730240" cy="780288"/>
          </a:xfrm>
        </p:grpSpPr>
        <p:sp>
          <p:nvSpPr>
            <p:cNvPr name="Freeform 163" id="163"/>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64" id="164"/>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Arah angin saat kec. maksimum (°)</a:t>
              </a:r>
            </a:p>
          </p:txBody>
        </p:sp>
      </p:grpSp>
      <p:grpSp>
        <p:nvGrpSpPr>
          <p:cNvPr name="Group 165" id="165"/>
          <p:cNvGrpSpPr/>
          <p:nvPr/>
        </p:nvGrpSpPr>
        <p:grpSpPr>
          <a:xfrm rot="0">
            <a:off x="9687563" y="8608571"/>
            <a:ext cx="7599683" cy="10163"/>
            <a:chOff x="0" y="0"/>
            <a:chExt cx="10132911" cy="13551"/>
          </a:xfrm>
        </p:grpSpPr>
        <p:sp>
          <p:nvSpPr>
            <p:cNvPr name="Freeform 166" id="166"/>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67" id="167"/>
          <p:cNvGrpSpPr/>
          <p:nvPr/>
        </p:nvGrpSpPr>
        <p:grpSpPr>
          <a:xfrm rot="0">
            <a:off x="9838944" y="8668512"/>
            <a:ext cx="3108960" cy="585216"/>
            <a:chOff x="0" y="0"/>
            <a:chExt cx="4145280" cy="780288"/>
          </a:xfrm>
        </p:grpSpPr>
        <p:sp>
          <p:nvSpPr>
            <p:cNvPr name="Freeform 168" id="168"/>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69" id="169"/>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DDD_CAR</a:t>
              </a:r>
            </a:p>
          </p:txBody>
        </p:sp>
      </p:grpSp>
      <p:grpSp>
        <p:nvGrpSpPr>
          <p:cNvPr name="Group 170" id="170"/>
          <p:cNvGrpSpPr/>
          <p:nvPr/>
        </p:nvGrpSpPr>
        <p:grpSpPr>
          <a:xfrm rot="0">
            <a:off x="13021056" y="8668512"/>
            <a:ext cx="4297680" cy="585216"/>
            <a:chOff x="0" y="0"/>
            <a:chExt cx="5730240" cy="780288"/>
          </a:xfrm>
        </p:grpSpPr>
        <p:sp>
          <p:nvSpPr>
            <p:cNvPr name="Freeform 171" id="171"/>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72" id="172"/>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Arah angin terbanyak (kompas)</a:t>
              </a:r>
            </a:p>
          </p:txBody>
        </p:sp>
      </p:grpSp>
      <p:sp>
        <p:nvSpPr>
          <p:cNvPr name="Freeform 173" id="173"/>
          <p:cNvSpPr/>
          <p:nvPr/>
        </p:nvSpPr>
        <p:spPr>
          <a:xfrm flipH="false" flipV="false" rot="0">
            <a:off x="13105122" y="243335"/>
            <a:ext cx="4464064" cy="3487550"/>
          </a:xfrm>
          <a:custGeom>
            <a:avLst/>
            <a:gdLst/>
            <a:ahLst/>
            <a:cxnLst/>
            <a:rect r="r" b="b" t="t" l="l"/>
            <a:pathLst>
              <a:path h="3487550" w="4464064">
                <a:moveTo>
                  <a:pt x="0" y="0"/>
                </a:moveTo>
                <a:lnTo>
                  <a:pt x="4464064" y="0"/>
                </a:lnTo>
                <a:lnTo>
                  <a:pt x="4464064" y="3487550"/>
                </a:lnTo>
                <a:lnTo>
                  <a:pt x="0" y="3487550"/>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13154663" y="-1475737"/>
            <a:ext cx="7340603" cy="7340603"/>
            <a:chOff x="0" y="0"/>
            <a:chExt cx="9787471" cy="9787471"/>
          </a:xfrm>
        </p:grpSpPr>
        <p:sp>
          <p:nvSpPr>
            <p:cNvPr name="Freeform 6" id="6"/>
            <p:cNvSpPr/>
            <p:nvPr/>
          </p:nvSpPr>
          <p:spPr>
            <a:xfrm flipH="false" flipV="false" rot="0">
              <a:off x="16891" y="16891"/>
              <a:ext cx="9753600" cy="9753600"/>
            </a:xfrm>
            <a:custGeom>
              <a:avLst/>
              <a:gdLst/>
              <a:ahLst/>
              <a:cxnLst/>
              <a:rect r="r" b="b" t="t" l="l"/>
              <a:pathLst>
                <a:path h="9753600" w="9753600">
                  <a:moveTo>
                    <a:pt x="0" y="4876800"/>
                  </a:moveTo>
                  <a:cubicBezTo>
                    <a:pt x="0" y="2183384"/>
                    <a:pt x="2183384" y="0"/>
                    <a:pt x="4876800" y="0"/>
                  </a:cubicBezTo>
                  <a:cubicBezTo>
                    <a:pt x="7570216" y="0"/>
                    <a:pt x="9753600" y="2183384"/>
                    <a:pt x="9753600" y="4876800"/>
                  </a:cubicBezTo>
                  <a:cubicBezTo>
                    <a:pt x="9753600" y="7570216"/>
                    <a:pt x="7570216" y="9753600"/>
                    <a:pt x="4876800" y="9753600"/>
                  </a:cubicBezTo>
                  <a:cubicBezTo>
                    <a:pt x="2183384" y="9753600"/>
                    <a:pt x="0" y="7570216"/>
                    <a:pt x="0" y="4876800"/>
                  </a:cubicBezTo>
                  <a:close/>
                </a:path>
              </a:pathLst>
            </a:custGeom>
            <a:solidFill>
              <a:srgbClr val="1EB8D0">
                <a:alpha val="3137"/>
              </a:srgbClr>
            </a:solidFill>
          </p:spPr>
        </p:sp>
        <p:sp>
          <p:nvSpPr>
            <p:cNvPr name="Freeform 7" id="7"/>
            <p:cNvSpPr/>
            <p:nvPr/>
          </p:nvSpPr>
          <p:spPr>
            <a:xfrm flipH="false" flipV="false" rot="0">
              <a:off x="0" y="0"/>
              <a:ext cx="9787509" cy="9787382"/>
            </a:xfrm>
            <a:custGeom>
              <a:avLst/>
              <a:gdLst/>
              <a:ahLst/>
              <a:cxnLst/>
              <a:rect r="r" b="b" t="t" l="l"/>
              <a:pathLst>
                <a:path h="9787382" w="9787509">
                  <a:moveTo>
                    <a:pt x="0" y="4893691"/>
                  </a:moveTo>
                  <a:cubicBezTo>
                    <a:pt x="0" y="2191004"/>
                    <a:pt x="2191004" y="0"/>
                    <a:pt x="4893691" y="0"/>
                  </a:cubicBezTo>
                  <a:lnTo>
                    <a:pt x="4893691" y="16891"/>
                  </a:lnTo>
                  <a:lnTo>
                    <a:pt x="4893691" y="0"/>
                  </a:lnTo>
                  <a:cubicBezTo>
                    <a:pt x="7596505" y="0"/>
                    <a:pt x="9787509" y="2191004"/>
                    <a:pt x="9787509" y="4893691"/>
                  </a:cubicBezTo>
                  <a:lnTo>
                    <a:pt x="9770618" y="4893691"/>
                  </a:lnTo>
                  <a:lnTo>
                    <a:pt x="9787509" y="4893691"/>
                  </a:lnTo>
                  <a:cubicBezTo>
                    <a:pt x="9787509" y="7596378"/>
                    <a:pt x="7596505" y="9787382"/>
                    <a:pt x="4893818" y="9787382"/>
                  </a:cubicBezTo>
                  <a:lnTo>
                    <a:pt x="4893818" y="9770490"/>
                  </a:lnTo>
                  <a:lnTo>
                    <a:pt x="4893818" y="9787382"/>
                  </a:lnTo>
                  <a:cubicBezTo>
                    <a:pt x="2191004" y="9787509"/>
                    <a:pt x="0" y="7596505"/>
                    <a:pt x="0" y="4893691"/>
                  </a:cubicBezTo>
                  <a:lnTo>
                    <a:pt x="16891" y="4893691"/>
                  </a:lnTo>
                  <a:lnTo>
                    <a:pt x="33909" y="4893691"/>
                  </a:lnTo>
                  <a:lnTo>
                    <a:pt x="16891" y="4893691"/>
                  </a:lnTo>
                  <a:lnTo>
                    <a:pt x="0" y="4893691"/>
                  </a:lnTo>
                  <a:moveTo>
                    <a:pt x="33909" y="4893691"/>
                  </a:moveTo>
                  <a:cubicBezTo>
                    <a:pt x="33909" y="4903089"/>
                    <a:pt x="26289" y="4910582"/>
                    <a:pt x="17018" y="4910582"/>
                  </a:cubicBezTo>
                  <a:cubicBezTo>
                    <a:pt x="7747" y="4910582"/>
                    <a:pt x="0" y="4903089"/>
                    <a:pt x="0" y="4893691"/>
                  </a:cubicBezTo>
                  <a:cubicBezTo>
                    <a:pt x="0" y="4884293"/>
                    <a:pt x="7620" y="4876800"/>
                    <a:pt x="16891" y="4876800"/>
                  </a:cubicBezTo>
                  <a:cubicBezTo>
                    <a:pt x="26162" y="4876800"/>
                    <a:pt x="33782" y="4884420"/>
                    <a:pt x="33782" y="4893691"/>
                  </a:cubicBezTo>
                  <a:cubicBezTo>
                    <a:pt x="33909" y="7577709"/>
                    <a:pt x="2209673" y="9753600"/>
                    <a:pt x="4893691" y="9753600"/>
                  </a:cubicBezTo>
                  <a:cubicBezTo>
                    <a:pt x="7577709" y="9753600"/>
                    <a:pt x="9753600" y="7577709"/>
                    <a:pt x="9753600" y="4893691"/>
                  </a:cubicBezTo>
                  <a:cubicBezTo>
                    <a:pt x="9753600" y="2209673"/>
                    <a:pt x="7577709" y="33909"/>
                    <a:pt x="4893691" y="33909"/>
                  </a:cubicBezTo>
                  <a:lnTo>
                    <a:pt x="4893691" y="16891"/>
                  </a:lnTo>
                  <a:lnTo>
                    <a:pt x="4893691" y="33909"/>
                  </a:lnTo>
                  <a:cubicBezTo>
                    <a:pt x="2209673" y="33909"/>
                    <a:pt x="33909" y="2209673"/>
                    <a:pt x="33909" y="4893691"/>
                  </a:cubicBezTo>
                  <a:close/>
                </a:path>
              </a:pathLst>
            </a:custGeom>
            <a:solidFill>
              <a:srgbClr val="1EB8D0">
                <a:alpha val="3137"/>
              </a:srgbClr>
            </a:solidFill>
          </p:spPr>
        </p:sp>
      </p:grpSp>
      <p:grpSp>
        <p:nvGrpSpPr>
          <p:cNvPr name="Group 8" id="8"/>
          <p:cNvGrpSpPr/>
          <p:nvPr/>
        </p:nvGrpSpPr>
        <p:grpSpPr>
          <a:xfrm rot="0">
            <a:off x="15166343" y="5839463"/>
            <a:ext cx="4414523" cy="4414523"/>
            <a:chOff x="0" y="0"/>
            <a:chExt cx="5886031" cy="5886031"/>
          </a:xfrm>
        </p:grpSpPr>
        <p:sp>
          <p:nvSpPr>
            <p:cNvPr name="Freeform 9" id="9"/>
            <p:cNvSpPr/>
            <p:nvPr/>
          </p:nvSpPr>
          <p:spPr>
            <a:xfrm flipH="false" flipV="false" rot="0">
              <a:off x="16891" y="16891"/>
              <a:ext cx="5852160" cy="5852160"/>
            </a:xfrm>
            <a:custGeom>
              <a:avLst/>
              <a:gdLst/>
              <a:ahLst/>
              <a:cxnLst/>
              <a:rect r="r" b="b" t="t" l="l"/>
              <a:pathLst>
                <a:path h="5852160" w="5852160">
                  <a:moveTo>
                    <a:pt x="0" y="2926080"/>
                  </a:moveTo>
                  <a:cubicBezTo>
                    <a:pt x="0" y="1310005"/>
                    <a:pt x="1310005" y="0"/>
                    <a:pt x="2926080" y="0"/>
                  </a:cubicBezTo>
                  <a:cubicBezTo>
                    <a:pt x="4542155" y="0"/>
                    <a:pt x="5852160" y="1310005"/>
                    <a:pt x="5852160" y="2926080"/>
                  </a:cubicBezTo>
                  <a:cubicBezTo>
                    <a:pt x="5852160" y="4542155"/>
                    <a:pt x="4542155" y="5852160"/>
                    <a:pt x="2926080" y="5852160"/>
                  </a:cubicBezTo>
                  <a:cubicBezTo>
                    <a:pt x="1310005" y="5852160"/>
                    <a:pt x="0" y="4542155"/>
                    <a:pt x="0" y="2926080"/>
                  </a:cubicBezTo>
                  <a:close/>
                </a:path>
              </a:pathLst>
            </a:custGeom>
            <a:solidFill>
              <a:srgbClr val="F4A261">
                <a:alpha val="1961"/>
              </a:srgbClr>
            </a:solidFill>
          </p:spPr>
        </p:sp>
        <p:sp>
          <p:nvSpPr>
            <p:cNvPr name="Freeform 10" id="10"/>
            <p:cNvSpPr/>
            <p:nvPr/>
          </p:nvSpPr>
          <p:spPr>
            <a:xfrm flipH="false" flipV="false" rot="0">
              <a:off x="0" y="0"/>
              <a:ext cx="5886069" cy="5885942"/>
            </a:xfrm>
            <a:custGeom>
              <a:avLst/>
              <a:gdLst/>
              <a:ahLst/>
              <a:cxnLst/>
              <a:rect r="r" b="b" t="t" l="l"/>
              <a:pathLst>
                <a:path h="5885942" w="5886069">
                  <a:moveTo>
                    <a:pt x="0" y="2942971"/>
                  </a:moveTo>
                  <a:cubicBezTo>
                    <a:pt x="0" y="1317625"/>
                    <a:pt x="1317625" y="0"/>
                    <a:pt x="2942971" y="0"/>
                  </a:cubicBezTo>
                  <a:lnTo>
                    <a:pt x="2942971" y="16891"/>
                  </a:lnTo>
                  <a:lnTo>
                    <a:pt x="2942971" y="0"/>
                  </a:lnTo>
                  <a:cubicBezTo>
                    <a:pt x="4568444" y="0"/>
                    <a:pt x="5886069" y="1317625"/>
                    <a:pt x="5886069" y="2942971"/>
                  </a:cubicBezTo>
                  <a:lnTo>
                    <a:pt x="5869178" y="2942971"/>
                  </a:lnTo>
                  <a:lnTo>
                    <a:pt x="5886069" y="2942971"/>
                  </a:lnTo>
                  <a:cubicBezTo>
                    <a:pt x="5886069" y="4568317"/>
                    <a:pt x="4568444" y="5885942"/>
                    <a:pt x="2943098" y="5885942"/>
                  </a:cubicBezTo>
                  <a:lnTo>
                    <a:pt x="2943098" y="5869051"/>
                  </a:lnTo>
                  <a:lnTo>
                    <a:pt x="2943098" y="5885942"/>
                  </a:lnTo>
                  <a:cubicBezTo>
                    <a:pt x="1317625" y="5886069"/>
                    <a:pt x="0" y="4568444"/>
                    <a:pt x="0" y="2942971"/>
                  </a:cubicBezTo>
                  <a:lnTo>
                    <a:pt x="16891" y="2942971"/>
                  </a:lnTo>
                  <a:lnTo>
                    <a:pt x="33909" y="2942971"/>
                  </a:lnTo>
                  <a:lnTo>
                    <a:pt x="16891" y="2942971"/>
                  </a:lnTo>
                  <a:lnTo>
                    <a:pt x="0" y="2942971"/>
                  </a:lnTo>
                  <a:moveTo>
                    <a:pt x="33909" y="2942971"/>
                  </a:moveTo>
                  <a:cubicBezTo>
                    <a:pt x="33909" y="2952369"/>
                    <a:pt x="26289" y="2959862"/>
                    <a:pt x="17018" y="2959862"/>
                  </a:cubicBezTo>
                  <a:cubicBezTo>
                    <a:pt x="7747" y="2959862"/>
                    <a:pt x="0" y="2952369"/>
                    <a:pt x="0" y="2942971"/>
                  </a:cubicBezTo>
                  <a:cubicBezTo>
                    <a:pt x="0" y="2933573"/>
                    <a:pt x="7620" y="2926080"/>
                    <a:pt x="16891" y="2926080"/>
                  </a:cubicBezTo>
                  <a:cubicBezTo>
                    <a:pt x="26162" y="2926080"/>
                    <a:pt x="33782" y="2933700"/>
                    <a:pt x="33782" y="2942971"/>
                  </a:cubicBezTo>
                  <a:cubicBezTo>
                    <a:pt x="33782" y="4549648"/>
                    <a:pt x="1336294" y="5852160"/>
                    <a:pt x="2942971" y="5852160"/>
                  </a:cubicBezTo>
                  <a:cubicBezTo>
                    <a:pt x="4549648" y="5852160"/>
                    <a:pt x="5852160" y="4549648"/>
                    <a:pt x="5852160" y="2942971"/>
                  </a:cubicBezTo>
                  <a:cubicBezTo>
                    <a:pt x="5852160" y="1336294"/>
                    <a:pt x="4549648" y="33909"/>
                    <a:pt x="2942971" y="33909"/>
                  </a:cubicBezTo>
                  <a:lnTo>
                    <a:pt x="2942971" y="16891"/>
                  </a:lnTo>
                  <a:lnTo>
                    <a:pt x="2942971" y="33909"/>
                  </a:lnTo>
                  <a:cubicBezTo>
                    <a:pt x="1336294" y="33909"/>
                    <a:pt x="33909" y="1336294"/>
                    <a:pt x="33909" y="2942971"/>
                  </a:cubicBezTo>
                  <a:close/>
                </a:path>
              </a:pathLst>
            </a:custGeom>
            <a:solidFill>
              <a:srgbClr val="F4A261">
                <a:alpha val="1961"/>
              </a:srgbClr>
            </a:solidFill>
          </p:spPr>
        </p:sp>
      </p:grpSp>
      <p:grpSp>
        <p:nvGrpSpPr>
          <p:cNvPr name="Group 11" id="11"/>
          <p:cNvGrpSpPr/>
          <p:nvPr/>
        </p:nvGrpSpPr>
        <p:grpSpPr>
          <a:xfrm rot="0">
            <a:off x="-12697" y="1998983"/>
            <a:ext cx="1031243" cy="5694683"/>
            <a:chOff x="0" y="0"/>
            <a:chExt cx="1374991" cy="7592911"/>
          </a:xfrm>
        </p:grpSpPr>
        <p:sp>
          <p:nvSpPr>
            <p:cNvPr name="Freeform 12" id="12"/>
            <p:cNvSpPr/>
            <p:nvPr/>
          </p:nvSpPr>
          <p:spPr>
            <a:xfrm flipH="false" flipV="false" rot="0">
              <a:off x="16891" y="16891"/>
              <a:ext cx="1341120" cy="7559040"/>
            </a:xfrm>
            <a:custGeom>
              <a:avLst/>
              <a:gdLst/>
              <a:ahLst/>
              <a:cxnLst/>
              <a:rect r="r" b="b" t="t" l="l"/>
              <a:pathLst>
                <a:path h="7559040" w="1341120">
                  <a:moveTo>
                    <a:pt x="0" y="0"/>
                  </a:moveTo>
                  <a:lnTo>
                    <a:pt x="1341120" y="0"/>
                  </a:lnTo>
                  <a:lnTo>
                    <a:pt x="1341120" y="7559040"/>
                  </a:lnTo>
                  <a:lnTo>
                    <a:pt x="0" y="7559040"/>
                  </a:lnTo>
                  <a:close/>
                </a:path>
              </a:pathLst>
            </a:custGeom>
            <a:solidFill>
              <a:srgbClr val="1EB8D0"/>
            </a:solidFill>
          </p:spPr>
        </p:sp>
        <p:sp>
          <p:nvSpPr>
            <p:cNvPr name="Freeform 13" id="13"/>
            <p:cNvSpPr/>
            <p:nvPr/>
          </p:nvSpPr>
          <p:spPr>
            <a:xfrm flipH="false" flipV="false" rot="0">
              <a:off x="0" y="0"/>
              <a:ext cx="1374902" cy="7592822"/>
            </a:xfrm>
            <a:custGeom>
              <a:avLst/>
              <a:gdLst/>
              <a:ahLst/>
              <a:cxnLst/>
              <a:rect r="r" b="b" t="t" l="l"/>
              <a:pathLst>
                <a:path h="7592822" w="1374902">
                  <a:moveTo>
                    <a:pt x="16891" y="0"/>
                  </a:moveTo>
                  <a:lnTo>
                    <a:pt x="1358011" y="0"/>
                  </a:lnTo>
                  <a:cubicBezTo>
                    <a:pt x="1367409" y="0"/>
                    <a:pt x="1374902" y="7620"/>
                    <a:pt x="1374902" y="16891"/>
                  </a:cubicBezTo>
                  <a:lnTo>
                    <a:pt x="1374902" y="7575931"/>
                  </a:lnTo>
                  <a:cubicBezTo>
                    <a:pt x="1374902" y="7585329"/>
                    <a:pt x="1367282" y="7592822"/>
                    <a:pt x="1358011" y="7592822"/>
                  </a:cubicBezTo>
                  <a:lnTo>
                    <a:pt x="16891" y="7592822"/>
                  </a:lnTo>
                  <a:cubicBezTo>
                    <a:pt x="7493" y="7592822"/>
                    <a:pt x="0" y="7585202"/>
                    <a:pt x="0" y="7575931"/>
                  </a:cubicBezTo>
                  <a:lnTo>
                    <a:pt x="0" y="16891"/>
                  </a:lnTo>
                  <a:cubicBezTo>
                    <a:pt x="0" y="7620"/>
                    <a:pt x="7620" y="0"/>
                    <a:pt x="16891" y="0"/>
                  </a:cubicBezTo>
                  <a:moveTo>
                    <a:pt x="16891" y="33909"/>
                  </a:moveTo>
                  <a:lnTo>
                    <a:pt x="16891" y="16891"/>
                  </a:lnTo>
                  <a:lnTo>
                    <a:pt x="33909" y="16891"/>
                  </a:lnTo>
                  <a:lnTo>
                    <a:pt x="33909" y="7575931"/>
                  </a:lnTo>
                  <a:lnTo>
                    <a:pt x="16891" y="7575931"/>
                  </a:lnTo>
                  <a:lnTo>
                    <a:pt x="16891" y="7559040"/>
                  </a:lnTo>
                  <a:lnTo>
                    <a:pt x="1358011" y="7559040"/>
                  </a:lnTo>
                  <a:lnTo>
                    <a:pt x="1358011" y="7575931"/>
                  </a:lnTo>
                  <a:lnTo>
                    <a:pt x="1341120" y="7575931"/>
                  </a:lnTo>
                  <a:lnTo>
                    <a:pt x="1341120" y="16891"/>
                  </a:lnTo>
                  <a:lnTo>
                    <a:pt x="1358011" y="16891"/>
                  </a:lnTo>
                  <a:lnTo>
                    <a:pt x="1358011" y="33909"/>
                  </a:lnTo>
                  <a:lnTo>
                    <a:pt x="16891" y="33909"/>
                  </a:lnTo>
                  <a:close/>
                </a:path>
              </a:pathLst>
            </a:custGeom>
            <a:solidFill>
              <a:srgbClr val="1EB8D0"/>
            </a:solidFill>
          </p:spPr>
        </p:sp>
      </p:grpSp>
      <p:grpSp>
        <p:nvGrpSpPr>
          <p:cNvPr name="Group 14" id="14"/>
          <p:cNvGrpSpPr/>
          <p:nvPr/>
        </p:nvGrpSpPr>
        <p:grpSpPr>
          <a:xfrm rot="0">
            <a:off x="1371600" y="1554480"/>
            <a:ext cx="12801600" cy="768096"/>
            <a:chOff x="0" y="0"/>
            <a:chExt cx="17068800" cy="1024128"/>
          </a:xfrm>
        </p:grpSpPr>
        <p:sp>
          <p:nvSpPr>
            <p:cNvPr name="Freeform 15" id="15"/>
            <p:cNvSpPr/>
            <p:nvPr/>
          </p:nvSpPr>
          <p:spPr>
            <a:xfrm flipH="false" flipV="false" rot="0">
              <a:off x="0" y="0"/>
              <a:ext cx="17068800" cy="1024128"/>
            </a:xfrm>
            <a:custGeom>
              <a:avLst/>
              <a:gdLst/>
              <a:ahLst/>
              <a:cxnLst/>
              <a:rect r="r" b="b" t="t" l="l"/>
              <a:pathLst>
                <a:path h="1024128" w="17068800">
                  <a:moveTo>
                    <a:pt x="0" y="0"/>
                  </a:moveTo>
                  <a:lnTo>
                    <a:pt x="17068800" y="0"/>
                  </a:lnTo>
                  <a:lnTo>
                    <a:pt x="17068800" y="1024128"/>
                  </a:lnTo>
                  <a:lnTo>
                    <a:pt x="0" y="1024128"/>
                  </a:lnTo>
                  <a:close/>
                </a:path>
              </a:pathLst>
            </a:custGeom>
            <a:blipFill>
              <a:blip r:embed="rId2">
                <a:alphaModFix amt="0"/>
              </a:blip>
              <a:stretch>
                <a:fillRect l="0" t="-274750" r="0" b="-274750"/>
              </a:stretch>
            </a:blipFill>
          </p:spPr>
        </p:sp>
        <p:sp>
          <p:nvSpPr>
            <p:cNvPr name="TextBox 16" id="16"/>
            <p:cNvSpPr txBox="true"/>
            <p:nvPr/>
          </p:nvSpPr>
          <p:spPr>
            <a:xfrm>
              <a:off x="0" y="-57150"/>
              <a:ext cx="17068800" cy="1081278"/>
            </a:xfrm>
            <a:prstGeom prst="rect">
              <a:avLst/>
            </a:prstGeom>
          </p:spPr>
          <p:txBody>
            <a:bodyPr anchor="ctr" rtlCol="false" tIns="0" lIns="0" bIns="0" rIns="0"/>
            <a:lstStyle/>
            <a:p>
              <a:pPr algn="l">
                <a:lnSpc>
                  <a:spcPts val="3120"/>
                </a:lnSpc>
              </a:pPr>
              <a:r>
                <a:rPr lang="en-US" b="true" sz="2600" spc="1000">
                  <a:solidFill>
                    <a:srgbClr val="1EB8D0"/>
                  </a:solidFill>
                  <a:latin typeface="Calibri (MS) Bold"/>
                  <a:ea typeface="Calibri (MS) Bold"/>
                  <a:cs typeface="Calibri (MS) Bold"/>
                  <a:sym typeface="Calibri (MS) Bold"/>
                </a:rPr>
                <a:t>KARAKTERISTIK</a:t>
              </a:r>
            </a:p>
          </p:txBody>
        </p:sp>
      </p:grpSp>
      <p:grpSp>
        <p:nvGrpSpPr>
          <p:cNvPr name="Group 17" id="17"/>
          <p:cNvGrpSpPr/>
          <p:nvPr/>
        </p:nvGrpSpPr>
        <p:grpSpPr>
          <a:xfrm rot="0">
            <a:off x="1371600" y="2340864"/>
            <a:ext cx="12801600" cy="1828800"/>
            <a:chOff x="0" y="0"/>
            <a:chExt cx="17068800" cy="2438400"/>
          </a:xfrm>
        </p:grpSpPr>
        <p:sp>
          <p:nvSpPr>
            <p:cNvPr name="Freeform 18" id="18"/>
            <p:cNvSpPr/>
            <p:nvPr/>
          </p:nvSpPr>
          <p:spPr>
            <a:xfrm flipH="false" flipV="false" rot="0">
              <a:off x="0" y="0"/>
              <a:ext cx="17068800" cy="2438400"/>
            </a:xfrm>
            <a:custGeom>
              <a:avLst/>
              <a:gdLst/>
              <a:ahLst/>
              <a:cxnLst/>
              <a:rect r="r" b="b" t="t" l="l"/>
              <a:pathLst>
                <a:path h="2438400" w="17068800">
                  <a:moveTo>
                    <a:pt x="0" y="0"/>
                  </a:moveTo>
                  <a:lnTo>
                    <a:pt x="17068800" y="0"/>
                  </a:lnTo>
                  <a:lnTo>
                    <a:pt x="17068800" y="2438400"/>
                  </a:lnTo>
                  <a:lnTo>
                    <a:pt x="0" y="2438400"/>
                  </a:lnTo>
                  <a:close/>
                </a:path>
              </a:pathLst>
            </a:custGeom>
            <a:blipFill>
              <a:blip r:embed="rId2">
                <a:alphaModFix amt="0"/>
              </a:blip>
              <a:stretch>
                <a:fillRect l="0" t="-86395" r="0" b="-86395"/>
              </a:stretch>
            </a:blipFill>
          </p:spPr>
        </p:sp>
        <p:sp>
          <p:nvSpPr>
            <p:cNvPr name="TextBox 19" id="19"/>
            <p:cNvSpPr txBox="true"/>
            <p:nvPr/>
          </p:nvSpPr>
          <p:spPr>
            <a:xfrm>
              <a:off x="0" y="-161925"/>
              <a:ext cx="17068800" cy="2600325"/>
            </a:xfrm>
            <a:prstGeom prst="rect">
              <a:avLst/>
            </a:prstGeom>
          </p:spPr>
          <p:txBody>
            <a:bodyPr anchor="ctr" rtlCol="false" tIns="0" lIns="0" bIns="0" rIns="0"/>
            <a:lstStyle/>
            <a:p>
              <a:pPr algn="l">
                <a:lnSpc>
                  <a:spcPts val="10080"/>
                </a:lnSpc>
              </a:pPr>
              <a:r>
                <a:rPr lang="en-US" sz="8400" b="true">
                  <a:solidFill>
                    <a:srgbClr val="FFFFFF"/>
                  </a:solidFill>
                  <a:latin typeface="Calibri (MS) Bold"/>
                  <a:ea typeface="Calibri (MS) Bold"/>
                  <a:cs typeface="Calibri (MS) Bold"/>
                  <a:sym typeface="Calibri (MS) Bold"/>
                </a:rPr>
                <a:t>5V Big Data</a:t>
              </a:r>
            </a:p>
          </p:txBody>
        </p:sp>
      </p:grpSp>
      <p:grpSp>
        <p:nvGrpSpPr>
          <p:cNvPr name="Group 20" id="20"/>
          <p:cNvGrpSpPr/>
          <p:nvPr/>
        </p:nvGrpSpPr>
        <p:grpSpPr>
          <a:xfrm rot="0">
            <a:off x="1371600" y="4297680"/>
            <a:ext cx="12435840" cy="1645920"/>
            <a:chOff x="0" y="0"/>
            <a:chExt cx="16581120" cy="2194560"/>
          </a:xfrm>
        </p:grpSpPr>
        <p:sp>
          <p:nvSpPr>
            <p:cNvPr name="Freeform 21" id="21"/>
            <p:cNvSpPr/>
            <p:nvPr/>
          </p:nvSpPr>
          <p:spPr>
            <a:xfrm flipH="false" flipV="false" rot="0">
              <a:off x="0" y="0"/>
              <a:ext cx="16581120" cy="2194560"/>
            </a:xfrm>
            <a:custGeom>
              <a:avLst/>
              <a:gdLst/>
              <a:ahLst/>
              <a:cxnLst/>
              <a:rect r="r" b="b" t="t" l="l"/>
              <a:pathLst>
                <a:path h="2194560" w="16581120">
                  <a:moveTo>
                    <a:pt x="0" y="0"/>
                  </a:moveTo>
                  <a:lnTo>
                    <a:pt x="16581120" y="0"/>
                  </a:lnTo>
                  <a:lnTo>
                    <a:pt x="16581120" y="2194560"/>
                  </a:lnTo>
                  <a:lnTo>
                    <a:pt x="0" y="2194560"/>
                  </a:lnTo>
                  <a:close/>
                </a:path>
              </a:pathLst>
            </a:custGeom>
            <a:blipFill>
              <a:blip r:embed="rId2">
                <a:alphaModFix amt="0"/>
              </a:blip>
              <a:stretch>
                <a:fillRect l="0" t="-97220" r="0" b="-97220"/>
              </a:stretch>
            </a:blipFill>
          </p:spPr>
        </p:sp>
        <p:sp>
          <p:nvSpPr>
            <p:cNvPr name="TextBox 22" id="22"/>
            <p:cNvSpPr txBox="true"/>
            <p:nvPr/>
          </p:nvSpPr>
          <p:spPr>
            <a:xfrm>
              <a:off x="0" y="-57150"/>
              <a:ext cx="16581120" cy="2251710"/>
            </a:xfrm>
            <a:prstGeom prst="rect">
              <a:avLst/>
            </a:prstGeom>
          </p:spPr>
          <p:txBody>
            <a:bodyPr anchor="ctr" rtlCol="false" tIns="0" lIns="0" bIns="0" rIns="0"/>
            <a:lstStyle/>
            <a:p>
              <a:pPr algn="l">
                <a:lnSpc>
                  <a:spcPts val="3840"/>
                </a:lnSpc>
              </a:pPr>
              <a:r>
                <a:rPr lang="en-US" sz="3200" i="true">
                  <a:solidFill>
                    <a:srgbClr val="7FB3C8"/>
                  </a:solidFill>
                  <a:latin typeface="Calibri (MS) Italics"/>
                  <a:ea typeface="Calibri (MS) Italics"/>
                  <a:cs typeface="Calibri (MS) Italics"/>
                  <a:sym typeface="Calibri (MS) Italics"/>
                </a:rPr>
                <a:t>Dataset Iklim Harian BMKG</a:t>
              </a:r>
            </a:p>
            <a:p>
              <a:pPr algn="l">
                <a:lnSpc>
                  <a:spcPts val="3840"/>
                </a:lnSpc>
              </a:pPr>
              <a:r>
                <a:rPr lang="en-US" sz="3200" i="true">
                  <a:solidFill>
                    <a:srgbClr val="7FB3C8"/>
                  </a:solidFill>
                  <a:latin typeface="Calibri (MS) Italics"/>
                  <a:ea typeface="Calibri (MS) Italics"/>
                  <a:cs typeface="Calibri (MS) Italics"/>
                  <a:sym typeface="Calibri (MS) Italics"/>
                </a:rPr>
                <a:t>Stasiun Meteorologi Juanda</a:t>
              </a:r>
            </a:p>
          </p:txBody>
        </p:sp>
      </p:grpSp>
      <p:grpSp>
        <p:nvGrpSpPr>
          <p:cNvPr name="Group 23" id="23"/>
          <p:cNvGrpSpPr/>
          <p:nvPr/>
        </p:nvGrpSpPr>
        <p:grpSpPr>
          <a:xfrm rot="0">
            <a:off x="1371600" y="9144000"/>
            <a:ext cx="14630400" cy="585216"/>
            <a:chOff x="0" y="0"/>
            <a:chExt cx="19507200" cy="780288"/>
          </a:xfrm>
        </p:grpSpPr>
        <p:sp>
          <p:nvSpPr>
            <p:cNvPr name="Freeform 24" id="24"/>
            <p:cNvSpPr/>
            <p:nvPr/>
          </p:nvSpPr>
          <p:spPr>
            <a:xfrm flipH="false" flipV="false" rot="0">
              <a:off x="0" y="0"/>
              <a:ext cx="19507200" cy="780288"/>
            </a:xfrm>
            <a:custGeom>
              <a:avLst/>
              <a:gdLst/>
              <a:ahLst/>
              <a:cxnLst/>
              <a:rect r="r" b="b" t="t" l="l"/>
              <a:pathLst>
                <a:path h="780288" w="19507200">
                  <a:moveTo>
                    <a:pt x="0" y="0"/>
                  </a:moveTo>
                  <a:lnTo>
                    <a:pt x="19507200" y="0"/>
                  </a:lnTo>
                  <a:lnTo>
                    <a:pt x="19507200" y="780288"/>
                  </a:lnTo>
                  <a:lnTo>
                    <a:pt x="0" y="780288"/>
                  </a:lnTo>
                  <a:close/>
                </a:path>
              </a:pathLst>
            </a:custGeom>
            <a:blipFill>
              <a:blip r:embed="rId2">
                <a:alphaModFix amt="0"/>
              </a:blip>
              <a:stretch>
                <a:fillRect l="0" t="-437125" r="0" b="-437125"/>
              </a:stretch>
            </a:blipFill>
          </p:spPr>
        </p:sp>
        <p:sp>
          <p:nvSpPr>
            <p:cNvPr name="TextBox 25" id="25"/>
            <p:cNvSpPr txBox="true"/>
            <p:nvPr/>
          </p:nvSpPr>
          <p:spPr>
            <a:xfrm>
              <a:off x="0" y="-38100"/>
              <a:ext cx="19507200" cy="818388"/>
            </a:xfrm>
            <a:prstGeom prst="rect">
              <a:avLst/>
            </a:prstGeom>
          </p:spPr>
          <p:txBody>
            <a:bodyPr anchor="ctr" rtlCol="false" tIns="0" lIns="0" bIns="0" rIns="0"/>
            <a:lstStyle/>
            <a:p>
              <a:pPr algn="l">
                <a:lnSpc>
                  <a:spcPts val="2400"/>
                </a:lnSpc>
              </a:pPr>
              <a:r>
                <a:rPr lang="en-US" sz="2000">
                  <a:solidFill>
                    <a:srgbClr val="7FB3C8"/>
                  </a:solidFill>
                  <a:latin typeface="Calibri (MS)"/>
                  <a:ea typeface="Calibri (MS)"/>
                  <a:cs typeface="Calibri (MS)"/>
                  <a:sym typeface="Calibri (MS)"/>
                </a:rPr>
                <a:t>Mata Kuliah Big Data  ·  2025/2026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1EB8D0"/>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1EB8D0"/>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OVERVIEW</a:t>
              </a:r>
            </a:p>
          </p:txBody>
        </p:sp>
      </p:grpSp>
      <p:grpSp>
        <p:nvGrpSpPr>
          <p:cNvPr name="Group 11" id="11"/>
          <p:cNvGrpSpPr/>
          <p:nvPr/>
        </p:nvGrpSpPr>
        <p:grpSpPr>
          <a:xfrm rot="0">
            <a:off x="5486400" y="256032"/>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Apa itu 5V Big Data?</a:t>
              </a:r>
            </a:p>
          </p:txBody>
        </p:sp>
      </p:grpSp>
      <p:grpSp>
        <p:nvGrpSpPr>
          <p:cNvPr name="Group 14" id="14"/>
          <p:cNvGrpSpPr/>
          <p:nvPr/>
        </p:nvGrpSpPr>
        <p:grpSpPr>
          <a:xfrm rot="0">
            <a:off x="914400" y="1609344"/>
            <a:ext cx="16459200" cy="768096"/>
            <a:chOff x="0" y="0"/>
            <a:chExt cx="21945600" cy="1024128"/>
          </a:xfrm>
        </p:grpSpPr>
        <p:sp>
          <p:nvSpPr>
            <p:cNvPr name="Freeform 15" id="15"/>
            <p:cNvSpPr/>
            <p:nvPr/>
          </p:nvSpPr>
          <p:spPr>
            <a:xfrm flipH="false" flipV="false" rot="0">
              <a:off x="0" y="0"/>
              <a:ext cx="21945600" cy="1024128"/>
            </a:xfrm>
            <a:custGeom>
              <a:avLst/>
              <a:gdLst/>
              <a:ahLst/>
              <a:cxnLst/>
              <a:rect r="r" b="b" t="t" l="l"/>
              <a:pathLst>
                <a:path h="1024128" w="21945600">
                  <a:moveTo>
                    <a:pt x="0" y="0"/>
                  </a:moveTo>
                  <a:lnTo>
                    <a:pt x="21945600" y="0"/>
                  </a:lnTo>
                  <a:lnTo>
                    <a:pt x="21945600" y="1024128"/>
                  </a:lnTo>
                  <a:lnTo>
                    <a:pt x="0" y="1024128"/>
                  </a:lnTo>
                  <a:close/>
                </a:path>
              </a:pathLst>
            </a:custGeom>
            <a:blipFill>
              <a:blip r:embed="rId2">
                <a:alphaModFix amt="0"/>
              </a:blip>
              <a:stretch>
                <a:fillRect l="0" t="-367536" r="0" b="-367536"/>
              </a:stretch>
            </a:blipFill>
          </p:spPr>
        </p:sp>
        <p:sp>
          <p:nvSpPr>
            <p:cNvPr name="TextBox 16" id="16"/>
            <p:cNvSpPr txBox="true"/>
            <p:nvPr/>
          </p:nvSpPr>
          <p:spPr>
            <a:xfrm>
              <a:off x="0" y="-47625"/>
              <a:ext cx="21945600" cy="1071753"/>
            </a:xfrm>
            <a:prstGeom prst="rect">
              <a:avLst/>
            </a:prstGeom>
          </p:spPr>
          <p:txBody>
            <a:bodyPr anchor="ctr" rtlCol="false" tIns="0" lIns="0" bIns="0" rIns="0"/>
            <a:lstStyle/>
            <a:p>
              <a:pPr algn="l">
                <a:lnSpc>
                  <a:spcPts val="2999"/>
                </a:lnSpc>
              </a:pPr>
              <a:r>
                <a:rPr lang="en-US" sz="2499">
                  <a:solidFill>
                    <a:srgbClr val="1E3A5F"/>
                  </a:solidFill>
                  <a:latin typeface="Calibri (MS)"/>
                  <a:ea typeface="Calibri (MS)"/>
                  <a:cs typeface="Calibri (MS)"/>
                  <a:sym typeface="Calibri (MS)"/>
                </a:rPr>
                <a:t>5V adalah karakteristik utama yang membedakan Big Data dari data biasa. Setiap V menggambarkan dimensi berbeda dari kompleksitas data skala besar.</a:t>
              </a:r>
            </a:p>
          </p:txBody>
        </p:sp>
      </p:grpSp>
      <p:grpSp>
        <p:nvGrpSpPr>
          <p:cNvPr name="Group 17" id="17"/>
          <p:cNvGrpSpPr/>
          <p:nvPr/>
        </p:nvGrpSpPr>
        <p:grpSpPr>
          <a:xfrm rot="0">
            <a:off x="627383" y="2639063"/>
            <a:ext cx="3170939" cy="6700523"/>
            <a:chOff x="0" y="0"/>
            <a:chExt cx="4227919" cy="8934031"/>
          </a:xfrm>
        </p:grpSpPr>
        <p:sp>
          <p:nvSpPr>
            <p:cNvPr name="Freeform 18" id="18"/>
            <p:cNvSpPr/>
            <p:nvPr/>
          </p:nvSpPr>
          <p:spPr>
            <a:xfrm flipH="false" flipV="false" rot="0">
              <a:off x="16891" y="16891"/>
              <a:ext cx="4194048" cy="8900160"/>
            </a:xfrm>
            <a:custGeom>
              <a:avLst/>
              <a:gdLst/>
              <a:ahLst/>
              <a:cxnLst/>
              <a:rect r="r" b="b" t="t" l="l"/>
              <a:pathLst>
                <a:path h="8900160" w="4194048">
                  <a:moveTo>
                    <a:pt x="0" y="0"/>
                  </a:moveTo>
                  <a:lnTo>
                    <a:pt x="4194048" y="0"/>
                  </a:lnTo>
                  <a:lnTo>
                    <a:pt x="4194048" y="8900160"/>
                  </a:lnTo>
                  <a:lnTo>
                    <a:pt x="0" y="8900160"/>
                  </a:lnTo>
                  <a:close/>
                </a:path>
              </a:pathLst>
            </a:custGeom>
            <a:solidFill>
              <a:srgbClr val="FFFFFF"/>
            </a:solidFill>
          </p:spPr>
        </p:sp>
        <p:sp>
          <p:nvSpPr>
            <p:cNvPr name="Freeform 19" id="19"/>
            <p:cNvSpPr/>
            <p:nvPr/>
          </p:nvSpPr>
          <p:spPr>
            <a:xfrm flipH="false" flipV="false" rot="0">
              <a:off x="0" y="0"/>
              <a:ext cx="4227830" cy="8933942"/>
            </a:xfrm>
            <a:custGeom>
              <a:avLst/>
              <a:gdLst/>
              <a:ahLst/>
              <a:cxnLst/>
              <a:rect r="r" b="b" t="t" l="l"/>
              <a:pathLst>
                <a:path h="8933942" w="4227830">
                  <a:moveTo>
                    <a:pt x="16891" y="0"/>
                  </a:moveTo>
                  <a:lnTo>
                    <a:pt x="4210939" y="0"/>
                  </a:lnTo>
                  <a:cubicBezTo>
                    <a:pt x="4220337" y="0"/>
                    <a:pt x="4227830" y="7620"/>
                    <a:pt x="4227830" y="16891"/>
                  </a:cubicBezTo>
                  <a:lnTo>
                    <a:pt x="4227830" y="8917051"/>
                  </a:lnTo>
                  <a:cubicBezTo>
                    <a:pt x="4227830" y="8926449"/>
                    <a:pt x="4220210" y="8933942"/>
                    <a:pt x="4210939" y="8933942"/>
                  </a:cubicBezTo>
                  <a:lnTo>
                    <a:pt x="16891" y="8933942"/>
                  </a:lnTo>
                  <a:cubicBezTo>
                    <a:pt x="7493" y="8933942"/>
                    <a:pt x="0" y="8926322"/>
                    <a:pt x="0" y="8917051"/>
                  </a:cubicBezTo>
                  <a:lnTo>
                    <a:pt x="0" y="16891"/>
                  </a:lnTo>
                  <a:cubicBezTo>
                    <a:pt x="0" y="7620"/>
                    <a:pt x="7620" y="0"/>
                    <a:pt x="16891" y="0"/>
                  </a:cubicBezTo>
                  <a:moveTo>
                    <a:pt x="16891" y="33909"/>
                  </a:moveTo>
                  <a:lnTo>
                    <a:pt x="16891" y="16891"/>
                  </a:lnTo>
                  <a:lnTo>
                    <a:pt x="33909" y="16891"/>
                  </a:lnTo>
                  <a:lnTo>
                    <a:pt x="33909" y="8917051"/>
                  </a:lnTo>
                  <a:lnTo>
                    <a:pt x="16891" y="8917051"/>
                  </a:lnTo>
                  <a:lnTo>
                    <a:pt x="16891" y="8900160"/>
                  </a:lnTo>
                  <a:lnTo>
                    <a:pt x="4210939" y="8900160"/>
                  </a:lnTo>
                  <a:lnTo>
                    <a:pt x="4210939" y="8917051"/>
                  </a:lnTo>
                  <a:lnTo>
                    <a:pt x="4194048" y="8917051"/>
                  </a:lnTo>
                  <a:lnTo>
                    <a:pt x="4194048" y="16891"/>
                  </a:lnTo>
                  <a:lnTo>
                    <a:pt x="4210939" y="16891"/>
                  </a:lnTo>
                  <a:lnTo>
                    <a:pt x="4210939" y="33909"/>
                  </a:lnTo>
                  <a:lnTo>
                    <a:pt x="16891" y="33909"/>
                  </a:lnTo>
                  <a:close/>
                </a:path>
              </a:pathLst>
            </a:custGeom>
            <a:solidFill>
              <a:srgbClr val="1EB8D0"/>
            </a:solidFill>
          </p:spPr>
        </p:sp>
      </p:grpSp>
      <p:grpSp>
        <p:nvGrpSpPr>
          <p:cNvPr name="Group 20" id="20"/>
          <p:cNvGrpSpPr/>
          <p:nvPr/>
        </p:nvGrpSpPr>
        <p:grpSpPr>
          <a:xfrm rot="0">
            <a:off x="627383" y="2639063"/>
            <a:ext cx="3170939" cy="1945643"/>
            <a:chOff x="0" y="0"/>
            <a:chExt cx="4227919" cy="2594191"/>
          </a:xfrm>
        </p:grpSpPr>
        <p:sp>
          <p:nvSpPr>
            <p:cNvPr name="Freeform 21" id="21"/>
            <p:cNvSpPr/>
            <p:nvPr/>
          </p:nvSpPr>
          <p:spPr>
            <a:xfrm flipH="false" flipV="false" rot="0">
              <a:off x="16891" y="16891"/>
              <a:ext cx="4194048" cy="2560320"/>
            </a:xfrm>
            <a:custGeom>
              <a:avLst/>
              <a:gdLst/>
              <a:ahLst/>
              <a:cxnLst/>
              <a:rect r="r" b="b" t="t" l="l"/>
              <a:pathLst>
                <a:path h="2560320" w="4194048">
                  <a:moveTo>
                    <a:pt x="0" y="0"/>
                  </a:moveTo>
                  <a:lnTo>
                    <a:pt x="4194048" y="0"/>
                  </a:lnTo>
                  <a:lnTo>
                    <a:pt x="4194048" y="2560320"/>
                  </a:lnTo>
                  <a:lnTo>
                    <a:pt x="0" y="2560320"/>
                  </a:lnTo>
                  <a:close/>
                </a:path>
              </a:pathLst>
            </a:custGeom>
            <a:solidFill>
              <a:srgbClr val="1EB8D0"/>
            </a:solidFill>
          </p:spPr>
        </p:sp>
        <p:sp>
          <p:nvSpPr>
            <p:cNvPr name="Freeform 22" id="22"/>
            <p:cNvSpPr/>
            <p:nvPr/>
          </p:nvSpPr>
          <p:spPr>
            <a:xfrm flipH="false" flipV="false" rot="0">
              <a:off x="0" y="0"/>
              <a:ext cx="4227830" cy="2594102"/>
            </a:xfrm>
            <a:custGeom>
              <a:avLst/>
              <a:gdLst/>
              <a:ahLst/>
              <a:cxnLst/>
              <a:rect r="r" b="b" t="t" l="l"/>
              <a:pathLst>
                <a:path h="2594102" w="4227830">
                  <a:moveTo>
                    <a:pt x="16891" y="0"/>
                  </a:moveTo>
                  <a:lnTo>
                    <a:pt x="4210939" y="0"/>
                  </a:lnTo>
                  <a:cubicBezTo>
                    <a:pt x="4220337" y="0"/>
                    <a:pt x="4227830" y="7620"/>
                    <a:pt x="4227830" y="16891"/>
                  </a:cubicBezTo>
                  <a:lnTo>
                    <a:pt x="4227830" y="2577211"/>
                  </a:lnTo>
                  <a:cubicBezTo>
                    <a:pt x="4227830" y="2586609"/>
                    <a:pt x="4220210" y="2594102"/>
                    <a:pt x="421093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4210939" y="2560320"/>
                  </a:lnTo>
                  <a:lnTo>
                    <a:pt x="4210939" y="2577211"/>
                  </a:lnTo>
                  <a:lnTo>
                    <a:pt x="4194048" y="2577211"/>
                  </a:lnTo>
                  <a:lnTo>
                    <a:pt x="4194048" y="16891"/>
                  </a:lnTo>
                  <a:lnTo>
                    <a:pt x="4210939" y="16891"/>
                  </a:lnTo>
                  <a:lnTo>
                    <a:pt x="4210939" y="33909"/>
                  </a:lnTo>
                  <a:lnTo>
                    <a:pt x="16891" y="33909"/>
                  </a:lnTo>
                  <a:close/>
                </a:path>
              </a:pathLst>
            </a:custGeom>
            <a:solidFill>
              <a:srgbClr val="1EB8D0"/>
            </a:solidFill>
          </p:spPr>
        </p:sp>
      </p:grpSp>
      <p:grpSp>
        <p:nvGrpSpPr>
          <p:cNvPr name="Group 23" id="23"/>
          <p:cNvGrpSpPr/>
          <p:nvPr/>
        </p:nvGrpSpPr>
        <p:grpSpPr>
          <a:xfrm rot="0">
            <a:off x="640080" y="2688336"/>
            <a:ext cx="3145536" cy="1133856"/>
            <a:chOff x="0" y="0"/>
            <a:chExt cx="4194048" cy="1511808"/>
          </a:xfrm>
        </p:grpSpPr>
        <p:sp>
          <p:nvSpPr>
            <p:cNvPr name="Freeform 24" id="24"/>
            <p:cNvSpPr/>
            <p:nvPr/>
          </p:nvSpPr>
          <p:spPr>
            <a:xfrm flipH="false" flipV="false" rot="0">
              <a:off x="0" y="0"/>
              <a:ext cx="4194048" cy="1511808"/>
            </a:xfrm>
            <a:custGeom>
              <a:avLst/>
              <a:gdLst/>
              <a:ahLst/>
              <a:cxnLst/>
              <a:rect r="r" b="b" t="t" l="l"/>
              <a:pathLst>
                <a:path h="1511808" w="4194048">
                  <a:moveTo>
                    <a:pt x="0" y="0"/>
                  </a:moveTo>
                  <a:lnTo>
                    <a:pt x="4194048" y="0"/>
                  </a:lnTo>
                  <a:lnTo>
                    <a:pt x="4194048" y="1511808"/>
                  </a:lnTo>
                  <a:lnTo>
                    <a:pt x="0" y="1511808"/>
                  </a:lnTo>
                  <a:close/>
                </a:path>
              </a:pathLst>
            </a:custGeom>
            <a:blipFill>
              <a:blip r:embed="rId2">
                <a:alphaModFix amt="0"/>
              </a:blip>
              <a:stretch>
                <a:fillRect l="0" t="-4055" r="0" b="-4055"/>
              </a:stretch>
            </a:blipFill>
          </p:spPr>
        </p:sp>
        <p:sp>
          <p:nvSpPr>
            <p:cNvPr name="TextBox 25" id="25"/>
            <p:cNvSpPr txBox="true"/>
            <p:nvPr/>
          </p:nvSpPr>
          <p:spPr>
            <a:xfrm>
              <a:off x="0" y="-133350"/>
              <a:ext cx="4194048" cy="1645158"/>
            </a:xfrm>
            <a:prstGeom prst="rect">
              <a:avLst/>
            </a:prstGeom>
          </p:spPr>
          <p:txBody>
            <a:bodyPr anchor="ctr" rtlCol="false" tIns="0" lIns="0" bIns="0" rIns="0"/>
            <a:lstStyle/>
            <a:p>
              <a:pPr algn="ctr">
                <a:lnSpc>
                  <a:spcPts val="8159"/>
                </a:lnSpc>
              </a:pPr>
              <a:r>
                <a:rPr lang="en-US" sz="6800" b="true">
                  <a:solidFill>
                    <a:srgbClr val="FFFFFF"/>
                  </a:solidFill>
                  <a:latin typeface="Calibri (MS) Bold"/>
                  <a:ea typeface="Calibri (MS) Bold"/>
                  <a:cs typeface="Calibri (MS) Bold"/>
                  <a:sym typeface="Calibri (MS) Bold"/>
                </a:rPr>
                <a:t>V</a:t>
              </a:r>
            </a:p>
          </p:txBody>
        </p:sp>
      </p:grpSp>
      <p:grpSp>
        <p:nvGrpSpPr>
          <p:cNvPr name="Group 26" id="26"/>
          <p:cNvGrpSpPr/>
          <p:nvPr/>
        </p:nvGrpSpPr>
        <p:grpSpPr>
          <a:xfrm rot="0">
            <a:off x="640080" y="3803904"/>
            <a:ext cx="3145536" cy="640080"/>
            <a:chOff x="0" y="0"/>
            <a:chExt cx="4194048" cy="853440"/>
          </a:xfrm>
        </p:grpSpPr>
        <p:sp>
          <p:nvSpPr>
            <p:cNvPr name="Freeform 27" id="27"/>
            <p:cNvSpPr/>
            <p:nvPr/>
          </p:nvSpPr>
          <p:spPr>
            <a:xfrm flipH="false" flipV="false" rot="0">
              <a:off x="0" y="0"/>
              <a:ext cx="4194048" cy="853440"/>
            </a:xfrm>
            <a:custGeom>
              <a:avLst/>
              <a:gdLst/>
              <a:ahLst/>
              <a:cxnLst/>
              <a:rect r="r" b="b" t="t" l="l"/>
              <a:pathLst>
                <a:path h="853440" w="4194048">
                  <a:moveTo>
                    <a:pt x="0" y="0"/>
                  </a:moveTo>
                  <a:lnTo>
                    <a:pt x="4194048" y="0"/>
                  </a:lnTo>
                  <a:lnTo>
                    <a:pt x="4194048" y="853440"/>
                  </a:lnTo>
                  <a:lnTo>
                    <a:pt x="0" y="853440"/>
                  </a:lnTo>
                  <a:close/>
                </a:path>
              </a:pathLst>
            </a:custGeom>
            <a:blipFill>
              <a:blip r:embed="rId2">
                <a:alphaModFix amt="0"/>
              </a:blip>
              <a:stretch>
                <a:fillRect l="0" t="-45755" r="0" b="-45755"/>
              </a:stretch>
            </a:blipFill>
          </p:spPr>
        </p:sp>
        <p:sp>
          <p:nvSpPr>
            <p:cNvPr name="TextBox 28" id="28"/>
            <p:cNvSpPr txBox="true"/>
            <p:nvPr/>
          </p:nvSpPr>
          <p:spPr>
            <a:xfrm>
              <a:off x="0" y="-38100"/>
              <a:ext cx="4194048" cy="89154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Volume</a:t>
              </a:r>
            </a:p>
          </p:txBody>
        </p:sp>
      </p:grpSp>
      <p:grpSp>
        <p:nvGrpSpPr>
          <p:cNvPr name="Group 29" id="29"/>
          <p:cNvGrpSpPr/>
          <p:nvPr/>
        </p:nvGrpSpPr>
        <p:grpSpPr>
          <a:xfrm rot="0">
            <a:off x="640080" y="4791456"/>
            <a:ext cx="3145536" cy="914400"/>
            <a:chOff x="0" y="0"/>
            <a:chExt cx="4194048" cy="1219200"/>
          </a:xfrm>
        </p:grpSpPr>
        <p:sp>
          <p:nvSpPr>
            <p:cNvPr name="Freeform 30" id="30"/>
            <p:cNvSpPr/>
            <p:nvPr/>
          </p:nvSpPr>
          <p:spPr>
            <a:xfrm flipH="false" flipV="false" rot="0">
              <a:off x="0" y="0"/>
              <a:ext cx="4194048" cy="1219200"/>
            </a:xfrm>
            <a:custGeom>
              <a:avLst/>
              <a:gdLst/>
              <a:ahLst/>
              <a:cxnLst/>
              <a:rect r="r" b="b" t="t" l="l"/>
              <a:pathLst>
                <a:path h="1219200" w="4194048">
                  <a:moveTo>
                    <a:pt x="0" y="0"/>
                  </a:moveTo>
                  <a:lnTo>
                    <a:pt x="4194048" y="0"/>
                  </a:lnTo>
                  <a:lnTo>
                    <a:pt x="4194048" y="1219200"/>
                  </a:lnTo>
                  <a:lnTo>
                    <a:pt x="0" y="1219200"/>
                  </a:lnTo>
                  <a:close/>
                </a:path>
              </a:pathLst>
            </a:custGeom>
            <a:blipFill>
              <a:blip r:embed="rId2">
                <a:alphaModFix amt="0"/>
              </a:blip>
              <a:stretch>
                <a:fillRect l="0" t="-17028" r="0" b="-17028"/>
              </a:stretch>
            </a:blipFill>
          </p:spPr>
        </p:sp>
        <p:sp>
          <p:nvSpPr>
            <p:cNvPr name="TextBox 31" id="31"/>
            <p:cNvSpPr txBox="true"/>
            <p:nvPr/>
          </p:nvSpPr>
          <p:spPr>
            <a:xfrm>
              <a:off x="0" y="-76200"/>
              <a:ext cx="4194048"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32" id="32"/>
          <p:cNvGrpSpPr/>
          <p:nvPr/>
        </p:nvGrpSpPr>
        <p:grpSpPr>
          <a:xfrm rot="0">
            <a:off x="822960" y="5815584"/>
            <a:ext cx="2779776" cy="3108960"/>
            <a:chOff x="0" y="0"/>
            <a:chExt cx="3706368" cy="4145280"/>
          </a:xfrm>
        </p:grpSpPr>
        <p:sp>
          <p:nvSpPr>
            <p:cNvPr name="Freeform 33" id="33"/>
            <p:cNvSpPr/>
            <p:nvPr/>
          </p:nvSpPr>
          <p:spPr>
            <a:xfrm flipH="false" flipV="false" rot="0">
              <a:off x="0" y="0"/>
              <a:ext cx="3706368" cy="4145280"/>
            </a:xfrm>
            <a:custGeom>
              <a:avLst/>
              <a:gdLst/>
              <a:ahLst/>
              <a:cxnLst/>
              <a:rect r="r" b="b" t="t" l="l"/>
              <a:pathLst>
                <a:path h="4145280" w="3706368">
                  <a:moveTo>
                    <a:pt x="0" y="0"/>
                  </a:moveTo>
                  <a:lnTo>
                    <a:pt x="3706368" y="0"/>
                  </a:lnTo>
                  <a:lnTo>
                    <a:pt x="3706368" y="4145280"/>
                  </a:lnTo>
                  <a:lnTo>
                    <a:pt x="0" y="4145280"/>
                  </a:lnTo>
                  <a:close/>
                </a:path>
              </a:pathLst>
            </a:custGeom>
            <a:blipFill>
              <a:blip r:embed="rId2">
                <a:alphaModFix amt="0"/>
              </a:blip>
              <a:stretch>
                <a:fillRect l="-93497" t="0" r="-93497" b="0"/>
              </a:stretch>
            </a:blipFill>
          </p:spPr>
        </p:sp>
        <p:sp>
          <p:nvSpPr>
            <p:cNvPr name="TextBox 34" id="34"/>
            <p:cNvSpPr txBox="true"/>
            <p:nvPr/>
          </p:nvSpPr>
          <p:spPr>
            <a:xfrm>
              <a:off x="0" y="-47625"/>
              <a:ext cx="3706368" cy="4192905"/>
            </a:xfrm>
            <a:prstGeom prst="rect">
              <a:avLst/>
            </a:prstGeom>
          </p:spPr>
          <p:txBody>
            <a:bodyPr anchor="ctr" rtlCol="false" tIns="0" lIns="0" bIns="0" rIns="0"/>
            <a:lstStyle/>
            <a:p>
              <a:pPr algn="ctr">
                <a:lnSpc>
                  <a:spcPts val="2640"/>
                </a:lnSpc>
              </a:pPr>
              <a:r>
                <a:rPr lang="en-US" sz="2200">
                  <a:solidFill>
                    <a:srgbClr val="1E3A5F"/>
                  </a:solidFill>
                  <a:latin typeface="Calibri (MS)"/>
                  <a:ea typeface="Calibri (MS)"/>
                  <a:cs typeface="Calibri (MS)"/>
                  <a:sym typeface="Calibri (MS)"/>
                </a:rPr>
                <a:t>Ukuran &amp; jumlah</a:t>
              </a:r>
            </a:p>
            <a:p>
              <a:pPr algn="ctr">
                <a:lnSpc>
                  <a:spcPts val="2640"/>
                </a:lnSpc>
              </a:pPr>
              <a:r>
                <a:rPr lang="en-US" sz="2200">
                  <a:solidFill>
                    <a:srgbClr val="1E3A5F"/>
                  </a:solidFill>
                  <a:latin typeface="Calibri (MS)"/>
                  <a:ea typeface="Calibri (MS)"/>
                  <a:cs typeface="Calibri (MS)"/>
                  <a:sym typeface="Calibri (MS)"/>
                </a:rPr>
                <a:t>data yang sangat besar</a:t>
              </a:r>
            </a:p>
          </p:txBody>
        </p:sp>
      </p:grpSp>
      <p:grpSp>
        <p:nvGrpSpPr>
          <p:cNvPr name="Group 35" id="35"/>
          <p:cNvGrpSpPr/>
          <p:nvPr/>
        </p:nvGrpSpPr>
        <p:grpSpPr>
          <a:xfrm rot="0">
            <a:off x="4047239" y="2639063"/>
            <a:ext cx="3170939" cy="6700523"/>
            <a:chOff x="0" y="0"/>
            <a:chExt cx="4227919" cy="8934031"/>
          </a:xfrm>
        </p:grpSpPr>
        <p:sp>
          <p:nvSpPr>
            <p:cNvPr name="Freeform 36" id="36"/>
            <p:cNvSpPr/>
            <p:nvPr/>
          </p:nvSpPr>
          <p:spPr>
            <a:xfrm flipH="false" flipV="false" rot="0">
              <a:off x="16891" y="16891"/>
              <a:ext cx="4194048" cy="8900160"/>
            </a:xfrm>
            <a:custGeom>
              <a:avLst/>
              <a:gdLst/>
              <a:ahLst/>
              <a:cxnLst/>
              <a:rect r="r" b="b" t="t" l="l"/>
              <a:pathLst>
                <a:path h="8900160" w="4194048">
                  <a:moveTo>
                    <a:pt x="0" y="0"/>
                  </a:moveTo>
                  <a:lnTo>
                    <a:pt x="4194048" y="0"/>
                  </a:lnTo>
                  <a:lnTo>
                    <a:pt x="4194048" y="8900160"/>
                  </a:lnTo>
                  <a:lnTo>
                    <a:pt x="0" y="8900160"/>
                  </a:lnTo>
                  <a:close/>
                </a:path>
              </a:pathLst>
            </a:custGeom>
            <a:solidFill>
              <a:srgbClr val="FFFFFF"/>
            </a:solidFill>
          </p:spPr>
        </p:sp>
        <p:sp>
          <p:nvSpPr>
            <p:cNvPr name="Freeform 37" id="37"/>
            <p:cNvSpPr/>
            <p:nvPr/>
          </p:nvSpPr>
          <p:spPr>
            <a:xfrm flipH="false" flipV="false" rot="0">
              <a:off x="0" y="0"/>
              <a:ext cx="4227830" cy="8933942"/>
            </a:xfrm>
            <a:custGeom>
              <a:avLst/>
              <a:gdLst/>
              <a:ahLst/>
              <a:cxnLst/>
              <a:rect r="r" b="b" t="t" l="l"/>
              <a:pathLst>
                <a:path h="8933942" w="4227830">
                  <a:moveTo>
                    <a:pt x="16891" y="0"/>
                  </a:moveTo>
                  <a:lnTo>
                    <a:pt x="4210939" y="0"/>
                  </a:lnTo>
                  <a:cubicBezTo>
                    <a:pt x="4220337" y="0"/>
                    <a:pt x="4227830" y="7620"/>
                    <a:pt x="4227830" y="16891"/>
                  </a:cubicBezTo>
                  <a:lnTo>
                    <a:pt x="4227830" y="8917051"/>
                  </a:lnTo>
                  <a:cubicBezTo>
                    <a:pt x="4227830" y="8926449"/>
                    <a:pt x="4220210" y="8933942"/>
                    <a:pt x="4210939" y="8933942"/>
                  </a:cubicBezTo>
                  <a:lnTo>
                    <a:pt x="16891" y="8933942"/>
                  </a:lnTo>
                  <a:cubicBezTo>
                    <a:pt x="7493" y="8933942"/>
                    <a:pt x="0" y="8926322"/>
                    <a:pt x="0" y="8917051"/>
                  </a:cubicBezTo>
                  <a:lnTo>
                    <a:pt x="0" y="16891"/>
                  </a:lnTo>
                  <a:cubicBezTo>
                    <a:pt x="0" y="7620"/>
                    <a:pt x="7620" y="0"/>
                    <a:pt x="16891" y="0"/>
                  </a:cubicBezTo>
                  <a:moveTo>
                    <a:pt x="16891" y="33909"/>
                  </a:moveTo>
                  <a:lnTo>
                    <a:pt x="16891" y="16891"/>
                  </a:lnTo>
                  <a:lnTo>
                    <a:pt x="33909" y="16891"/>
                  </a:lnTo>
                  <a:lnTo>
                    <a:pt x="33909" y="8917051"/>
                  </a:lnTo>
                  <a:lnTo>
                    <a:pt x="16891" y="8917051"/>
                  </a:lnTo>
                  <a:lnTo>
                    <a:pt x="16891" y="8900160"/>
                  </a:lnTo>
                  <a:lnTo>
                    <a:pt x="4210939" y="8900160"/>
                  </a:lnTo>
                  <a:lnTo>
                    <a:pt x="4210939" y="8917051"/>
                  </a:lnTo>
                  <a:lnTo>
                    <a:pt x="4194048" y="8917051"/>
                  </a:lnTo>
                  <a:lnTo>
                    <a:pt x="4194048" y="16891"/>
                  </a:lnTo>
                  <a:lnTo>
                    <a:pt x="4210939" y="16891"/>
                  </a:lnTo>
                  <a:lnTo>
                    <a:pt x="4210939" y="33909"/>
                  </a:lnTo>
                  <a:lnTo>
                    <a:pt x="16891" y="33909"/>
                  </a:lnTo>
                  <a:close/>
                </a:path>
              </a:pathLst>
            </a:custGeom>
            <a:solidFill>
              <a:srgbClr val="F4A261"/>
            </a:solidFill>
          </p:spPr>
        </p:sp>
      </p:grpSp>
      <p:grpSp>
        <p:nvGrpSpPr>
          <p:cNvPr name="Group 38" id="38"/>
          <p:cNvGrpSpPr/>
          <p:nvPr/>
        </p:nvGrpSpPr>
        <p:grpSpPr>
          <a:xfrm rot="0">
            <a:off x="4047239" y="2639063"/>
            <a:ext cx="3170939" cy="1945643"/>
            <a:chOff x="0" y="0"/>
            <a:chExt cx="4227919" cy="2594191"/>
          </a:xfrm>
        </p:grpSpPr>
        <p:sp>
          <p:nvSpPr>
            <p:cNvPr name="Freeform 39" id="39"/>
            <p:cNvSpPr/>
            <p:nvPr/>
          </p:nvSpPr>
          <p:spPr>
            <a:xfrm flipH="false" flipV="false" rot="0">
              <a:off x="16891" y="16891"/>
              <a:ext cx="4194048" cy="2560320"/>
            </a:xfrm>
            <a:custGeom>
              <a:avLst/>
              <a:gdLst/>
              <a:ahLst/>
              <a:cxnLst/>
              <a:rect r="r" b="b" t="t" l="l"/>
              <a:pathLst>
                <a:path h="2560320" w="4194048">
                  <a:moveTo>
                    <a:pt x="0" y="0"/>
                  </a:moveTo>
                  <a:lnTo>
                    <a:pt x="4194048" y="0"/>
                  </a:lnTo>
                  <a:lnTo>
                    <a:pt x="4194048" y="2560320"/>
                  </a:lnTo>
                  <a:lnTo>
                    <a:pt x="0" y="2560320"/>
                  </a:lnTo>
                  <a:close/>
                </a:path>
              </a:pathLst>
            </a:custGeom>
            <a:solidFill>
              <a:srgbClr val="F4A261"/>
            </a:solidFill>
          </p:spPr>
        </p:sp>
        <p:sp>
          <p:nvSpPr>
            <p:cNvPr name="Freeform 40" id="40"/>
            <p:cNvSpPr/>
            <p:nvPr/>
          </p:nvSpPr>
          <p:spPr>
            <a:xfrm flipH="false" flipV="false" rot="0">
              <a:off x="0" y="0"/>
              <a:ext cx="4227830" cy="2594102"/>
            </a:xfrm>
            <a:custGeom>
              <a:avLst/>
              <a:gdLst/>
              <a:ahLst/>
              <a:cxnLst/>
              <a:rect r="r" b="b" t="t" l="l"/>
              <a:pathLst>
                <a:path h="2594102" w="4227830">
                  <a:moveTo>
                    <a:pt x="16891" y="0"/>
                  </a:moveTo>
                  <a:lnTo>
                    <a:pt x="4210939" y="0"/>
                  </a:lnTo>
                  <a:cubicBezTo>
                    <a:pt x="4220337" y="0"/>
                    <a:pt x="4227830" y="7620"/>
                    <a:pt x="4227830" y="16891"/>
                  </a:cubicBezTo>
                  <a:lnTo>
                    <a:pt x="4227830" y="2577211"/>
                  </a:lnTo>
                  <a:cubicBezTo>
                    <a:pt x="4227830" y="2586609"/>
                    <a:pt x="4220210" y="2594102"/>
                    <a:pt x="421093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4210939" y="2560320"/>
                  </a:lnTo>
                  <a:lnTo>
                    <a:pt x="4210939" y="2577211"/>
                  </a:lnTo>
                  <a:lnTo>
                    <a:pt x="4194048" y="2577211"/>
                  </a:lnTo>
                  <a:lnTo>
                    <a:pt x="4194048" y="16891"/>
                  </a:lnTo>
                  <a:lnTo>
                    <a:pt x="4210939" y="16891"/>
                  </a:lnTo>
                  <a:lnTo>
                    <a:pt x="4210939" y="33909"/>
                  </a:lnTo>
                  <a:lnTo>
                    <a:pt x="16891" y="33909"/>
                  </a:lnTo>
                  <a:close/>
                </a:path>
              </a:pathLst>
            </a:custGeom>
            <a:solidFill>
              <a:srgbClr val="F4A261"/>
            </a:solidFill>
          </p:spPr>
        </p:sp>
      </p:grpSp>
      <p:grpSp>
        <p:nvGrpSpPr>
          <p:cNvPr name="Group 41" id="41"/>
          <p:cNvGrpSpPr/>
          <p:nvPr/>
        </p:nvGrpSpPr>
        <p:grpSpPr>
          <a:xfrm rot="0">
            <a:off x="4059936" y="2688336"/>
            <a:ext cx="3145536" cy="1133856"/>
            <a:chOff x="0" y="0"/>
            <a:chExt cx="4194048" cy="1511808"/>
          </a:xfrm>
        </p:grpSpPr>
        <p:sp>
          <p:nvSpPr>
            <p:cNvPr name="Freeform 42" id="42"/>
            <p:cNvSpPr/>
            <p:nvPr/>
          </p:nvSpPr>
          <p:spPr>
            <a:xfrm flipH="false" flipV="false" rot="0">
              <a:off x="0" y="0"/>
              <a:ext cx="4194048" cy="1511808"/>
            </a:xfrm>
            <a:custGeom>
              <a:avLst/>
              <a:gdLst/>
              <a:ahLst/>
              <a:cxnLst/>
              <a:rect r="r" b="b" t="t" l="l"/>
              <a:pathLst>
                <a:path h="1511808" w="4194048">
                  <a:moveTo>
                    <a:pt x="0" y="0"/>
                  </a:moveTo>
                  <a:lnTo>
                    <a:pt x="4194048" y="0"/>
                  </a:lnTo>
                  <a:lnTo>
                    <a:pt x="4194048" y="1511808"/>
                  </a:lnTo>
                  <a:lnTo>
                    <a:pt x="0" y="1511808"/>
                  </a:lnTo>
                  <a:close/>
                </a:path>
              </a:pathLst>
            </a:custGeom>
            <a:blipFill>
              <a:blip r:embed="rId2">
                <a:alphaModFix amt="0"/>
              </a:blip>
              <a:stretch>
                <a:fillRect l="0" t="-4055" r="0" b="-4055"/>
              </a:stretch>
            </a:blipFill>
          </p:spPr>
        </p:sp>
        <p:sp>
          <p:nvSpPr>
            <p:cNvPr name="TextBox 43" id="43"/>
            <p:cNvSpPr txBox="true"/>
            <p:nvPr/>
          </p:nvSpPr>
          <p:spPr>
            <a:xfrm>
              <a:off x="0" y="-133350"/>
              <a:ext cx="4194048" cy="1645158"/>
            </a:xfrm>
            <a:prstGeom prst="rect">
              <a:avLst/>
            </a:prstGeom>
          </p:spPr>
          <p:txBody>
            <a:bodyPr anchor="ctr" rtlCol="false" tIns="0" lIns="0" bIns="0" rIns="0"/>
            <a:lstStyle/>
            <a:p>
              <a:pPr algn="ctr">
                <a:lnSpc>
                  <a:spcPts val="8159"/>
                </a:lnSpc>
              </a:pPr>
              <a:r>
                <a:rPr lang="en-US" sz="6800" b="true">
                  <a:solidFill>
                    <a:srgbClr val="FFFFFF"/>
                  </a:solidFill>
                  <a:latin typeface="Calibri (MS) Bold"/>
                  <a:ea typeface="Calibri (MS) Bold"/>
                  <a:cs typeface="Calibri (MS) Bold"/>
                  <a:sym typeface="Calibri (MS) Bold"/>
                </a:rPr>
                <a:t>V</a:t>
              </a:r>
            </a:p>
          </p:txBody>
        </p:sp>
      </p:grpSp>
      <p:grpSp>
        <p:nvGrpSpPr>
          <p:cNvPr name="Group 44" id="44"/>
          <p:cNvGrpSpPr/>
          <p:nvPr/>
        </p:nvGrpSpPr>
        <p:grpSpPr>
          <a:xfrm rot="0">
            <a:off x="4059936" y="3803904"/>
            <a:ext cx="3145536" cy="640080"/>
            <a:chOff x="0" y="0"/>
            <a:chExt cx="4194048" cy="853440"/>
          </a:xfrm>
        </p:grpSpPr>
        <p:sp>
          <p:nvSpPr>
            <p:cNvPr name="Freeform 45" id="45"/>
            <p:cNvSpPr/>
            <p:nvPr/>
          </p:nvSpPr>
          <p:spPr>
            <a:xfrm flipH="false" flipV="false" rot="0">
              <a:off x="0" y="0"/>
              <a:ext cx="4194048" cy="853440"/>
            </a:xfrm>
            <a:custGeom>
              <a:avLst/>
              <a:gdLst/>
              <a:ahLst/>
              <a:cxnLst/>
              <a:rect r="r" b="b" t="t" l="l"/>
              <a:pathLst>
                <a:path h="853440" w="4194048">
                  <a:moveTo>
                    <a:pt x="0" y="0"/>
                  </a:moveTo>
                  <a:lnTo>
                    <a:pt x="4194048" y="0"/>
                  </a:lnTo>
                  <a:lnTo>
                    <a:pt x="4194048" y="853440"/>
                  </a:lnTo>
                  <a:lnTo>
                    <a:pt x="0" y="853440"/>
                  </a:lnTo>
                  <a:close/>
                </a:path>
              </a:pathLst>
            </a:custGeom>
            <a:blipFill>
              <a:blip r:embed="rId2">
                <a:alphaModFix amt="0"/>
              </a:blip>
              <a:stretch>
                <a:fillRect l="0" t="-45755" r="0" b="-45755"/>
              </a:stretch>
            </a:blipFill>
          </p:spPr>
        </p:sp>
        <p:sp>
          <p:nvSpPr>
            <p:cNvPr name="TextBox 46" id="46"/>
            <p:cNvSpPr txBox="true"/>
            <p:nvPr/>
          </p:nvSpPr>
          <p:spPr>
            <a:xfrm>
              <a:off x="0" y="-38100"/>
              <a:ext cx="4194048" cy="89154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Velocity</a:t>
              </a:r>
            </a:p>
          </p:txBody>
        </p:sp>
      </p:grpSp>
      <p:grpSp>
        <p:nvGrpSpPr>
          <p:cNvPr name="Group 47" id="47"/>
          <p:cNvGrpSpPr/>
          <p:nvPr/>
        </p:nvGrpSpPr>
        <p:grpSpPr>
          <a:xfrm rot="0">
            <a:off x="4059936" y="4791456"/>
            <a:ext cx="3145536" cy="914400"/>
            <a:chOff x="0" y="0"/>
            <a:chExt cx="4194048" cy="1219200"/>
          </a:xfrm>
        </p:grpSpPr>
        <p:sp>
          <p:nvSpPr>
            <p:cNvPr name="Freeform 48" id="48"/>
            <p:cNvSpPr/>
            <p:nvPr/>
          </p:nvSpPr>
          <p:spPr>
            <a:xfrm flipH="false" flipV="false" rot="0">
              <a:off x="0" y="0"/>
              <a:ext cx="4194048" cy="1219200"/>
            </a:xfrm>
            <a:custGeom>
              <a:avLst/>
              <a:gdLst/>
              <a:ahLst/>
              <a:cxnLst/>
              <a:rect r="r" b="b" t="t" l="l"/>
              <a:pathLst>
                <a:path h="1219200" w="4194048">
                  <a:moveTo>
                    <a:pt x="0" y="0"/>
                  </a:moveTo>
                  <a:lnTo>
                    <a:pt x="4194048" y="0"/>
                  </a:lnTo>
                  <a:lnTo>
                    <a:pt x="4194048" y="1219200"/>
                  </a:lnTo>
                  <a:lnTo>
                    <a:pt x="0" y="1219200"/>
                  </a:lnTo>
                  <a:close/>
                </a:path>
              </a:pathLst>
            </a:custGeom>
            <a:blipFill>
              <a:blip r:embed="rId2">
                <a:alphaModFix amt="0"/>
              </a:blip>
              <a:stretch>
                <a:fillRect l="0" t="-17028" r="0" b="-17028"/>
              </a:stretch>
            </a:blipFill>
          </p:spPr>
        </p:sp>
        <p:sp>
          <p:nvSpPr>
            <p:cNvPr name="TextBox 49" id="49"/>
            <p:cNvSpPr txBox="true"/>
            <p:nvPr/>
          </p:nvSpPr>
          <p:spPr>
            <a:xfrm>
              <a:off x="0" y="-76200"/>
              <a:ext cx="4194048"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50" id="50"/>
          <p:cNvGrpSpPr/>
          <p:nvPr/>
        </p:nvGrpSpPr>
        <p:grpSpPr>
          <a:xfrm rot="0">
            <a:off x="4242816" y="5815584"/>
            <a:ext cx="2779776" cy="3108960"/>
            <a:chOff x="0" y="0"/>
            <a:chExt cx="3706368" cy="4145280"/>
          </a:xfrm>
        </p:grpSpPr>
        <p:sp>
          <p:nvSpPr>
            <p:cNvPr name="Freeform 51" id="51"/>
            <p:cNvSpPr/>
            <p:nvPr/>
          </p:nvSpPr>
          <p:spPr>
            <a:xfrm flipH="false" flipV="false" rot="0">
              <a:off x="0" y="0"/>
              <a:ext cx="3706368" cy="4145280"/>
            </a:xfrm>
            <a:custGeom>
              <a:avLst/>
              <a:gdLst/>
              <a:ahLst/>
              <a:cxnLst/>
              <a:rect r="r" b="b" t="t" l="l"/>
              <a:pathLst>
                <a:path h="4145280" w="3706368">
                  <a:moveTo>
                    <a:pt x="0" y="0"/>
                  </a:moveTo>
                  <a:lnTo>
                    <a:pt x="3706368" y="0"/>
                  </a:lnTo>
                  <a:lnTo>
                    <a:pt x="3706368" y="4145280"/>
                  </a:lnTo>
                  <a:lnTo>
                    <a:pt x="0" y="4145280"/>
                  </a:lnTo>
                  <a:close/>
                </a:path>
              </a:pathLst>
            </a:custGeom>
            <a:blipFill>
              <a:blip r:embed="rId2">
                <a:alphaModFix amt="0"/>
              </a:blip>
              <a:stretch>
                <a:fillRect l="-93497" t="0" r="-93497" b="0"/>
              </a:stretch>
            </a:blipFill>
          </p:spPr>
        </p:sp>
        <p:sp>
          <p:nvSpPr>
            <p:cNvPr name="TextBox 52" id="52"/>
            <p:cNvSpPr txBox="true"/>
            <p:nvPr/>
          </p:nvSpPr>
          <p:spPr>
            <a:xfrm>
              <a:off x="0" y="-47625"/>
              <a:ext cx="3706368" cy="4192905"/>
            </a:xfrm>
            <a:prstGeom prst="rect">
              <a:avLst/>
            </a:prstGeom>
          </p:spPr>
          <p:txBody>
            <a:bodyPr anchor="ctr" rtlCol="false" tIns="0" lIns="0" bIns="0" rIns="0"/>
            <a:lstStyle/>
            <a:p>
              <a:pPr algn="ctr">
                <a:lnSpc>
                  <a:spcPts val="2640"/>
                </a:lnSpc>
              </a:pPr>
              <a:r>
                <a:rPr lang="en-US" sz="2200">
                  <a:solidFill>
                    <a:srgbClr val="1E3A5F"/>
                  </a:solidFill>
                  <a:latin typeface="Calibri (MS)"/>
                  <a:ea typeface="Calibri (MS)"/>
                  <a:cs typeface="Calibri (MS)"/>
                  <a:sym typeface="Calibri (MS)"/>
                </a:rPr>
                <a:t>Kecepatan data</a:t>
              </a:r>
            </a:p>
            <a:p>
              <a:pPr algn="ctr">
                <a:lnSpc>
                  <a:spcPts val="2640"/>
                </a:lnSpc>
              </a:pPr>
              <a:r>
                <a:rPr lang="en-US" sz="2200">
                  <a:solidFill>
                    <a:srgbClr val="1E3A5F"/>
                  </a:solidFill>
                  <a:latin typeface="Calibri (MS)"/>
                  <a:ea typeface="Calibri (MS)"/>
                  <a:cs typeface="Calibri (MS)"/>
                  <a:sym typeface="Calibri (MS)"/>
                </a:rPr>
                <a:t>dibuat &amp; diproses</a:t>
              </a:r>
            </a:p>
          </p:txBody>
        </p:sp>
      </p:grpSp>
      <p:grpSp>
        <p:nvGrpSpPr>
          <p:cNvPr name="Group 53" id="53"/>
          <p:cNvGrpSpPr/>
          <p:nvPr/>
        </p:nvGrpSpPr>
        <p:grpSpPr>
          <a:xfrm rot="0">
            <a:off x="7467095" y="2639063"/>
            <a:ext cx="3170939" cy="6700523"/>
            <a:chOff x="0" y="0"/>
            <a:chExt cx="4227919" cy="8934031"/>
          </a:xfrm>
        </p:grpSpPr>
        <p:sp>
          <p:nvSpPr>
            <p:cNvPr name="Freeform 54" id="54"/>
            <p:cNvSpPr/>
            <p:nvPr/>
          </p:nvSpPr>
          <p:spPr>
            <a:xfrm flipH="false" flipV="false" rot="0">
              <a:off x="16891" y="16891"/>
              <a:ext cx="4194048" cy="8900160"/>
            </a:xfrm>
            <a:custGeom>
              <a:avLst/>
              <a:gdLst/>
              <a:ahLst/>
              <a:cxnLst/>
              <a:rect r="r" b="b" t="t" l="l"/>
              <a:pathLst>
                <a:path h="8900160" w="4194048">
                  <a:moveTo>
                    <a:pt x="0" y="0"/>
                  </a:moveTo>
                  <a:lnTo>
                    <a:pt x="4194048" y="0"/>
                  </a:lnTo>
                  <a:lnTo>
                    <a:pt x="4194048" y="8900160"/>
                  </a:lnTo>
                  <a:lnTo>
                    <a:pt x="0" y="8900160"/>
                  </a:lnTo>
                  <a:close/>
                </a:path>
              </a:pathLst>
            </a:custGeom>
            <a:solidFill>
              <a:srgbClr val="FFFFFF"/>
            </a:solidFill>
          </p:spPr>
        </p:sp>
        <p:sp>
          <p:nvSpPr>
            <p:cNvPr name="Freeform 55" id="55"/>
            <p:cNvSpPr/>
            <p:nvPr/>
          </p:nvSpPr>
          <p:spPr>
            <a:xfrm flipH="false" flipV="false" rot="0">
              <a:off x="0" y="0"/>
              <a:ext cx="4227830" cy="8933942"/>
            </a:xfrm>
            <a:custGeom>
              <a:avLst/>
              <a:gdLst/>
              <a:ahLst/>
              <a:cxnLst/>
              <a:rect r="r" b="b" t="t" l="l"/>
              <a:pathLst>
                <a:path h="8933942" w="4227830">
                  <a:moveTo>
                    <a:pt x="16891" y="0"/>
                  </a:moveTo>
                  <a:lnTo>
                    <a:pt x="4210939" y="0"/>
                  </a:lnTo>
                  <a:cubicBezTo>
                    <a:pt x="4220337" y="0"/>
                    <a:pt x="4227830" y="7620"/>
                    <a:pt x="4227830" y="16891"/>
                  </a:cubicBezTo>
                  <a:lnTo>
                    <a:pt x="4227830" y="8917051"/>
                  </a:lnTo>
                  <a:cubicBezTo>
                    <a:pt x="4227830" y="8926449"/>
                    <a:pt x="4220210" y="8933942"/>
                    <a:pt x="4210939" y="8933942"/>
                  </a:cubicBezTo>
                  <a:lnTo>
                    <a:pt x="16891" y="8933942"/>
                  </a:lnTo>
                  <a:cubicBezTo>
                    <a:pt x="7493" y="8933942"/>
                    <a:pt x="0" y="8926322"/>
                    <a:pt x="0" y="8917051"/>
                  </a:cubicBezTo>
                  <a:lnTo>
                    <a:pt x="0" y="16891"/>
                  </a:lnTo>
                  <a:cubicBezTo>
                    <a:pt x="0" y="7620"/>
                    <a:pt x="7620" y="0"/>
                    <a:pt x="16891" y="0"/>
                  </a:cubicBezTo>
                  <a:moveTo>
                    <a:pt x="16891" y="33909"/>
                  </a:moveTo>
                  <a:lnTo>
                    <a:pt x="16891" y="16891"/>
                  </a:lnTo>
                  <a:lnTo>
                    <a:pt x="33909" y="16891"/>
                  </a:lnTo>
                  <a:lnTo>
                    <a:pt x="33909" y="8917051"/>
                  </a:lnTo>
                  <a:lnTo>
                    <a:pt x="16891" y="8917051"/>
                  </a:lnTo>
                  <a:lnTo>
                    <a:pt x="16891" y="8900160"/>
                  </a:lnTo>
                  <a:lnTo>
                    <a:pt x="4210939" y="8900160"/>
                  </a:lnTo>
                  <a:lnTo>
                    <a:pt x="4210939" y="8917051"/>
                  </a:lnTo>
                  <a:lnTo>
                    <a:pt x="4194048" y="8917051"/>
                  </a:lnTo>
                  <a:lnTo>
                    <a:pt x="4194048" y="16891"/>
                  </a:lnTo>
                  <a:lnTo>
                    <a:pt x="4210939" y="16891"/>
                  </a:lnTo>
                  <a:lnTo>
                    <a:pt x="4210939" y="33909"/>
                  </a:lnTo>
                  <a:lnTo>
                    <a:pt x="16891" y="33909"/>
                  </a:lnTo>
                  <a:close/>
                </a:path>
              </a:pathLst>
            </a:custGeom>
            <a:solidFill>
              <a:srgbClr val="9B59B6"/>
            </a:solidFill>
          </p:spPr>
        </p:sp>
      </p:grpSp>
      <p:grpSp>
        <p:nvGrpSpPr>
          <p:cNvPr name="Group 56" id="56"/>
          <p:cNvGrpSpPr/>
          <p:nvPr/>
        </p:nvGrpSpPr>
        <p:grpSpPr>
          <a:xfrm rot="0">
            <a:off x="7467095" y="2639063"/>
            <a:ext cx="3170939" cy="1945643"/>
            <a:chOff x="0" y="0"/>
            <a:chExt cx="4227919" cy="2594191"/>
          </a:xfrm>
        </p:grpSpPr>
        <p:sp>
          <p:nvSpPr>
            <p:cNvPr name="Freeform 57" id="57"/>
            <p:cNvSpPr/>
            <p:nvPr/>
          </p:nvSpPr>
          <p:spPr>
            <a:xfrm flipH="false" flipV="false" rot="0">
              <a:off x="16891" y="16891"/>
              <a:ext cx="4194048" cy="2560320"/>
            </a:xfrm>
            <a:custGeom>
              <a:avLst/>
              <a:gdLst/>
              <a:ahLst/>
              <a:cxnLst/>
              <a:rect r="r" b="b" t="t" l="l"/>
              <a:pathLst>
                <a:path h="2560320" w="4194048">
                  <a:moveTo>
                    <a:pt x="0" y="0"/>
                  </a:moveTo>
                  <a:lnTo>
                    <a:pt x="4194048" y="0"/>
                  </a:lnTo>
                  <a:lnTo>
                    <a:pt x="4194048" y="2560320"/>
                  </a:lnTo>
                  <a:lnTo>
                    <a:pt x="0" y="2560320"/>
                  </a:lnTo>
                  <a:close/>
                </a:path>
              </a:pathLst>
            </a:custGeom>
            <a:solidFill>
              <a:srgbClr val="9B59B6"/>
            </a:solidFill>
          </p:spPr>
        </p:sp>
        <p:sp>
          <p:nvSpPr>
            <p:cNvPr name="Freeform 58" id="58"/>
            <p:cNvSpPr/>
            <p:nvPr/>
          </p:nvSpPr>
          <p:spPr>
            <a:xfrm flipH="false" flipV="false" rot="0">
              <a:off x="0" y="0"/>
              <a:ext cx="4227830" cy="2594102"/>
            </a:xfrm>
            <a:custGeom>
              <a:avLst/>
              <a:gdLst/>
              <a:ahLst/>
              <a:cxnLst/>
              <a:rect r="r" b="b" t="t" l="l"/>
              <a:pathLst>
                <a:path h="2594102" w="4227830">
                  <a:moveTo>
                    <a:pt x="16891" y="0"/>
                  </a:moveTo>
                  <a:lnTo>
                    <a:pt x="4210939" y="0"/>
                  </a:lnTo>
                  <a:cubicBezTo>
                    <a:pt x="4220337" y="0"/>
                    <a:pt x="4227830" y="7620"/>
                    <a:pt x="4227830" y="16891"/>
                  </a:cubicBezTo>
                  <a:lnTo>
                    <a:pt x="4227830" y="2577211"/>
                  </a:lnTo>
                  <a:cubicBezTo>
                    <a:pt x="4227830" y="2586609"/>
                    <a:pt x="4220210" y="2594102"/>
                    <a:pt x="421093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4210939" y="2560320"/>
                  </a:lnTo>
                  <a:lnTo>
                    <a:pt x="4210939" y="2577211"/>
                  </a:lnTo>
                  <a:lnTo>
                    <a:pt x="4194048" y="2577211"/>
                  </a:lnTo>
                  <a:lnTo>
                    <a:pt x="4194048" y="16891"/>
                  </a:lnTo>
                  <a:lnTo>
                    <a:pt x="4210939" y="16891"/>
                  </a:lnTo>
                  <a:lnTo>
                    <a:pt x="4210939" y="33909"/>
                  </a:lnTo>
                  <a:lnTo>
                    <a:pt x="16891" y="33909"/>
                  </a:lnTo>
                  <a:close/>
                </a:path>
              </a:pathLst>
            </a:custGeom>
            <a:solidFill>
              <a:srgbClr val="9B59B6"/>
            </a:solidFill>
          </p:spPr>
        </p:sp>
      </p:grpSp>
      <p:grpSp>
        <p:nvGrpSpPr>
          <p:cNvPr name="Group 59" id="59"/>
          <p:cNvGrpSpPr/>
          <p:nvPr/>
        </p:nvGrpSpPr>
        <p:grpSpPr>
          <a:xfrm rot="0">
            <a:off x="7479792" y="2688336"/>
            <a:ext cx="3145536" cy="1133856"/>
            <a:chOff x="0" y="0"/>
            <a:chExt cx="4194048" cy="1511808"/>
          </a:xfrm>
        </p:grpSpPr>
        <p:sp>
          <p:nvSpPr>
            <p:cNvPr name="Freeform 60" id="60"/>
            <p:cNvSpPr/>
            <p:nvPr/>
          </p:nvSpPr>
          <p:spPr>
            <a:xfrm flipH="false" flipV="false" rot="0">
              <a:off x="0" y="0"/>
              <a:ext cx="4194048" cy="1511808"/>
            </a:xfrm>
            <a:custGeom>
              <a:avLst/>
              <a:gdLst/>
              <a:ahLst/>
              <a:cxnLst/>
              <a:rect r="r" b="b" t="t" l="l"/>
              <a:pathLst>
                <a:path h="1511808" w="4194048">
                  <a:moveTo>
                    <a:pt x="0" y="0"/>
                  </a:moveTo>
                  <a:lnTo>
                    <a:pt x="4194048" y="0"/>
                  </a:lnTo>
                  <a:lnTo>
                    <a:pt x="4194048" y="1511808"/>
                  </a:lnTo>
                  <a:lnTo>
                    <a:pt x="0" y="1511808"/>
                  </a:lnTo>
                  <a:close/>
                </a:path>
              </a:pathLst>
            </a:custGeom>
            <a:blipFill>
              <a:blip r:embed="rId2">
                <a:alphaModFix amt="0"/>
              </a:blip>
              <a:stretch>
                <a:fillRect l="0" t="-4055" r="0" b="-4055"/>
              </a:stretch>
            </a:blipFill>
          </p:spPr>
        </p:sp>
        <p:sp>
          <p:nvSpPr>
            <p:cNvPr name="TextBox 61" id="61"/>
            <p:cNvSpPr txBox="true"/>
            <p:nvPr/>
          </p:nvSpPr>
          <p:spPr>
            <a:xfrm>
              <a:off x="0" y="-133350"/>
              <a:ext cx="4194048" cy="1645158"/>
            </a:xfrm>
            <a:prstGeom prst="rect">
              <a:avLst/>
            </a:prstGeom>
          </p:spPr>
          <p:txBody>
            <a:bodyPr anchor="ctr" rtlCol="false" tIns="0" lIns="0" bIns="0" rIns="0"/>
            <a:lstStyle/>
            <a:p>
              <a:pPr algn="ctr">
                <a:lnSpc>
                  <a:spcPts val="8159"/>
                </a:lnSpc>
              </a:pPr>
              <a:r>
                <a:rPr lang="en-US" sz="6800" b="true">
                  <a:solidFill>
                    <a:srgbClr val="FFFFFF"/>
                  </a:solidFill>
                  <a:latin typeface="Calibri (MS) Bold"/>
                  <a:ea typeface="Calibri (MS) Bold"/>
                  <a:cs typeface="Calibri (MS) Bold"/>
                  <a:sym typeface="Calibri (MS) Bold"/>
                </a:rPr>
                <a:t>V</a:t>
              </a:r>
            </a:p>
          </p:txBody>
        </p:sp>
      </p:grpSp>
      <p:grpSp>
        <p:nvGrpSpPr>
          <p:cNvPr name="Group 62" id="62"/>
          <p:cNvGrpSpPr/>
          <p:nvPr/>
        </p:nvGrpSpPr>
        <p:grpSpPr>
          <a:xfrm rot="0">
            <a:off x="7479792" y="3803904"/>
            <a:ext cx="3145536" cy="640080"/>
            <a:chOff x="0" y="0"/>
            <a:chExt cx="4194048" cy="853440"/>
          </a:xfrm>
        </p:grpSpPr>
        <p:sp>
          <p:nvSpPr>
            <p:cNvPr name="Freeform 63" id="63"/>
            <p:cNvSpPr/>
            <p:nvPr/>
          </p:nvSpPr>
          <p:spPr>
            <a:xfrm flipH="false" flipV="false" rot="0">
              <a:off x="0" y="0"/>
              <a:ext cx="4194048" cy="853440"/>
            </a:xfrm>
            <a:custGeom>
              <a:avLst/>
              <a:gdLst/>
              <a:ahLst/>
              <a:cxnLst/>
              <a:rect r="r" b="b" t="t" l="l"/>
              <a:pathLst>
                <a:path h="853440" w="4194048">
                  <a:moveTo>
                    <a:pt x="0" y="0"/>
                  </a:moveTo>
                  <a:lnTo>
                    <a:pt x="4194048" y="0"/>
                  </a:lnTo>
                  <a:lnTo>
                    <a:pt x="4194048" y="853440"/>
                  </a:lnTo>
                  <a:lnTo>
                    <a:pt x="0" y="853440"/>
                  </a:lnTo>
                  <a:close/>
                </a:path>
              </a:pathLst>
            </a:custGeom>
            <a:blipFill>
              <a:blip r:embed="rId2">
                <a:alphaModFix amt="0"/>
              </a:blip>
              <a:stretch>
                <a:fillRect l="0" t="-45755" r="0" b="-45755"/>
              </a:stretch>
            </a:blipFill>
          </p:spPr>
        </p:sp>
        <p:sp>
          <p:nvSpPr>
            <p:cNvPr name="TextBox 64" id="64"/>
            <p:cNvSpPr txBox="true"/>
            <p:nvPr/>
          </p:nvSpPr>
          <p:spPr>
            <a:xfrm>
              <a:off x="0" y="-38100"/>
              <a:ext cx="4194048" cy="89154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Variety</a:t>
              </a:r>
            </a:p>
          </p:txBody>
        </p:sp>
      </p:grpSp>
      <p:grpSp>
        <p:nvGrpSpPr>
          <p:cNvPr name="Group 65" id="65"/>
          <p:cNvGrpSpPr/>
          <p:nvPr/>
        </p:nvGrpSpPr>
        <p:grpSpPr>
          <a:xfrm rot="0">
            <a:off x="7479792" y="4791456"/>
            <a:ext cx="3145536" cy="914400"/>
            <a:chOff x="0" y="0"/>
            <a:chExt cx="4194048" cy="1219200"/>
          </a:xfrm>
        </p:grpSpPr>
        <p:sp>
          <p:nvSpPr>
            <p:cNvPr name="Freeform 66" id="66"/>
            <p:cNvSpPr/>
            <p:nvPr/>
          </p:nvSpPr>
          <p:spPr>
            <a:xfrm flipH="false" flipV="false" rot="0">
              <a:off x="0" y="0"/>
              <a:ext cx="4194048" cy="1219200"/>
            </a:xfrm>
            <a:custGeom>
              <a:avLst/>
              <a:gdLst/>
              <a:ahLst/>
              <a:cxnLst/>
              <a:rect r="r" b="b" t="t" l="l"/>
              <a:pathLst>
                <a:path h="1219200" w="4194048">
                  <a:moveTo>
                    <a:pt x="0" y="0"/>
                  </a:moveTo>
                  <a:lnTo>
                    <a:pt x="4194048" y="0"/>
                  </a:lnTo>
                  <a:lnTo>
                    <a:pt x="4194048" y="1219200"/>
                  </a:lnTo>
                  <a:lnTo>
                    <a:pt x="0" y="1219200"/>
                  </a:lnTo>
                  <a:close/>
                </a:path>
              </a:pathLst>
            </a:custGeom>
            <a:blipFill>
              <a:blip r:embed="rId2">
                <a:alphaModFix amt="0"/>
              </a:blip>
              <a:stretch>
                <a:fillRect l="0" t="-17028" r="0" b="-17028"/>
              </a:stretch>
            </a:blipFill>
          </p:spPr>
        </p:sp>
        <p:sp>
          <p:nvSpPr>
            <p:cNvPr name="TextBox 67" id="67"/>
            <p:cNvSpPr txBox="true"/>
            <p:nvPr/>
          </p:nvSpPr>
          <p:spPr>
            <a:xfrm>
              <a:off x="0" y="-76200"/>
              <a:ext cx="4194048"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68" id="68"/>
          <p:cNvGrpSpPr/>
          <p:nvPr/>
        </p:nvGrpSpPr>
        <p:grpSpPr>
          <a:xfrm rot="0">
            <a:off x="7662672" y="5815584"/>
            <a:ext cx="2779776" cy="3108960"/>
            <a:chOff x="0" y="0"/>
            <a:chExt cx="3706368" cy="4145280"/>
          </a:xfrm>
        </p:grpSpPr>
        <p:sp>
          <p:nvSpPr>
            <p:cNvPr name="Freeform 69" id="69"/>
            <p:cNvSpPr/>
            <p:nvPr/>
          </p:nvSpPr>
          <p:spPr>
            <a:xfrm flipH="false" flipV="false" rot="0">
              <a:off x="0" y="0"/>
              <a:ext cx="3706368" cy="4145280"/>
            </a:xfrm>
            <a:custGeom>
              <a:avLst/>
              <a:gdLst/>
              <a:ahLst/>
              <a:cxnLst/>
              <a:rect r="r" b="b" t="t" l="l"/>
              <a:pathLst>
                <a:path h="4145280" w="3706368">
                  <a:moveTo>
                    <a:pt x="0" y="0"/>
                  </a:moveTo>
                  <a:lnTo>
                    <a:pt x="3706368" y="0"/>
                  </a:lnTo>
                  <a:lnTo>
                    <a:pt x="3706368" y="4145280"/>
                  </a:lnTo>
                  <a:lnTo>
                    <a:pt x="0" y="4145280"/>
                  </a:lnTo>
                  <a:close/>
                </a:path>
              </a:pathLst>
            </a:custGeom>
            <a:blipFill>
              <a:blip r:embed="rId2">
                <a:alphaModFix amt="0"/>
              </a:blip>
              <a:stretch>
                <a:fillRect l="-93497" t="0" r="-93497" b="0"/>
              </a:stretch>
            </a:blipFill>
          </p:spPr>
        </p:sp>
        <p:sp>
          <p:nvSpPr>
            <p:cNvPr name="TextBox 70" id="70"/>
            <p:cNvSpPr txBox="true"/>
            <p:nvPr/>
          </p:nvSpPr>
          <p:spPr>
            <a:xfrm>
              <a:off x="0" y="-47625"/>
              <a:ext cx="3706368" cy="4192905"/>
            </a:xfrm>
            <a:prstGeom prst="rect">
              <a:avLst/>
            </a:prstGeom>
          </p:spPr>
          <p:txBody>
            <a:bodyPr anchor="ctr" rtlCol="false" tIns="0" lIns="0" bIns="0" rIns="0"/>
            <a:lstStyle/>
            <a:p>
              <a:pPr algn="ctr">
                <a:lnSpc>
                  <a:spcPts val="2640"/>
                </a:lnSpc>
              </a:pPr>
              <a:r>
                <a:rPr lang="en-US" sz="2200">
                  <a:solidFill>
                    <a:srgbClr val="1E3A5F"/>
                  </a:solidFill>
                  <a:latin typeface="Calibri (MS)"/>
                  <a:ea typeface="Calibri (MS)"/>
                  <a:cs typeface="Calibri (MS)"/>
                  <a:sym typeface="Calibri (MS)"/>
                </a:rPr>
                <a:t>Keberagaman jenis</a:t>
              </a:r>
            </a:p>
            <a:p>
              <a:pPr algn="ctr">
                <a:lnSpc>
                  <a:spcPts val="2640"/>
                </a:lnSpc>
              </a:pPr>
              <a:r>
                <a:rPr lang="en-US" sz="2200">
                  <a:solidFill>
                    <a:srgbClr val="1E3A5F"/>
                  </a:solidFill>
                  <a:latin typeface="Calibri (MS)"/>
                  <a:ea typeface="Calibri (MS)"/>
                  <a:cs typeface="Calibri (MS)"/>
                  <a:sym typeface="Calibri (MS)"/>
                </a:rPr>
                <a:t>dan format data</a:t>
              </a:r>
            </a:p>
          </p:txBody>
        </p:sp>
      </p:grpSp>
      <p:grpSp>
        <p:nvGrpSpPr>
          <p:cNvPr name="Group 71" id="71"/>
          <p:cNvGrpSpPr/>
          <p:nvPr/>
        </p:nvGrpSpPr>
        <p:grpSpPr>
          <a:xfrm rot="0">
            <a:off x="10886951" y="2639063"/>
            <a:ext cx="3170939" cy="6700523"/>
            <a:chOff x="0" y="0"/>
            <a:chExt cx="4227919" cy="8934031"/>
          </a:xfrm>
        </p:grpSpPr>
        <p:sp>
          <p:nvSpPr>
            <p:cNvPr name="Freeform 72" id="72"/>
            <p:cNvSpPr/>
            <p:nvPr/>
          </p:nvSpPr>
          <p:spPr>
            <a:xfrm flipH="false" flipV="false" rot="0">
              <a:off x="16891" y="16891"/>
              <a:ext cx="4194048" cy="8900160"/>
            </a:xfrm>
            <a:custGeom>
              <a:avLst/>
              <a:gdLst/>
              <a:ahLst/>
              <a:cxnLst/>
              <a:rect r="r" b="b" t="t" l="l"/>
              <a:pathLst>
                <a:path h="8900160" w="4194048">
                  <a:moveTo>
                    <a:pt x="0" y="0"/>
                  </a:moveTo>
                  <a:lnTo>
                    <a:pt x="4194048" y="0"/>
                  </a:lnTo>
                  <a:lnTo>
                    <a:pt x="4194048" y="8900160"/>
                  </a:lnTo>
                  <a:lnTo>
                    <a:pt x="0" y="8900160"/>
                  </a:lnTo>
                  <a:close/>
                </a:path>
              </a:pathLst>
            </a:custGeom>
            <a:solidFill>
              <a:srgbClr val="FFFFFF"/>
            </a:solidFill>
          </p:spPr>
        </p:sp>
        <p:sp>
          <p:nvSpPr>
            <p:cNvPr name="Freeform 73" id="73"/>
            <p:cNvSpPr/>
            <p:nvPr/>
          </p:nvSpPr>
          <p:spPr>
            <a:xfrm flipH="false" flipV="false" rot="0">
              <a:off x="0" y="0"/>
              <a:ext cx="4227830" cy="8933942"/>
            </a:xfrm>
            <a:custGeom>
              <a:avLst/>
              <a:gdLst/>
              <a:ahLst/>
              <a:cxnLst/>
              <a:rect r="r" b="b" t="t" l="l"/>
              <a:pathLst>
                <a:path h="8933942" w="4227830">
                  <a:moveTo>
                    <a:pt x="16891" y="0"/>
                  </a:moveTo>
                  <a:lnTo>
                    <a:pt x="4210939" y="0"/>
                  </a:lnTo>
                  <a:cubicBezTo>
                    <a:pt x="4220337" y="0"/>
                    <a:pt x="4227830" y="7620"/>
                    <a:pt x="4227830" y="16891"/>
                  </a:cubicBezTo>
                  <a:lnTo>
                    <a:pt x="4227830" y="8917051"/>
                  </a:lnTo>
                  <a:cubicBezTo>
                    <a:pt x="4227830" y="8926449"/>
                    <a:pt x="4220210" y="8933942"/>
                    <a:pt x="4210939" y="8933942"/>
                  </a:cubicBezTo>
                  <a:lnTo>
                    <a:pt x="16891" y="8933942"/>
                  </a:lnTo>
                  <a:cubicBezTo>
                    <a:pt x="7493" y="8933942"/>
                    <a:pt x="0" y="8926322"/>
                    <a:pt x="0" y="8917051"/>
                  </a:cubicBezTo>
                  <a:lnTo>
                    <a:pt x="0" y="16891"/>
                  </a:lnTo>
                  <a:cubicBezTo>
                    <a:pt x="0" y="7620"/>
                    <a:pt x="7620" y="0"/>
                    <a:pt x="16891" y="0"/>
                  </a:cubicBezTo>
                  <a:moveTo>
                    <a:pt x="16891" y="33909"/>
                  </a:moveTo>
                  <a:lnTo>
                    <a:pt x="16891" y="16891"/>
                  </a:lnTo>
                  <a:lnTo>
                    <a:pt x="33909" y="16891"/>
                  </a:lnTo>
                  <a:lnTo>
                    <a:pt x="33909" y="8917051"/>
                  </a:lnTo>
                  <a:lnTo>
                    <a:pt x="16891" y="8917051"/>
                  </a:lnTo>
                  <a:lnTo>
                    <a:pt x="16891" y="8900160"/>
                  </a:lnTo>
                  <a:lnTo>
                    <a:pt x="4210939" y="8900160"/>
                  </a:lnTo>
                  <a:lnTo>
                    <a:pt x="4210939" y="8917051"/>
                  </a:lnTo>
                  <a:lnTo>
                    <a:pt x="4194048" y="8917051"/>
                  </a:lnTo>
                  <a:lnTo>
                    <a:pt x="4194048" y="16891"/>
                  </a:lnTo>
                  <a:lnTo>
                    <a:pt x="4210939" y="16891"/>
                  </a:lnTo>
                  <a:lnTo>
                    <a:pt x="4210939" y="33909"/>
                  </a:lnTo>
                  <a:lnTo>
                    <a:pt x="16891" y="33909"/>
                  </a:lnTo>
                  <a:close/>
                </a:path>
              </a:pathLst>
            </a:custGeom>
            <a:solidFill>
              <a:srgbClr val="E74C3C"/>
            </a:solidFill>
          </p:spPr>
        </p:sp>
      </p:grpSp>
      <p:grpSp>
        <p:nvGrpSpPr>
          <p:cNvPr name="Group 74" id="74"/>
          <p:cNvGrpSpPr/>
          <p:nvPr/>
        </p:nvGrpSpPr>
        <p:grpSpPr>
          <a:xfrm rot="0">
            <a:off x="10886951" y="2639063"/>
            <a:ext cx="3170939" cy="1945643"/>
            <a:chOff x="0" y="0"/>
            <a:chExt cx="4227919" cy="2594191"/>
          </a:xfrm>
        </p:grpSpPr>
        <p:sp>
          <p:nvSpPr>
            <p:cNvPr name="Freeform 75" id="75"/>
            <p:cNvSpPr/>
            <p:nvPr/>
          </p:nvSpPr>
          <p:spPr>
            <a:xfrm flipH="false" flipV="false" rot="0">
              <a:off x="16891" y="16891"/>
              <a:ext cx="4194048" cy="2560320"/>
            </a:xfrm>
            <a:custGeom>
              <a:avLst/>
              <a:gdLst/>
              <a:ahLst/>
              <a:cxnLst/>
              <a:rect r="r" b="b" t="t" l="l"/>
              <a:pathLst>
                <a:path h="2560320" w="4194048">
                  <a:moveTo>
                    <a:pt x="0" y="0"/>
                  </a:moveTo>
                  <a:lnTo>
                    <a:pt x="4194048" y="0"/>
                  </a:lnTo>
                  <a:lnTo>
                    <a:pt x="4194048" y="2560320"/>
                  </a:lnTo>
                  <a:lnTo>
                    <a:pt x="0" y="2560320"/>
                  </a:lnTo>
                  <a:close/>
                </a:path>
              </a:pathLst>
            </a:custGeom>
            <a:solidFill>
              <a:srgbClr val="E74C3C"/>
            </a:solidFill>
          </p:spPr>
        </p:sp>
        <p:sp>
          <p:nvSpPr>
            <p:cNvPr name="Freeform 76" id="76"/>
            <p:cNvSpPr/>
            <p:nvPr/>
          </p:nvSpPr>
          <p:spPr>
            <a:xfrm flipH="false" flipV="false" rot="0">
              <a:off x="0" y="0"/>
              <a:ext cx="4227830" cy="2594102"/>
            </a:xfrm>
            <a:custGeom>
              <a:avLst/>
              <a:gdLst/>
              <a:ahLst/>
              <a:cxnLst/>
              <a:rect r="r" b="b" t="t" l="l"/>
              <a:pathLst>
                <a:path h="2594102" w="4227830">
                  <a:moveTo>
                    <a:pt x="16891" y="0"/>
                  </a:moveTo>
                  <a:lnTo>
                    <a:pt x="4210939" y="0"/>
                  </a:lnTo>
                  <a:cubicBezTo>
                    <a:pt x="4220337" y="0"/>
                    <a:pt x="4227830" y="7620"/>
                    <a:pt x="4227830" y="16891"/>
                  </a:cubicBezTo>
                  <a:lnTo>
                    <a:pt x="4227830" y="2577211"/>
                  </a:lnTo>
                  <a:cubicBezTo>
                    <a:pt x="4227830" y="2586609"/>
                    <a:pt x="4220210" y="2594102"/>
                    <a:pt x="421093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4210939" y="2560320"/>
                  </a:lnTo>
                  <a:lnTo>
                    <a:pt x="4210939" y="2577211"/>
                  </a:lnTo>
                  <a:lnTo>
                    <a:pt x="4194048" y="2577211"/>
                  </a:lnTo>
                  <a:lnTo>
                    <a:pt x="4194048" y="16891"/>
                  </a:lnTo>
                  <a:lnTo>
                    <a:pt x="4210939" y="16891"/>
                  </a:lnTo>
                  <a:lnTo>
                    <a:pt x="4210939" y="33909"/>
                  </a:lnTo>
                  <a:lnTo>
                    <a:pt x="16891" y="33909"/>
                  </a:lnTo>
                  <a:close/>
                </a:path>
              </a:pathLst>
            </a:custGeom>
            <a:solidFill>
              <a:srgbClr val="E74C3C"/>
            </a:solidFill>
          </p:spPr>
        </p:sp>
      </p:grpSp>
      <p:grpSp>
        <p:nvGrpSpPr>
          <p:cNvPr name="Group 77" id="77"/>
          <p:cNvGrpSpPr/>
          <p:nvPr/>
        </p:nvGrpSpPr>
        <p:grpSpPr>
          <a:xfrm rot="0">
            <a:off x="10899648" y="2688336"/>
            <a:ext cx="3145536" cy="1133856"/>
            <a:chOff x="0" y="0"/>
            <a:chExt cx="4194048" cy="1511808"/>
          </a:xfrm>
        </p:grpSpPr>
        <p:sp>
          <p:nvSpPr>
            <p:cNvPr name="Freeform 78" id="78"/>
            <p:cNvSpPr/>
            <p:nvPr/>
          </p:nvSpPr>
          <p:spPr>
            <a:xfrm flipH="false" flipV="false" rot="0">
              <a:off x="0" y="0"/>
              <a:ext cx="4194048" cy="1511808"/>
            </a:xfrm>
            <a:custGeom>
              <a:avLst/>
              <a:gdLst/>
              <a:ahLst/>
              <a:cxnLst/>
              <a:rect r="r" b="b" t="t" l="l"/>
              <a:pathLst>
                <a:path h="1511808" w="4194048">
                  <a:moveTo>
                    <a:pt x="0" y="0"/>
                  </a:moveTo>
                  <a:lnTo>
                    <a:pt x="4194048" y="0"/>
                  </a:lnTo>
                  <a:lnTo>
                    <a:pt x="4194048" y="1511808"/>
                  </a:lnTo>
                  <a:lnTo>
                    <a:pt x="0" y="1511808"/>
                  </a:lnTo>
                  <a:close/>
                </a:path>
              </a:pathLst>
            </a:custGeom>
            <a:blipFill>
              <a:blip r:embed="rId2">
                <a:alphaModFix amt="0"/>
              </a:blip>
              <a:stretch>
                <a:fillRect l="0" t="-4055" r="0" b="-4055"/>
              </a:stretch>
            </a:blipFill>
          </p:spPr>
        </p:sp>
        <p:sp>
          <p:nvSpPr>
            <p:cNvPr name="TextBox 79" id="79"/>
            <p:cNvSpPr txBox="true"/>
            <p:nvPr/>
          </p:nvSpPr>
          <p:spPr>
            <a:xfrm>
              <a:off x="0" y="-133350"/>
              <a:ext cx="4194048" cy="1645158"/>
            </a:xfrm>
            <a:prstGeom prst="rect">
              <a:avLst/>
            </a:prstGeom>
          </p:spPr>
          <p:txBody>
            <a:bodyPr anchor="ctr" rtlCol="false" tIns="0" lIns="0" bIns="0" rIns="0"/>
            <a:lstStyle/>
            <a:p>
              <a:pPr algn="ctr">
                <a:lnSpc>
                  <a:spcPts val="8159"/>
                </a:lnSpc>
              </a:pPr>
              <a:r>
                <a:rPr lang="en-US" sz="6800" b="true">
                  <a:solidFill>
                    <a:srgbClr val="FFFFFF"/>
                  </a:solidFill>
                  <a:latin typeface="Calibri (MS) Bold"/>
                  <a:ea typeface="Calibri (MS) Bold"/>
                  <a:cs typeface="Calibri (MS) Bold"/>
                  <a:sym typeface="Calibri (MS) Bold"/>
                </a:rPr>
                <a:t>V</a:t>
              </a:r>
            </a:p>
          </p:txBody>
        </p:sp>
      </p:grpSp>
      <p:grpSp>
        <p:nvGrpSpPr>
          <p:cNvPr name="Group 80" id="80"/>
          <p:cNvGrpSpPr/>
          <p:nvPr/>
        </p:nvGrpSpPr>
        <p:grpSpPr>
          <a:xfrm rot="0">
            <a:off x="10899648" y="3803904"/>
            <a:ext cx="3145536" cy="640080"/>
            <a:chOff x="0" y="0"/>
            <a:chExt cx="4194048" cy="853440"/>
          </a:xfrm>
        </p:grpSpPr>
        <p:sp>
          <p:nvSpPr>
            <p:cNvPr name="Freeform 81" id="81"/>
            <p:cNvSpPr/>
            <p:nvPr/>
          </p:nvSpPr>
          <p:spPr>
            <a:xfrm flipH="false" flipV="false" rot="0">
              <a:off x="0" y="0"/>
              <a:ext cx="4194048" cy="853440"/>
            </a:xfrm>
            <a:custGeom>
              <a:avLst/>
              <a:gdLst/>
              <a:ahLst/>
              <a:cxnLst/>
              <a:rect r="r" b="b" t="t" l="l"/>
              <a:pathLst>
                <a:path h="853440" w="4194048">
                  <a:moveTo>
                    <a:pt x="0" y="0"/>
                  </a:moveTo>
                  <a:lnTo>
                    <a:pt x="4194048" y="0"/>
                  </a:lnTo>
                  <a:lnTo>
                    <a:pt x="4194048" y="853440"/>
                  </a:lnTo>
                  <a:lnTo>
                    <a:pt x="0" y="853440"/>
                  </a:lnTo>
                  <a:close/>
                </a:path>
              </a:pathLst>
            </a:custGeom>
            <a:blipFill>
              <a:blip r:embed="rId2">
                <a:alphaModFix amt="0"/>
              </a:blip>
              <a:stretch>
                <a:fillRect l="0" t="-45755" r="0" b="-45755"/>
              </a:stretch>
            </a:blipFill>
          </p:spPr>
        </p:sp>
        <p:sp>
          <p:nvSpPr>
            <p:cNvPr name="TextBox 82" id="82"/>
            <p:cNvSpPr txBox="true"/>
            <p:nvPr/>
          </p:nvSpPr>
          <p:spPr>
            <a:xfrm>
              <a:off x="0" y="-38100"/>
              <a:ext cx="4194048" cy="89154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Veracity</a:t>
              </a:r>
            </a:p>
          </p:txBody>
        </p:sp>
      </p:grpSp>
      <p:grpSp>
        <p:nvGrpSpPr>
          <p:cNvPr name="Group 83" id="83"/>
          <p:cNvGrpSpPr/>
          <p:nvPr/>
        </p:nvGrpSpPr>
        <p:grpSpPr>
          <a:xfrm rot="0">
            <a:off x="10899648" y="4791456"/>
            <a:ext cx="3145536" cy="914400"/>
            <a:chOff x="0" y="0"/>
            <a:chExt cx="4194048" cy="1219200"/>
          </a:xfrm>
        </p:grpSpPr>
        <p:sp>
          <p:nvSpPr>
            <p:cNvPr name="Freeform 84" id="84"/>
            <p:cNvSpPr/>
            <p:nvPr/>
          </p:nvSpPr>
          <p:spPr>
            <a:xfrm flipH="false" flipV="false" rot="0">
              <a:off x="0" y="0"/>
              <a:ext cx="4194048" cy="1219200"/>
            </a:xfrm>
            <a:custGeom>
              <a:avLst/>
              <a:gdLst/>
              <a:ahLst/>
              <a:cxnLst/>
              <a:rect r="r" b="b" t="t" l="l"/>
              <a:pathLst>
                <a:path h="1219200" w="4194048">
                  <a:moveTo>
                    <a:pt x="0" y="0"/>
                  </a:moveTo>
                  <a:lnTo>
                    <a:pt x="4194048" y="0"/>
                  </a:lnTo>
                  <a:lnTo>
                    <a:pt x="4194048" y="1219200"/>
                  </a:lnTo>
                  <a:lnTo>
                    <a:pt x="0" y="1219200"/>
                  </a:lnTo>
                  <a:close/>
                </a:path>
              </a:pathLst>
            </a:custGeom>
            <a:blipFill>
              <a:blip r:embed="rId2">
                <a:alphaModFix amt="0"/>
              </a:blip>
              <a:stretch>
                <a:fillRect l="0" t="-17028" r="0" b="-17028"/>
              </a:stretch>
            </a:blipFill>
          </p:spPr>
        </p:sp>
        <p:sp>
          <p:nvSpPr>
            <p:cNvPr name="TextBox 85" id="85"/>
            <p:cNvSpPr txBox="true"/>
            <p:nvPr/>
          </p:nvSpPr>
          <p:spPr>
            <a:xfrm>
              <a:off x="0" y="-76200"/>
              <a:ext cx="4194048"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86" id="86"/>
          <p:cNvGrpSpPr/>
          <p:nvPr/>
        </p:nvGrpSpPr>
        <p:grpSpPr>
          <a:xfrm rot="0">
            <a:off x="11082528" y="5815584"/>
            <a:ext cx="2779776" cy="3108960"/>
            <a:chOff x="0" y="0"/>
            <a:chExt cx="3706368" cy="4145280"/>
          </a:xfrm>
        </p:grpSpPr>
        <p:sp>
          <p:nvSpPr>
            <p:cNvPr name="Freeform 87" id="87"/>
            <p:cNvSpPr/>
            <p:nvPr/>
          </p:nvSpPr>
          <p:spPr>
            <a:xfrm flipH="false" flipV="false" rot="0">
              <a:off x="0" y="0"/>
              <a:ext cx="3706368" cy="4145280"/>
            </a:xfrm>
            <a:custGeom>
              <a:avLst/>
              <a:gdLst/>
              <a:ahLst/>
              <a:cxnLst/>
              <a:rect r="r" b="b" t="t" l="l"/>
              <a:pathLst>
                <a:path h="4145280" w="3706368">
                  <a:moveTo>
                    <a:pt x="0" y="0"/>
                  </a:moveTo>
                  <a:lnTo>
                    <a:pt x="3706368" y="0"/>
                  </a:lnTo>
                  <a:lnTo>
                    <a:pt x="3706368" y="4145280"/>
                  </a:lnTo>
                  <a:lnTo>
                    <a:pt x="0" y="4145280"/>
                  </a:lnTo>
                  <a:close/>
                </a:path>
              </a:pathLst>
            </a:custGeom>
            <a:blipFill>
              <a:blip r:embed="rId2">
                <a:alphaModFix amt="0"/>
              </a:blip>
              <a:stretch>
                <a:fillRect l="-93497" t="0" r="-93497" b="0"/>
              </a:stretch>
            </a:blipFill>
          </p:spPr>
        </p:sp>
        <p:sp>
          <p:nvSpPr>
            <p:cNvPr name="TextBox 88" id="88"/>
            <p:cNvSpPr txBox="true"/>
            <p:nvPr/>
          </p:nvSpPr>
          <p:spPr>
            <a:xfrm>
              <a:off x="0" y="-47625"/>
              <a:ext cx="3706368" cy="4192905"/>
            </a:xfrm>
            <a:prstGeom prst="rect">
              <a:avLst/>
            </a:prstGeom>
          </p:spPr>
          <p:txBody>
            <a:bodyPr anchor="ctr" rtlCol="false" tIns="0" lIns="0" bIns="0" rIns="0"/>
            <a:lstStyle/>
            <a:p>
              <a:pPr algn="ctr">
                <a:lnSpc>
                  <a:spcPts val="2640"/>
                </a:lnSpc>
              </a:pPr>
              <a:r>
                <a:rPr lang="en-US" sz="2200">
                  <a:solidFill>
                    <a:srgbClr val="1E3A5F"/>
                  </a:solidFill>
                  <a:latin typeface="Calibri (MS)"/>
                  <a:ea typeface="Calibri (MS)"/>
                  <a:cs typeface="Calibri (MS)"/>
                  <a:sym typeface="Calibri (MS)"/>
                </a:rPr>
                <a:t>Keakuratan &amp;</a:t>
              </a:r>
            </a:p>
            <a:p>
              <a:pPr algn="ctr">
                <a:lnSpc>
                  <a:spcPts val="2640"/>
                </a:lnSpc>
              </a:pPr>
              <a:r>
                <a:rPr lang="en-US" sz="2200">
                  <a:solidFill>
                    <a:srgbClr val="1E3A5F"/>
                  </a:solidFill>
                  <a:latin typeface="Calibri (MS)"/>
                  <a:ea typeface="Calibri (MS)"/>
                  <a:cs typeface="Calibri (MS)"/>
                  <a:sym typeface="Calibri (MS)"/>
                </a:rPr>
                <a:t>kepercayaan data</a:t>
              </a:r>
            </a:p>
          </p:txBody>
        </p:sp>
      </p:grpSp>
      <p:grpSp>
        <p:nvGrpSpPr>
          <p:cNvPr name="Group 89" id="89"/>
          <p:cNvGrpSpPr/>
          <p:nvPr/>
        </p:nvGrpSpPr>
        <p:grpSpPr>
          <a:xfrm rot="0">
            <a:off x="14306807" y="2639063"/>
            <a:ext cx="3170939" cy="6700523"/>
            <a:chOff x="0" y="0"/>
            <a:chExt cx="4227919" cy="8934031"/>
          </a:xfrm>
        </p:grpSpPr>
        <p:sp>
          <p:nvSpPr>
            <p:cNvPr name="Freeform 90" id="90"/>
            <p:cNvSpPr/>
            <p:nvPr/>
          </p:nvSpPr>
          <p:spPr>
            <a:xfrm flipH="false" flipV="false" rot="0">
              <a:off x="16891" y="16891"/>
              <a:ext cx="4194048" cy="8900160"/>
            </a:xfrm>
            <a:custGeom>
              <a:avLst/>
              <a:gdLst/>
              <a:ahLst/>
              <a:cxnLst/>
              <a:rect r="r" b="b" t="t" l="l"/>
              <a:pathLst>
                <a:path h="8900160" w="4194048">
                  <a:moveTo>
                    <a:pt x="0" y="0"/>
                  </a:moveTo>
                  <a:lnTo>
                    <a:pt x="4194048" y="0"/>
                  </a:lnTo>
                  <a:lnTo>
                    <a:pt x="4194048" y="8900160"/>
                  </a:lnTo>
                  <a:lnTo>
                    <a:pt x="0" y="8900160"/>
                  </a:lnTo>
                  <a:close/>
                </a:path>
              </a:pathLst>
            </a:custGeom>
            <a:solidFill>
              <a:srgbClr val="FFFFFF"/>
            </a:solidFill>
          </p:spPr>
        </p:sp>
        <p:sp>
          <p:nvSpPr>
            <p:cNvPr name="Freeform 91" id="91"/>
            <p:cNvSpPr/>
            <p:nvPr/>
          </p:nvSpPr>
          <p:spPr>
            <a:xfrm flipH="false" flipV="false" rot="0">
              <a:off x="0" y="0"/>
              <a:ext cx="4227830" cy="8933942"/>
            </a:xfrm>
            <a:custGeom>
              <a:avLst/>
              <a:gdLst/>
              <a:ahLst/>
              <a:cxnLst/>
              <a:rect r="r" b="b" t="t" l="l"/>
              <a:pathLst>
                <a:path h="8933942" w="4227830">
                  <a:moveTo>
                    <a:pt x="16891" y="0"/>
                  </a:moveTo>
                  <a:lnTo>
                    <a:pt x="4210939" y="0"/>
                  </a:lnTo>
                  <a:cubicBezTo>
                    <a:pt x="4220337" y="0"/>
                    <a:pt x="4227830" y="7620"/>
                    <a:pt x="4227830" y="16891"/>
                  </a:cubicBezTo>
                  <a:lnTo>
                    <a:pt x="4227830" y="8917051"/>
                  </a:lnTo>
                  <a:cubicBezTo>
                    <a:pt x="4227830" y="8926449"/>
                    <a:pt x="4220210" y="8933942"/>
                    <a:pt x="4210939" y="8933942"/>
                  </a:cubicBezTo>
                  <a:lnTo>
                    <a:pt x="16891" y="8933942"/>
                  </a:lnTo>
                  <a:cubicBezTo>
                    <a:pt x="7493" y="8933942"/>
                    <a:pt x="0" y="8926322"/>
                    <a:pt x="0" y="8917051"/>
                  </a:cubicBezTo>
                  <a:lnTo>
                    <a:pt x="0" y="16891"/>
                  </a:lnTo>
                  <a:cubicBezTo>
                    <a:pt x="0" y="7620"/>
                    <a:pt x="7620" y="0"/>
                    <a:pt x="16891" y="0"/>
                  </a:cubicBezTo>
                  <a:moveTo>
                    <a:pt x="16891" y="33909"/>
                  </a:moveTo>
                  <a:lnTo>
                    <a:pt x="16891" y="16891"/>
                  </a:lnTo>
                  <a:lnTo>
                    <a:pt x="33909" y="16891"/>
                  </a:lnTo>
                  <a:lnTo>
                    <a:pt x="33909" y="8917051"/>
                  </a:lnTo>
                  <a:lnTo>
                    <a:pt x="16891" y="8917051"/>
                  </a:lnTo>
                  <a:lnTo>
                    <a:pt x="16891" y="8900160"/>
                  </a:lnTo>
                  <a:lnTo>
                    <a:pt x="4210939" y="8900160"/>
                  </a:lnTo>
                  <a:lnTo>
                    <a:pt x="4210939" y="8917051"/>
                  </a:lnTo>
                  <a:lnTo>
                    <a:pt x="4194048" y="8917051"/>
                  </a:lnTo>
                  <a:lnTo>
                    <a:pt x="4194048" y="16891"/>
                  </a:lnTo>
                  <a:lnTo>
                    <a:pt x="4210939" y="16891"/>
                  </a:lnTo>
                  <a:lnTo>
                    <a:pt x="4210939" y="33909"/>
                  </a:lnTo>
                  <a:lnTo>
                    <a:pt x="16891" y="33909"/>
                  </a:lnTo>
                  <a:close/>
                </a:path>
              </a:pathLst>
            </a:custGeom>
            <a:solidFill>
              <a:srgbClr val="2ECC71"/>
            </a:solidFill>
          </p:spPr>
        </p:sp>
      </p:grpSp>
      <p:grpSp>
        <p:nvGrpSpPr>
          <p:cNvPr name="Group 92" id="92"/>
          <p:cNvGrpSpPr/>
          <p:nvPr/>
        </p:nvGrpSpPr>
        <p:grpSpPr>
          <a:xfrm rot="0">
            <a:off x="14306807" y="2639063"/>
            <a:ext cx="3170939" cy="1945643"/>
            <a:chOff x="0" y="0"/>
            <a:chExt cx="4227919" cy="2594191"/>
          </a:xfrm>
        </p:grpSpPr>
        <p:sp>
          <p:nvSpPr>
            <p:cNvPr name="Freeform 93" id="93"/>
            <p:cNvSpPr/>
            <p:nvPr/>
          </p:nvSpPr>
          <p:spPr>
            <a:xfrm flipH="false" flipV="false" rot="0">
              <a:off x="16891" y="16891"/>
              <a:ext cx="4194048" cy="2560320"/>
            </a:xfrm>
            <a:custGeom>
              <a:avLst/>
              <a:gdLst/>
              <a:ahLst/>
              <a:cxnLst/>
              <a:rect r="r" b="b" t="t" l="l"/>
              <a:pathLst>
                <a:path h="2560320" w="4194048">
                  <a:moveTo>
                    <a:pt x="0" y="0"/>
                  </a:moveTo>
                  <a:lnTo>
                    <a:pt x="4194048" y="0"/>
                  </a:lnTo>
                  <a:lnTo>
                    <a:pt x="4194048" y="2560320"/>
                  </a:lnTo>
                  <a:lnTo>
                    <a:pt x="0" y="2560320"/>
                  </a:lnTo>
                  <a:close/>
                </a:path>
              </a:pathLst>
            </a:custGeom>
            <a:solidFill>
              <a:srgbClr val="2ECC71"/>
            </a:solidFill>
          </p:spPr>
        </p:sp>
        <p:sp>
          <p:nvSpPr>
            <p:cNvPr name="Freeform 94" id="94"/>
            <p:cNvSpPr/>
            <p:nvPr/>
          </p:nvSpPr>
          <p:spPr>
            <a:xfrm flipH="false" flipV="false" rot="0">
              <a:off x="0" y="0"/>
              <a:ext cx="4227830" cy="2594102"/>
            </a:xfrm>
            <a:custGeom>
              <a:avLst/>
              <a:gdLst/>
              <a:ahLst/>
              <a:cxnLst/>
              <a:rect r="r" b="b" t="t" l="l"/>
              <a:pathLst>
                <a:path h="2594102" w="4227830">
                  <a:moveTo>
                    <a:pt x="16891" y="0"/>
                  </a:moveTo>
                  <a:lnTo>
                    <a:pt x="4210939" y="0"/>
                  </a:lnTo>
                  <a:cubicBezTo>
                    <a:pt x="4220337" y="0"/>
                    <a:pt x="4227830" y="7620"/>
                    <a:pt x="4227830" y="16891"/>
                  </a:cubicBezTo>
                  <a:lnTo>
                    <a:pt x="4227830" y="2577211"/>
                  </a:lnTo>
                  <a:cubicBezTo>
                    <a:pt x="4227830" y="2586609"/>
                    <a:pt x="4220210" y="2594102"/>
                    <a:pt x="421093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4210939" y="2560320"/>
                  </a:lnTo>
                  <a:lnTo>
                    <a:pt x="4210939" y="2577211"/>
                  </a:lnTo>
                  <a:lnTo>
                    <a:pt x="4194048" y="2577211"/>
                  </a:lnTo>
                  <a:lnTo>
                    <a:pt x="4194048" y="16891"/>
                  </a:lnTo>
                  <a:lnTo>
                    <a:pt x="4210939" y="16891"/>
                  </a:lnTo>
                  <a:lnTo>
                    <a:pt x="4210939" y="33909"/>
                  </a:lnTo>
                  <a:lnTo>
                    <a:pt x="16891" y="33909"/>
                  </a:lnTo>
                  <a:close/>
                </a:path>
              </a:pathLst>
            </a:custGeom>
            <a:solidFill>
              <a:srgbClr val="2ECC71"/>
            </a:solidFill>
          </p:spPr>
        </p:sp>
      </p:grpSp>
      <p:grpSp>
        <p:nvGrpSpPr>
          <p:cNvPr name="Group 95" id="95"/>
          <p:cNvGrpSpPr/>
          <p:nvPr/>
        </p:nvGrpSpPr>
        <p:grpSpPr>
          <a:xfrm rot="0">
            <a:off x="14319504" y="2688336"/>
            <a:ext cx="3145536" cy="1133856"/>
            <a:chOff x="0" y="0"/>
            <a:chExt cx="4194048" cy="1511808"/>
          </a:xfrm>
        </p:grpSpPr>
        <p:sp>
          <p:nvSpPr>
            <p:cNvPr name="Freeform 96" id="96"/>
            <p:cNvSpPr/>
            <p:nvPr/>
          </p:nvSpPr>
          <p:spPr>
            <a:xfrm flipH="false" flipV="false" rot="0">
              <a:off x="0" y="0"/>
              <a:ext cx="4194048" cy="1511808"/>
            </a:xfrm>
            <a:custGeom>
              <a:avLst/>
              <a:gdLst/>
              <a:ahLst/>
              <a:cxnLst/>
              <a:rect r="r" b="b" t="t" l="l"/>
              <a:pathLst>
                <a:path h="1511808" w="4194048">
                  <a:moveTo>
                    <a:pt x="0" y="0"/>
                  </a:moveTo>
                  <a:lnTo>
                    <a:pt x="4194048" y="0"/>
                  </a:lnTo>
                  <a:lnTo>
                    <a:pt x="4194048" y="1511808"/>
                  </a:lnTo>
                  <a:lnTo>
                    <a:pt x="0" y="1511808"/>
                  </a:lnTo>
                  <a:close/>
                </a:path>
              </a:pathLst>
            </a:custGeom>
            <a:blipFill>
              <a:blip r:embed="rId2">
                <a:alphaModFix amt="0"/>
              </a:blip>
              <a:stretch>
                <a:fillRect l="0" t="-4055" r="0" b="-4055"/>
              </a:stretch>
            </a:blipFill>
          </p:spPr>
        </p:sp>
        <p:sp>
          <p:nvSpPr>
            <p:cNvPr name="TextBox 97" id="97"/>
            <p:cNvSpPr txBox="true"/>
            <p:nvPr/>
          </p:nvSpPr>
          <p:spPr>
            <a:xfrm>
              <a:off x="0" y="-133350"/>
              <a:ext cx="4194048" cy="1645158"/>
            </a:xfrm>
            <a:prstGeom prst="rect">
              <a:avLst/>
            </a:prstGeom>
          </p:spPr>
          <p:txBody>
            <a:bodyPr anchor="ctr" rtlCol="false" tIns="0" lIns="0" bIns="0" rIns="0"/>
            <a:lstStyle/>
            <a:p>
              <a:pPr algn="ctr">
                <a:lnSpc>
                  <a:spcPts val="8159"/>
                </a:lnSpc>
              </a:pPr>
              <a:r>
                <a:rPr lang="en-US" sz="6800" b="true">
                  <a:solidFill>
                    <a:srgbClr val="FFFFFF"/>
                  </a:solidFill>
                  <a:latin typeface="Calibri (MS) Bold"/>
                  <a:ea typeface="Calibri (MS) Bold"/>
                  <a:cs typeface="Calibri (MS) Bold"/>
                  <a:sym typeface="Calibri (MS) Bold"/>
                </a:rPr>
                <a:t>V</a:t>
              </a:r>
            </a:p>
          </p:txBody>
        </p:sp>
      </p:grpSp>
      <p:grpSp>
        <p:nvGrpSpPr>
          <p:cNvPr name="Group 98" id="98"/>
          <p:cNvGrpSpPr/>
          <p:nvPr/>
        </p:nvGrpSpPr>
        <p:grpSpPr>
          <a:xfrm rot="0">
            <a:off x="14319504" y="3803904"/>
            <a:ext cx="3145536" cy="640080"/>
            <a:chOff x="0" y="0"/>
            <a:chExt cx="4194048" cy="853440"/>
          </a:xfrm>
        </p:grpSpPr>
        <p:sp>
          <p:nvSpPr>
            <p:cNvPr name="Freeform 99" id="99"/>
            <p:cNvSpPr/>
            <p:nvPr/>
          </p:nvSpPr>
          <p:spPr>
            <a:xfrm flipH="false" flipV="false" rot="0">
              <a:off x="0" y="0"/>
              <a:ext cx="4194048" cy="853440"/>
            </a:xfrm>
            <a:custGeom>
              <a:avLst/>
              <a:gdLst/>
              <a:ahLst/>
              <a:cxnLst/>
              <a:rect r="r" b="b" t="t" l="l"/>
              <a:pathLst>
                <a:path h="853440" w="4194048">
                  <a:moveTo>
                    <a:pt x="0" y="0"/>
                  </a:moveTo>
                  <a:lnTo>
                    <a:pt x="4194048" y="0"/>
                  </a:lnTo>
                  <a:lnTo>
                    <a:pt x="4194048" y="853440"/>
                  </a:lnTo>
                  <a:lnTo>
                    <a:pt x="0" y="853440"/>
                  </a:lnTo>
                  <a:close/>
                </a:path>
              </a:pathLst>
            </a:custGeom>
            <a:blipFill>
              <a:blip r:embed="rId2">
                <a:alphaModFix amt="0"/>
              </a:blip>
              <a:stretch>
                <a:fillRect l="0" t="-45755" r="0" b="-45755"/>
              </a:stretch>
            </a:blipFill>
          </p:spPr>
        </p:sp>
        <p:sp>
          <p:nvSpPr>
            <p:cNvPr name="TextBox 100" id="100"/>
            <p:cNvSpPr txBox="true"/>
            <p:nvPr/>
          </p:nvSpPr>
          <p:spPr>
            <a:xfrm>
              <a:off x="0" y="-38100"/>
              <a:ext cx="4194048" cy="89154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Value</a:t>
              </a:r>
            </a:p>
          </p:txBody>
        </p:sp>
      </p:grpSp>
      <p:grpSp>
        <p:nvGrpSpPr>
          <p:cNvPr name="Group 101" id="101"/>
          <p:cNvGrpSpPr/>
          <p:nvPr/>
        </p:nvGrpSpPr>
        <p:grpSpPr>
          <a:xfrm rot="0">
            <a:off x="14319504" y="4791456"/>
            <a:ext cx="3145536" cy="914400"/>
            <a:chOff x="0" y="0"/>
            <a:chExt cx="4194048" cy="1219200"/>
          </a:xfrm>
        </p:grpSpPr>
        <p:sp>
          <p:nvSpPr>
            <p:cNvPr name="Freeform 102" id="102"/>
            <p:cNvSpPr/>
            <p:nvPr/>
          </p:nvSpPr>
          <p:spPr>
            <a:xfrm flipH="false" flipV="false" rot="0">
              <a:off x="0" y="0"/>
              <a:ext cx="4194048" cy="1219200"/>
            </a:xfrm>
            <a:custGeom>
              <a:avLst/>
              <a:gdLst/>
              <a:ahLst/>
              <a:cxnLst/>
              <a:rect r="r" b="b" t="t" l="l"/>
              <a:pathLst>
                <a:path h="1219200" w="4194048">
                  <a:moveTo>
                    <a:pt x="0" y="0"/>
                  </a:moveTo>
                  <a:lnTo>
                    <a:pt x="4194048" y="0"/>
                  </a:lnTo>
                  <a:lnTo>
                    <a:pt x="4194048" y="1219200"/>
                  </a:lnTo>
                  <a:lnTo>
                    <a:pt x="0" y="1219200"/>
                  </a:lnTo>
                  <a:close/>
                </a:path>
              </a:pathLst>
            </a:custGeom>
            <a:blipFill>
              <a:blip r:embed="rId2">
                <a:alphaModFix amt="0"/>
              </a:blip>
              <a:stretch>
                <a:fillRect l="0" t="-17028" r="0" b="-17028"/>
              </a:stretch>
            </a:blipFill>
          </p:spPr>
        </p:sp>
        <p:sp>
          <p:nvSpPr>
            <p:cNvPr name="TextBox 103" id="103"/>
            <p:cNvSpPr txBox="true"/>
            <p:nvPr/>
          </p:nvSpPr>
          <p:spPr>
            <a:xfrm>
              <a:off x="0" y="-76200"/>
              <a:ext cx="4194048"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104" id="104"/>
          <p:cNvGrpSpPr/>
          <p:nvPr/>
        </p:nvGrpSpPr>
        <p:grpSpPr>
          <a:xfrm rot="0">
            <a:off x="14502384" y="5815584"/>
            <a:ext cx="2779776" cy="3108960"/>
            <a:chOff x="0" y="0"/>
            <a:chExt cx="3706368" cy="4145280"/>
          </a:xfrm>
        </p:grpSpPr>
        <p:sp>
          <p:nvSpPr>
            <p:cNvPr name="Freeform 105" id="105"/>
            <p:cNvSpPr/>
            <p:nvPr/>
          </p:nvSpPr>
          <p:spPr>
            <a:xfrm flipH="false" flipV="false" rot="0">
              <a:off x="0" y="0"/>
              <a:ext cx="3706368" cy="4145280"/>
            </a:xfrm>
            <a:custGeom>
              <a:avLst/>
              <a:gdLst/>
              <a:ahLst/>
              <a:cxnLst/>
              <a:rect r="r" b="b" t="t" l="l"/>
              <a:pathLst>
                <a:path h="4145280" w="3706368">
                  <a:moveTo>
                    <a:pt x="0" y="0"/>
                  </a:moveTo>
                  <a:lnTo>
                    <a:pt x="3706368" y="0"/>
                  </a:lnTo>
                  <a:lnTo>
                    <a:pt x="3706368" y="4145280"/>
                  </a:lnTo>
                  <a:lnTo>
                    <a:pt x="0" y="4145280"/>
                  </a:lnTo>
                  <a:close/>
                </a:path>
              </a:pathLst>
            </a:custGeom>
            <a:blipFill>
              <a:blip r:embed="rId2">
                <a:alphaModFix amt="0"/>
              </a:blip>
              <a:stretch>
                <a:fillRect l="-93497" t="0" r="-93497" b="0"/>
              </a:stretch>
            </a:blipFill>
          </p:spPr>
        </p:sp>
        <p:sp>
          <p:nvSpPr>
            <p:cNvPr name="TextBox 106" id="106"/>
            <p:cNvSpPr txBox="true"/>
            <p:nvPr/>
          </p:nvSpPr>
          <p:spPr>
            <a:xfrm>
              <a:off x="0" y="-47625"/>
              <a:ext cx="3706368" cy="4192905"/>
            </a:xfrm>
            <a:prstGeom prst="rect">
              <a:avLst/>
            </a:prstGeom>
          </p:spPr>
          <p:txBody>
            <a:bodyPr anchor="ctr" rtlCol="false" tIns="0" lIns="0" bIns="0" rIns="0"/>
            <a:lstStyle/>
            <a:p>
              <a:pPr algn="ctr">
                <a:lnSpc>
                  <a:spcPts val="2640"/>
                </a:lnSpc>
              </a:pPr>
              <a:r>
                <a:rPr lang="en-US" sz="2200">
                  <a:solidFill>
                    <a:srgbClr val="1E3A5F"/>
                  </a:solidFill>
                  <a:latin typeface="Calibri (MS)"/>
                  <a:ea typeface="Calibri (MS)"/>
                  <a:cs typeface="Calibri (MS)"/>
                  <a:sym typeface="Calibri (MS)"/>
                </a:rPr>
                <a:t>Nilai &amp; manfaat</a:t>
              </a:r>
            </a:p>
            <a:p>
              <a:pPr algn="ctr">
                <a:lnSpc>
                  <a:spcPts val="2640"/>
                </a:lnSpc>
              </a:pPr>
              <a:r>
                <a:rPr lang="en-US" sz="2200">
                  <a:solidFill>
                    <a:srgbClr val="1E3A5F"/>
                  </a:solidFill>
                  <a:latin typeface="Calibri (MS)"/>
                  <a:ea typeface="Calibri (MS)"/>
                  <a:cs typeface="Calibri (MS)"/>
                  <a:sym typeface="Calibri (MS)"/>
                </a:rPr>
                <a:t>yang dihasilkan</a:t>
              </a:r>
            </a:p>
          </p:txBody>
        </p:sp>
      </p:grpSp>
      <p:grpSp>
        <p:nvGrpSpPr>
          <p:cNvPr name="Group 107" id="107"/>
          <p:cNvGrpSpPr/>
          <p:nvPr/>
        </p:nvGrpSpPr>
        <p:grpSpPr>
          <a:xfrm rot="0">
            <a:off x="901703" y="9771383"/>
            <a:ext cx="16484603" cy="720347"/>
            <a:chOff x="0" y="0"/>
            <a:chExt cx="21979471" cy="960463"/>
          </a:xfrm>
        </p:grpSpPr>
        <p:sp>
          <p:nvSpPr>
            <p:cNvPr name="Freeform 108" id="108"/>
            <p:cNvSpPr/>
            <p:nvPr/>
          </p:nvSpPr>
          <p:spPr>
            <a:xfrm flipH="false" flipV="false" rot="0">
              <a:off x="16891" y="16891"/>
              <a:ext cx="21945599" cy="926592"/>
            </a:xfrm>
            <a:custGeom>
              <a:avLst/>
              <a:gdLst/>
              <a:ahLst/>
              <a:cxnLst/>
              <a:rect r="r" b="b" t="t" l="l"/>
              <a:pathLst>
                <a:path h="926592" w="21945599">
                  <a:moveTo>
                    <a:pt x="0" y="0"/>
                  </a:moveTo>
                  <a:lnTo>
                    <a:pt x="21945599" y="0"/>
                  </a:lnTo>
                  <a:lnTo>
                    <a:pt x="21945599" y="926592"/>
                  </a:lnTo>
                  <a:lnTo>
                    <a:pt x="0" y="926592"/>
                  </a:lnTo>
                  <a:close/>
                </a:path>
              </a:pathLst>
            </a:custGeom>
            <a:solidFill>
              <a:srgbClr val="1EB8D0">
                <a:alpha val="1176"/>
              </a:srgbClr>
            </a:solidFill>
          </p:spPr>
        </p:sp>
        <p:sp>
          <p:nvSpPr>
            <p:cNvPr name="Freeform 109" id="109"/>
            <p:cNvSpPr/>
            <p:nvPr/>
          </p:nvSpPr>
          <p:spPr>
            <a:xfrm flipH="false" flipV="false" rot="0">
              <a:off x="0" y="0"/>
              <a:ext cx="21979382" cy="960376"/>
            </a:xfrm>
            <a:custGeom>
              <a:avLst/>
              <a:gdLst/>
              <a:ahLst/>
              <a:cxnLst/>
              <a:rect r="r" b="b" t="t" l="l"/>
              <a:pathLst>
                <a:path h="960376" w="21979382">
                  <a:moveTo>
                    <a:pt x="16891" y="0"/>
                  </a:moveTo>
                  <a:lnTo>
                    <a:pt x="21962490" y="0"/>
                  </a:lnTo>
                  <a:cubicBezTo>
                    <a:pt x="21971890" y="0"/>
                    <a:pt x="21979382" y="7620"/>
                    <a:pt x="21979382" y="16891"/>
                  </a:cubicBezTo>
                  <a:lnTo>
                    <a:pt x="21979382" y="943483"/>
                  </a:lnTo>
                  <a:cubicBezTo>
                    <a:pt x="21979382" y="952881"/>
                    <a:pt x="21971763" y="960374"/>
                    <a:pt x="21962490"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1962490" y="926592"/>
                  </a:lnTo>
                  <a:lnTo>
                    <a:pt x="21962490" y="943483"/>
                  </a:lnTo>
                  <a:lnTo>
                    <a:pt x="21945600" y="943483"/>
                  </a:lnTo>
                  <a:lnTo>
                    <a:pt x="21945600" y="16891"/>
                  </a:lnTo>
                  <a:lnTo>
                    <a:pt x="21962490" y="16891"/>
                  </a:lnTo>
                  <a:lnTo>
                    <a:pt x="21962490" y="33909"/>
                  </a:lnTo>
                  <a:lnTo>
                    <a:pt x="16891" y="33909"/>
                  </a:lnTo>
                  <a:close/>
                </a:path>
              </a:pathLst>
            </a:custGeom>
            <a:solidFill>
              <a:srgbClr val="1EB8D0">
                <a:alpha val="1176"/>
              </a:srgbClr>
            </a:solidFill>
          </p:spPr>
        </p:sp>
      </p:grpSp>
      <p:grpSp>
        <p:nvGrpSpPr>
          <p:cNvPr name="Group 110" id="110"/>
          <p:cNvGrpSpPr/>
          <p:nvPr/>
        </p:nvGrpSpPr>
        <p:grpSpPr>
          <a:xfrm rot="0">
            <a:off x="1188720" y="9838944"/>
            <a:ext cx="15910560" cy="585216"/>
            <a:chOff x="0" y="0"/>
            <a:chExt cx="21214080" cy="780288"/>
          </a:xfrm>
        </p:grpSpPr>
        <p:sp>
          <p:nvSpPr>
            <p:cNvPr name="Freeform 111" id="111"/>
            <p:cNvSpPr/>
            <p:nvPr/>
          </p:nvSpPr>
          <p:spPr>
            <a:xfrm flipH="false" flipV="false" rot="0">
              <a:off x="0" y="0"/>
              <a:ext cx="21214080" cy="780288"/>
            </a:xfrm>
            <a:custGeom>
              <a:avLst/>
              <a:gdLst/>
              <a:ahLst/>
              <a:cxnLst/>
              <a:rect r="r" b="b" t="t" l="l"/>
              <a:pathLst>
                <a:path h="780288" w="21214080">
                  <a:moveTo>
                    <a:pt x="0" y="0"/>
                  </a:moveTo>
                  <a:lnTo>
                    <a:pt x="21214080" y="0"/>
                  </a:lnTo>
                  <a:lnTo>
                    <a:pt x="21214080" y="780288"/>
                  </a:lnTo>
                  <a:lnTo>
                    <a:pt x="0" y="780288"/>
                  </a:lnTo>
                  <a:close/>
                </a:path>
              </a:pathLst>
            </a:custGeom>
            <a:blipFill>
              <a:blip r:embed="rId2">
                <a:alphaModFix amt="0"/>
              </a:blip>
              <a:stretch>
                <a:fillRect l="0" t="-479749" r="0" b="-479749"/>
              </a:stretch>
            </a:blipFill>
          </p:spPr>
        </p:sp>
        <p:sp>
          <p:nvSpPr>
            <p:cNvPr name="TextBox 112" id="112"/>
            <p:cNvSpPr txBox="true"/>
            <p:nvPr/>
          </p:nvSpPr>
          <p:spPr>
            <a:xfrm>
              <a:off x="0" y="-47625"/>
              <a:ext cx="21214080" cy="827913"/>
            </a:xfrm>
            <a:prstGeom prst="rect">
              <a:avLst/>
            </a:prstGeom>
          </p:spPr>
          <p:txBody>
            <a:bodyPr anchor="ctr" rtlCol="false" tIns="0" lIns="0" bIns="0" rIns="0"/>
            <a:lstStyle/>
            <a:p>
              <a:pPr algn="l">
                <a:lnSpc>
                  <a:spcPts val="2520"/>
                </a:lnSpc>
              </a:pPr>
              <a:r>
                <a:rPr lang="en-US" sz="2100" i="true">
                  <a:solidFill>
                    <a:srgbClr val="0A2342"/>
                  </a:solidFill>
                  <a:latin typeface="Calibri (MS) Italics"/>
                  <a:ea typeface="Calibri (MS) Italics"/>
                  <a:cs typeface="Calibri (MS) Italics"/>
                  <a:sym typeface="Calibri (MS) Italics"/>
                </a:rPr>
                <a:t>Dataset BMKG Stasiun Juanda memenuhi semua karakteristik 5V Big Data — dibuktikan pada slide berikut.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901703" y="243335"/>
            <a:ext cx="1342139" cy="1342139"/>
            <a:chOff x="0" y="0"/>
            <a:chExt cx="1789519" cy="1789519"/>
          </a:xfrm>
        </p:grpSpPr>
        <p:sp>
          <p:nvSpPr>
            <p:cNvPr name="Freeform 6" id="6"/>
            <p:cNvSpPr/>
            <p:nvPr/>
          </p:nvSpPr>
          <p:spPr>
            <a:xfrm flipH="false" flipV="false" rot="0">
              <a:off x="16891" y="16891"/>
              <a:ext cx="1755648" cy="1755648"/>
            </a:xfrm>
            <a:custGeom>
              <a:avLst/>
              <a:gdLst/>
              <a:ahLst/>
              <a:cxnLst/>
              <a:rect r="r" b="b" t="t" l="l"/>
              <a:pathLst>
                <a:path h="1755648" w="1755648">
                  <a:moveTo>
                    <a:pt x="0" y="0"/>
                  </a:moveTo>
                  <a:lnTo>
                    <a:pt x="1755648" y="0"/>
                  </a:lnTo>
                  <a:lnTo>
                    <a:pt x="1755648" y="1755648"/>
                  </a:lnTo>
                  <a:lnTo>
                    <a:pt x="0" y="1755648"/>
                  </a:lnTo>
                  <a:close/>
                </a:path>
              </a:pathLst>
            </a:custGeom>
            <a:solidFill>
              <a:srgbClr val="1EB8D0"/>
            </a:solidFill>
          </p:spPr>
        </p:sp>
        <p:sp>
          <p:nvSpPr>
            <p:cNvPr name="Freeform 7" id="7"/>
            <p:cNvSpPr/>
            <p:nvPr/>
          </p:nvSpPr>
          <p:spPr>
            <a:xfrm flipH="false" flipV="false" rot="0">
              <a:off x="0" y="0"/>
              <a:ext cx="1789430" cy="1789430"/>
            </a:xfrm>
            <a:custGeom>
              <a:avLst/>
              <a:gdLst/>
              <a:ahLst/>
              <a:cxnLst/>
              <a:rect r="r" b="b" t="t" l="l"/>
              <a:pathLst>
                <a:path h="1789430" w="1789430">
                  <a:moveTo>
                    <a:pt x="16891" y="0"/>
                  </a:moveTo>
                  <a:lnTo>
                    <a:pt x="1772539" y="0"/>
                  </a:lnTo>
                  <a:cubicBezTo>
                    <a:pt x="1781937" y="0"/>
                    <a:pt x="1789430" y="7620"/>
                    <a:pt x="1789430" y="16891"/>
                  </a:cubicBezTo>
                  <a:lnTo>
                    <a:pt x="1789430" y="1772539"/>
                  </a:lnTo>
                  <a:cubicBezTo>
                    <a:pt x="1789430" y="1781937"/>
                    <a:pt x="1781810" y="1789430"/>
                    <a:pt x="177253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1772539" y="1755648"/>
                  </a:lnTo>
                  <a:lnTo>
                    <a:pt x="1772539" y="1772539"/>
                  </a:lnTo>
                  <a:lnTo>
                    <a:pt x="1755648" y="1772539"/>
                  </a:lnTo>
                  <a:lnTo>
                    <a:pt x="1755648" y="16891"/>
                  </a:lnTo>
                  <a:lnTo>
                    <a:pt x="1772539" y="16891"/>
                  </a:lnTo>
                  <a:lnTo>
                    <a:pt x="1772539" y="33909"/>
                  </a:lnTo>
                  <a:lnTo>
                    <a:pt x="16891" y="33909"/>
                  </a:lnTo>
                  <a:close/>
                </a:path>
              </a:pathLst>
            </a:custGeom>
            <a:solidFill>
              <a:srgbClr val="1EB8D0"/>
            </a:solidFill>
          </p:spPr>
        </p:sp>
      </p:grpSp>
      <p:grpSp>
        <p:nvGrpSpPr>
          <p:cNvPr name="Group 8" id="8"/>
          <p:cNvGrpSpPr/>
          <p:nvPr/>
        </p:nvGrpSpPr>
        <p:grpSpPr>
          <a:xfrm rot="0">
            <a:off x="914400" y="256032"/>
            <a:ext cx="1316736" cy="1316736"/>
            <a:chOff x="0" y="0"/>
            <a:chExt cx="1755648" cy="1755648"/>
          </a:xfrm>
        </p:grpSpPr>
        <p:sp>
          <p:nvSpPr>
            <p:cNvPr name="Freeform 9" id="9"/>
            <p:cNvSpPr/>
            <p:nvPr/>
          </p:nvSpPr>
          <p:spPr>
            <a:xfrm flipH="false" flipV="false" rot="0">
              <a:off x="0" y="0"/>
              <a:ext cx="1755648" cy="1755648"/>
            </a:xfrm>
            <a:custGeom>
              <a:avLst/>
              <a:gdLst/>
              <a:ahLst/>
              <a:cxnLst/>
              <a:rect r="r" b="b" t="t" l="l"/>
              <a:pathLst>
                <a:path h="1755648" w="1755648">
                  <a:moveTo>
                    <a:pt x="0" y="0"/>
                  </a:moveTo>
                  <a:lnTo>
                    <a:pt x="1755648" y="0"/>
                  </a:lnTo>
                  <a:lnTo>
                    <a:pt x="1755648" y="1755648"/>
                  </a:lnTo>
                  <a:lnTo>
                    <a:pt x="0" y="1755648"/>
                  </a:lnTo>
                  <a:close/>
                </a:path>
              </a:pathLst>
            </a:custGeom>
            <a:blipFill>
              <a:blip r:embed="rId2">
                <a:alphaModFix amt="0"/>
              </a:blip>
              <a:stretch>
                <a:fillRect l="-78303" t="0" r="-78303" b="0"/>
              </a:stretch>
            </a:blipFill>
          </p:spPr>
        </p:sp>
        <p:sp>
          <p:nvSpPr>
            <p:cNvPr name="TextBox 10" id="10"/>
            <p:cNvSpPr txBox="true"/>
            <p:nvPr/>
          </p:nvSpPr>
          <p:spPr>
            <a:xfrm>
              <a:off x="0" y="-114300"/>
              <a:ext cx="1755648" cy="186994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V</a:t>
              </a:r>
            </a:p>
          </p:txBody>
        </p:sp>
      </p:grpSp>
      <p:grpSp>
        <p:nvGrpSpPr>
          <p:cNvPr name="Group 11" id="11"/>
          <p:cNvGrpSpPr/>
          <p:nvPr/>
        </p:nvGrpSpPr>
        <p:grpSpPr>
          <a:xfrm rot="0">
            <a:off x="2468880" y="274320"/>
            <a:ext cx="14996160" cy="1133856"/>
            <a:chOff x="0" y="0"/>
            <a:chExt cx="19994880" cy="1511808"/>
          </a:xfrm>
        </p:grpSpPr>
        <p:sp>
          <p:nvSpPr>
            <p:cNvPr name="Freeform 12" id="12"/>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2">
                <a:alphaModFix amt="0"/>
              </a:blip>
              <a:stretch>
                <a:fillRect l="0" t="-207705" r="0" b="-207705"/>
              </a:stretch>
            </a:blipFill>
          </p:spPr>
        </p:sp>
        <p:sp>
          <p:nvSpPr>
            <p:cNvPr name="TextBox 13" id="13"/>
            <p:cNvSpPr txBox="true"/>
            <p:nvPr/>
          </p:nvSpPr>
          <p:spPr>
            <a:xfrm>
              <a:off x="0" y="-85725"/>
              <a:ext cx="1999488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Volume — Ukuran Data yang Besar</a:t>
              </a:r>
            </a:p>
          </p:txBody>
        </p:sp>
      </p:grpSp>
      <p:grpSp>
        <p:nvGrpSpPr>
          <p:cNvPr name="Group 14" id="14"/>
          <p:cNvGrpSpPr/>
          <p:nvPr/>
        </p:nvGrpSpPr>
        <p:grpSpPr>
          <a:xfrm rot="0">
            <a:off x="914400" y="1682496"/>
            <a:ext cx="16459200" cy="640080"/>
            <a:chOff x="0" y="0"/>
            <a:chExt cx="21945600" cy="853440"/>
          </a:xfrm>
        </p:grpSpPr>
        <p:sp>
          <p:nvSpPr>
            <p:cNvPr name="Freeform 15" id="1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6" id="16"/>
            <p:cNvSpPr txBox="true"/>
            <p:nvPr/>
          </p:nvSpPr>
          <p:spPr>
            <a:xfrm>
              <a:off x="0" y="-38100"/>
              <a:ext cx="21945600" cy="891540"/>
            </a:xfrm>
            <a:prstGeom prst="rect">
              <a:avLst/>
            </a:prstGeom>
          </p:spPr>
          <p:txBody>
            <a:bodyPr anchor="ctr" rtlCol="false" tIns="0" lIns="0" bIns="0" rIns="0"/>
            <a:lstStyle/>
            <a:p>
              <a:pPr algn="l">
                <a:lnSpc>
                  <a:spcPts val="2879"/>
                </a:lnSpc>
              </a:pPr>
              <a:r>
                <a:rPr lang="en-US" sz="2400" i="true">
                  <a:solidFill>
                    <a:srgbClr val="1E3A5F"/>
                  </a:solidFill>
                  <a:latin typeface="Calibri (MS) Italics"/>
                  <a:ea typeface="Calibri (MS) Italics"/>
                  <a:cs typeface="Calibri (MS) Italics"/>
                  <a:sym typeface="Calibri (MS) Italics"/>
                </a:rPr>
                <a:t>Volume mengacu pada jumlah data yang sangat besar, baik dari sisi baris, kolom, maupun ukuran file.</a:t>
              </a:r>
            </a:p>
          </p:txBody>
        </p:sp>
      </p:grpSp>
      <p:grpSp>
        <p:nvGrpSpPr>
          <p:cNvPr name="Group 17" id="17"/>
          <p:cNvGrpSpPr/>
          <p:nvPr/>
        </p:nvGrpSpPr>
        <p:grpSpPr>
          <a:xfrm rot="0">
            <a:off x="901703" y="2547623"/>
            <a:ext cx="3865883" cy="1854203"/>
            <a:chOff x="0" y="0"/>
            <a:chExt cx="5154511" cy="2472271"/>
          </a:xfrm>
        </p:grpSpPr>
        <p:sp>
          <p:nvSpPr>
            <p:cNvPr name="Freeform 18" id="18"/>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1EB8D0"/>
            </a:solidFill>
          </p:spPr>
        </p:sp>
        <p:sp>
          <p:nvSpPr>
            <p:cNvPr name="Freeform 19" id="19"/>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1EB8D0"/>
            </a:solidFill>
          </p:spPr>
        </p:sp>
      </p:grpSp>
      <p:grpSp>
        <p:nvGrpSpPr>
          <p:cNvPr name="Group 20" id="20"/>
          <p:cNvGrpSpPr/>
          <p:nvPr/>
        </p:nvGrpSpPr>
        <p:grpSpPr>
          <a:xfrm rot="0">
            <a:off x="914400" y="2651760"/>
            <a:ext cx="3840480" cy="950976"/>
            <a:chOff x="0" y="0"/>
            <a:chExt cx="5120640" cy="1267968"/>
          </a:xfrm>
        </p:grpSpPr>
        <p:sp>
          <p:nvSpPr>
            <p:cNvPr name="Freeform 21" id="21"/>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22" id="22"/>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13</a:t>
              </a:r>
            </a:p>
          </p:txBody>
        </p:sp>
      </p:grpSp>
      <p:grpSp>
        <p:nvGrpSpPr>
          <p:cNvPr name="Group 23" id="23"/>
          <p:cNvGrpSpPr/>
          <p:nvPr/>
        </p:nvGrpSpPr>
        <p:grpSpPr>
          <a:xfrm rot="0">
            <a:off x="914400" y="3584448"/>
            <a:ext cx="3840480" cy="640080"/>
            <a:chOff x="0" y="0"/>
            <a:chExt cx="5120640" cy="853440"/>
          </a:xfrm>
        </p:grpSpPr>
        <p:sp>
          <p:nvSpPr>
            <p:cNvPr name="Freeform 24" id="24"/>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25" id="25"/>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File XLSX</a:t>
              </a:r>
            </a:p>
          </p:txBody>
        </p:sp>
      </p:grpSp>
      <p:grpSp>
        <p:nvGrpSpPr>
          <p:cNvPr name="Group 26" id="26"/>
          <p:cNvGrpSpPr/>
          <p:nvPr/>
        </p:nvGrpSpPr>
        <p:grpSpPr>
          <a:xfrm rot="0">
            <a:off x="5016503" y="2547623"/>
            <a:ext cx="3865883" cy="1854203"/>
            <a:chOff x="0" y="0"/>
            <a:chExt cx="5154511" cy="2472271"/>
          </a:xfrm>
        </p:grpSpPr>
        <p:sp>
          <p:nvSpPr>
            <p:cNvPr name="Freeform 27" id="27"/>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1A9EB8"/>
            </a:solidFill>
          </p:spPr>
        </p:sp>
        <p:sp>
          <p:nvSpPr>
            <p:cNvPr name="Freeform 28" id="28"/>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1A9EB8"/>
            </a:solidFill>
          </p:spPr>
        </p:sp>
      </p:grpSp>
      <p:grpSp>
        <p:nvGrpSpPr>
          <p:cNvPr name="Group 29" id="29"/>
          <p:cNvGrpSpPr/>
          <p:nvPr/>
        </p:nvGrpSpPr>
        <p:grpSpPr>
          <a:xfrm rot="0">
            <a:off x="5029200" y="2651760"/>
            <a:ext cx="3840480" cy="950976"/>
            <a:chOff x="0" y="0"/>
            <a:chExt cx="5120640" cy="1267968"/>
          </a:xfrm>
        </p:grpSpPr>
        <p:sp>
          <p:nvSpPr>
            <p:cNvPr name="Freeform 30" id="30"/>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31" id="31"/>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365+</a:t>
              </a:r>
            </a:p>
          </p:txBody>
        </p:sp>
      </p:grpSp>
      <p:grpSp>
        <p:nvGrpSpPr>
          <p:cNvPr name="Group 32" id="32"/>
          <p:cNvGrpSpPr/>
          <p:nvPr/>
        </p:nvGrpSpPr>
        <p:grpSpPr>
          <a:xfrm rot="0">
            <a:off x="5029200" y="3584448"/>
            <a:ext cx="3840480" cy="640080"/>
            <a:chOff x="0" y="0"/>
            <a:chExt cx="5120640" cy="853440"/>
          </a:xfrm>
        </p:grpSpPr>
        <p:sp>
          <p:nvSpPr>
            <p:cNvPr name="Freeform 33" id="33"/>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34" id="34"/>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Baris Data</a:t>
              </a:r>
            </a:p>
          </p:txBody>
        </p:sp>
      </p:grpSp>
      <p:grpSp>
        <p:nvGrpSpPr>
          <p:cNvPr name="Group 35" id="35"/>
          <p:cNvGrpSpPr/>
          <p:nvPr/>
        </p:nvGrpSpPr>
        <p:grpSpPr>
          <a:xfrm rot="0">
            <a:off x="9131303" y="2547623"/>
            <a:ext cx="3865883" cy="1854203"/>
            <a:chOff x="0" y="0"/>
            <a:chExt cx="5154511" cy="2472271"/>
          </a:xfrm>
        </p:grpSpPr>
        <p:sp>
          <p:nvSpPr>
            <p:cNvPr name="Freeform 36" id="36"/>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138EA8"/>
            </a:solidFill>
          </p:spPr>
        </p:sp>
        <p:sp>
          <p:nvSpPr>
            <p:cNvPr name="Freeform 37" id="37"/>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138EA8"/>
            </a:solidFill>
          </p:spPr>
        </p:sp>
      </p:grpSp>
      <p:grpSp>
        <p:nvGrpSpPr>
          <p:cNvPr name="Group 38" id="38"/>
          <p:cNvGrpSpPr/>
          <p:nvPr/>
        </p:nvGrpSpPr>
        <p:grpSpPr>
          <a:xfrm rot="0">
            <a:off x="9144000" y="2651760"/>
            <a:ext cx="3840480" cy="950976"/>
            <a:chOff x="0" y="0"/>
            <a:chExt cx="5120640" cy="1267968"/>
          </a:xfrm>
        </p:grpSpPr>
        <p:sp>
          <p:nvSpPr>
            <p:cNvPr name="Freeform 39" id="39"/>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40" id="40"/>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11</a:t>
              </a:r>
            </a:p>
          </p:txBody>
        </p:sp>
      </p:grpSp>
      <p:grpSp>
        <p:nvGrpSpPr>
          <p:cNvPr name="Group 41" id="41"/>
          <p:cNvGrpSpPr/>
          <p:nvPr/>
        </p:nvGrpSpPr>
        <p:grpSpPr>
          <a:xfrm rot="0">
            <a:off x="9144000" y="3584448"/>
            <a:ext cx="3840480" cy="640080"/>
            <a:chOff x="0" y="0"/>
            <a:chExt cx="5120640" cy="853440"/>
          </a:xfrm>
        </p:grpSpPr>
        <p:sp>
          <p:nvSpPr>
            <p:cNvPr name="Freeform 42" id="42"/>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43" id="43"/>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Kolom Parameter</a:t>
              </a:r>
            </a:p>
          </p:txBody>
        </p:sp>
      </p:grpSp>
      <p:grpSp>
        <p:nvGrpSpPr>
          <p:cNvPr name="Group 44" id="44"/>
          <p:cNvGrpSpPr/>
          <p:nvPr/>
        </p:nvGrpSpPr>
        <p:grpSpPr>
          <a:xfrm rot="0">
            <a:off x="13246103" y="2547623"/>
            <a:ext cx="3865883" cy="1854203"/>
            <a:chOff x="0" y="0"/>
            <a:chExt cx="5154511" cy="2472271"/>
          </a:xfrm>
        </p:grpSpPr>
        <p:sp>
          <p:nvSpPr>
            <p:cNvPr name="Freeform 45" id="45"/>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0E7A94"/>
            </a:solidFill>
          </p:spPr>
        </p:sp>
        <p:sp>
          <p:nvSpPr>
            <p:cNvPr name="Freeform 46" id="46"/>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0E7A94"/>
            </a:solidFill>
          </p:spPr>
        </p:sp>
      </p:grpSp>
      <p:grpSp>
        <p:nvGrpSpPr>
          <p:cNvPr name="Group 47" id="47"/>
          <p:cNvGrpSpPr/>
          <p:nvPr/>
        </p:nvGrpSpPr>
        <p:grpSpPr>
          <a:xfrm rot="0">
            <a:off x="13258800" y="2651760"/>
            <a:ext cx="3840480" cy="950976"/>
            <a:chOff x="0" y="0"/>
            <a:chExt cx="5120640" cy="1267968"/>
          </a:xfrm>
        </p:grpSpPr>
        <p:sp>
          <p:nvSpPr>
            <p:cNvPr name="Freeform 48" id="48"/>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49" id="49"/>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~13bln</a:t>
              </a:r>
            </a:p>
          </p:txBody>
        </p:sp>
      </p:grpSp>
      <p:grpSp>
        <p:nvGrpSpPr>
          <p:cNvPr name="Group 50" id="50"/>
          <p:cNvGrpSpPr/>
          <p:nvPr/>
        </p:nvGrpSpPr>
        <p:grpSpPr>
          <a:xfrm rot="0">
            <a:off x="13258800" y="3584448"/>
            <a:ext cx="3840480" cy="640080"/>
            <a:chOff x="0" y="0"/>
            <a:chExt cx="5120640" cy="853440"/>
          </a:xfrm>
        </p:grpSpPr>
        <p:sp>
          <p:nvSpPr>
            <p:cNvPr name="Freeform 51" id="51"/>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52" id="52"/>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Periode Data</a:t>
              </a:r>
            </a:p>
          </p:txBody>
        </p:sp>
      </p:grpSp>
      <p:grpSp>
        <p:nvGrpSpPr>
          <p:cNvPr name="Group 53" id="53"/>
          <p:cNvGrpSpPr/>
          <p:nvPr/>
        </p:nvGrpSpPr>
        <p:grpSpPr>
          <a:xfrm rot="0">
            <a:off x="1704089" y="4497076"/>
            <a:ext cx="4147868" cy="5504489"/>
            <a:chOff x="0" y="0"/>
            <a:chExt cx="4790097" cy="6356769"/>
          </a:xfrm>
        </p:grpSpPr>
        <p:sp>
          <p:nvSpPr>
            <p:cNvPr name="Freeform 54" id="54"/>
            <p:cNvSpPr/>
            <p:nvPr/>
          </p:nvSpPr>
          <p:spPr>
            <a:xfrm flipH="false" flipV="false" rot="0">
              <a:off x="3709" y="8509"/>
              <a:ext cx="4782718" cy="6339840"/>
            </a:xfrm>
            <a:custGeom>
              <a:avLst/>
              <a:gdLst/>
              <a:ahLst/>
              <a:cxnLst/>
              <a:rect r="r" b="b" t="t" l="l"/>
              <a:pathLst>
                <a:path h="6339840" w="4782718">
                  <a:moveTo>
                    <a:pt x="0" y="0"/>
                  </a:moveTo>
                  <a:lnTo>
                    <a:pt x="4782718" y="0"/>
                  </a:lnTo>
                  <a:lnTo>
                    <a:pt x="4782718" y="6339840"/>
                  </a:lnTo>
                  <a:lnTo>
                    <a:pt x="0" y="6339840"/>
                  </a:lnTo>
                  <a:close/>
                </a:path>
              </a:pathLst>
            </a:custGeom>
            <a:blipFill>
              <a:blip r:embed="rId3"/>
              <a:stretch>
                <a:fillRect l="-1703" t="-134" r="-1709" b="13"/>
              </a:stretch>
            </a:blipFill>
          </p:spPr>
        </p:sp>
        <p:sp>
          <p:nvSpPr>
            <p:cNvPr name="Freeform 55" id="55"/>
            <p:cNvSpPr/>
            <p:nvPr/>
          </p:nvSpPr>
          <p:spPr>
            <a:xfrm flipH="false" flipV="false" rot="0">
              <a:off x="0" y="0"/>
              <a:ext cx="4790187" cy="6356858"/>
            </a:xfrm>
            <a:custGeom>
              <a:avLst/>
              <a:gdLst/>
              <a:ahLst/>
              <a:cxnLst/>
              <a:rect r="r" b="b" t="t" l="l"/>
              <a:pathLst>
                <a:path h="6356858" w="4790187">
                  <a:moveTo>
                    <a:pt x="3709" y="0"/>
                  </a:moveTo>
                  <a:lnTo>
                    <a:pt x="4786427" y="0"/>
                  </a:lnTo>
                  <a:cubicBezTo>
                    <a:pt x="4788475" y="0"/>
                    <a:pt x="4790187" y="3810"/>
                    <a:pt x="4790187" y="8509"/>
                  </a:cubicBezTo>
                  <a:lnTo>
                    <a:pt x="4790187" y="6348349"/>
                  </a:lnTo>
                  <a:cubicBezTo>
                    <a:pt x="4790187" y="6353048"/>
                    <a:pt x="4788475" y="6356858"/>
                    <a:pt x="4786427" y="6356858"/>
                  </a:cubicBezTo>
                  <a:lnTo>
                    <a:pt x="3709" y="6356858"/>
                  </a:lnTo>
                  <a:cubicBezTo>
                    <a:pt x="1661" y="6356858"/>
                    <a:pt x="0" y="6353048"/>
                    <a:pt x="0" y="6348349"/>
                  </a:cubicBezTo>
                  <a:lnTo>
                    <a:pt x="0" y="8509"/>
                  </a:lnTo>
                  <a:cubicBezTo>
                    <a:pt x="0" y="3810"/>
                    <a:pt x="1661" y="0"/>
                    <a:pt x="3709" y="0"/>
                  </a:cubicBezTo>
                  <a:moveTo>
                    <a:pt x="3709" y="16891"/>
                  </a:moveTo>
                  <a:lnTo>
                    <a:pt x="3709" y="8509"/>
                  </a:lnTo>
                  <a:lnTo>
                    <a:pt x="7418" y="8509"/>
                  </a:lnTo>
                  <a:lnTo>
                    <a:pt x="7418" y="6348349"/>
                  </a:lnTo>
                  <a:lnTo>
                    <a:pt x="3709" y="6348349"/>
                  </a:lnTo>
                  <a:lnTo>
                    <a:pt x="3709" y="6339840"/>
                  </a:lnTo>
                  <a:lnTo>
                    <a:pt x="4786427" y="6339840"/>
                  </a:lnTo>
                  <a:lnTo>
                    <a:pt x="4786427" y="6348349"/>
                  </a:lnTo>
                  <a:lnTo>
                    <a:pt x="4782719" y="6348349"/>
                  </a:lnTo>
                  <a:lnTo>
                    <a:pt x="4782719" y="8509"/>
                  </a:lnTo>
                  <a:lnTo>
                    <a:pt x="4786427" y="8509"/>
                  </a:lnTo>
                  <a:lnTo>
                    <a:pt x="4786427" y="17018"/>
                  </a:lnTo>
                  <a:lnTo>
                    <a:pt x="3709" y="17018"/>
                  </a:lnTo>
                  <a:close/>
                </a:path>
              </a:pathLst>
            </a:custGeom>
            <a:solidFill>
              <a:srgbClr val="D0E8F0"/>
            </a:solidFill>
          </p:spPr>
        </p:sp>
      </p:grpSp>
      <p:grpSp>
        <p:nvGrpSpPr>
          <p:cNvPr name="Group 56" id="56"/>
          <p:cNvGrpSpPr/>
          <p:nvPr/>
        </p:nvGrpSpPr>
        <p:grpSpPr>
          <a:xfrm rot="0">
            <a:off x="901703" y="4742183"/>
            <a:ext cx="263147" cy="4780283"/>
            <a:chOff x="0" y="0"/>
            <a:chExt cx="350863" cy="6373711"/>
          </a:xfrm>
        </p:grpSpPr>
        <p:sp>
          <p:nvSpPr>
            <p:cNvPr name="Freeform 57" id="57"/>
            <p:cNvSpPr/>
            <p:nvPr/>
          </p:nvSpPr>
          <p:spPr>
            <a:xfrm flipH="false" flipV="false" rot="0">
              <a:off x="16891" y="16891"/>
              <a:ext cx="316992" cy="6339840"/>
            </a:xfrm>
            <a:custGeom>
              <a:avLst/>
              <a:gdLst/>
              <a:ahLst/>
              <a:cxnLst/>
              <a:rect r="r" b="b" t="t" l="l"/>
              <a:pathLst>
                <a:path h="6339840" w="316992">
                  <a:moveTo>
                    <a:pt x="0" y="0"/>
                  </a:moveTo>
                  <a:lnTo>
                    <a:pt x="316992" y="0"/>
                  </a:lnTo>
                  <a:lnTo>
                    <a:pt x="316992" y="6339840"/>
                  </a:lnTo>
                  <a:lnTo>
                    <a:pt x="0" y="6339840"/>
                  </a:lnTo>
                  <a:close/>
                </a:path>
              </a:pathLst>
            </a:custGeom>
            <a:solidFill>
              <a:srgbClr val="1EB8D0"/>
            </a:solidFill>
          </p:spPr>
        </p:sp>
        <p:sp>
          <p:nvSpPr>
            <p:cNvPr name="Freeform 58" id="58"/>
            <p:cNvSpPr/>
            <p:nvPr/>
          </p:nvSpPr>
          <p:spPr>
            <a:xfrm flipH="false" flipV="false" rot="0">
              <a:off x="0" y="0"/>
              <a:ext cx="350774" cy="6373622"/>
            </a:xfrm>
            <a:custGeom>
              <a:avLst/>
              <a:gdLst/>
              <a:ahLst/>
              <a:cxnLst/>
              <a:rect r="r" b="b" t="t" l="l"/>
              <a:pathLst>
                <a:path h="6373622" w="350774">
                  <a:moveTo>
                    <a:pt x="16891" y="0"/>
                  </a:moveTo>
                  <a:lnTo>
                    <a:pt x="333883" y="0"/>
                  </a:lnTo>
                  <a:cubicBezTo>
                    <a:pt x="343281" y="0"/>
                    <a:pt x="350774" y="7620"/>
                    <a:pt x="350774" y="16891"/>
                  </a:cubicBezTo>
                  <a:lnTo>
                    <a:pt x="350774" y="6356731"/>
                  </a:lnTo>
                  <a:cubicBezTo>
                    <a:pt x="350774" y="6366129"/>
                    <a:pt x="343154" y="6373622"/>
                    <a:pt x="333883" y="6373622"/>
                  </a:cubicBezTo>
                  <a:lnTo>
                    <a:pt x="16891" y="6373622"/>
                  </a:lnTo>
                  <a:cubicBezTo>
                    <a:pt x="7493" y="6373622"/>
                    <a:pt x="0" y="6366002"/>
                    <a:pt x="0" y="6356731"/>
                  </a:cubicBezTo>
                  <a:lnTo>
                    <a:pt x="0" y="16891"/>
                  </a:lnTo>
                  <a:cubicBezTo>
                    <a:pt x="0" y="7620"/>
                    <a:pt x="7620" y="0"/>
                    <a:pt x="16891" y="0"/>
                  </a:cubicBezTo>
                  <a:moveTo>
                    <a:pt x="16891" y="33909"/>
                  </a:moveTo>
                  <a:lnTo>
                    <a:pt x="16891" y="16891"/>
                  </a:lnTo>
                  <a:lnTo>
                    <a:pt x="33909" y="16891"/>
                  </a:lnTo>
                  <a:lnTo>
                    <a:pt x="33909" y="6356731"/>
                  </a:lnTo>
                  <a:lnTo>
                    <a:pt x="16891" y="6356731"/>
                  </a:lnTo>
                  <a:lnTo>
                    <a:pt x="16891" y="6339840"/>
                  </a:lnTo>
                  <a:lnTo>
                    <a:pt x="333883" y="6339840"/>
                  </a:lnTo>
                  <a:lnTo>
                    <a:pt x="333883" y="6356731"/>
                  </a:lnTo>
                  <a:lnTo>
                    <a:pt x="316992" y="6356731"/>
                  </a:lnTo>
                  <a:lnTo>
                    <a:pt x="316992" y="16891"/>
                  </a:lnTo>
                  <a:lnTo>
                    <a:pt x="333883" y="16891"/>
                  </a:lnTo>
                  <a:lnTo>
                    <a:pt x="333883" y="33909"/>
                  </a:lnTo>
                  <a:lnTo>
                    <a:pt x="16891" y="33909"/>
                  </a:lnTo>
                  <a:close/>
                </a:path>
              </a:pathLst>
            </a:custGeom>
            <a:solidFill>
              <a:srgbClr val="1EB8D0"/>
            </a:solidFill>
          </p:spPr>
        </p:sp>
      </p:grpSp>
      <p:sp>
        <p:nvSpPr>
          <p:cNvPr name="Freeform 59" id="59"/>
          <p:cNvSpPr/>
          <p:nvPr/>
        </p:nvSpPr>
        <p:spPr>
          <a:xfrm flipH="false" flipV="false" rot="0">
            <a:off x="6050589" y="6717690"/>
            <a:ext cx="7365413" cy="3283876"/>
          </a:xfrm>
          <a:custGeom>
            <a:avLst/>
            <a:gdLst/>
            <a:ahLst/>
            <a:cxnLst/>
            <a:rect r="r" b="b" t="t" l="l"/>
            <a:pathLst>
              <a:path h="3283876" w="7365413">
                <a:moveTo>
                  <a:pt x="0" y="0"/>
                </a:moveTo>
                <a:lnTo>
                  <a:pt x="7365414" y="0"/>
                </a:lnTo>
                <a:lnTo>
                  <a:pt x="7365414" y="3283876"/>
                </a:lnTo>
                <a:lnTo>
                  <a:pt x="0" y="3283876"/>
                </a:lnTo>
                <a:lnTo>
                  <a:pt x="0" y="0"/>
                </a:lnTo>
                <a:close/>
              </a:path>
            </a:pathLst>
          </a:custGeom>
          <a:blipFill>
            <a:blip r:embed="rId4"/>
            <a:stretch>
              <a:fillRect l="0" t="0" r="-1498" b="0"/>
            </a:stretch>
          </a:blipFill>
        </p:spPr>
      </p:sp>
      <p:grpSp>
        <p:nvGrpSpPr>
          <p:cNvPr name="Group 60" id="60"/>
          <p:cNvGrpSpPr/>
          <p:nvPr/>
        </p:nvGrpSpPr>
        <p:grpSpPr>
          <a:xfrm rot="0">
            <a:off x="6050589" y="4475527"/>
            <a:ext cx="8504236" cy="2168461"/>
            <a:chOff x="0" y="0"/>
            <a:chExt cx="10403266" cy="2652688"/>
          </a:xfrm>
        </p:grpSpPr>
        <p:sp>
          <p:nvSpPr>
            <p:cNvPr name="Freeform 61" id="61"/>
            <p:cNvSpPr/>
            <p:nvPr/>
          </p:nvSpPr>
          <p:spPr>
            <a:xfrm flipH="false" flipV="false" rot="0">
              <a:off x="34091" y="18124"/>
              <a:ext cx="10334905" cy="2616345"/>
            </a:xfrm>
            <a:custGeom>
              <a:avLst/>
              <a:gdLst/>
              <a:ahLst/>
              <a:cxnLst/>
              <a:rect r="r" b="b" t="t" l="l"/>
              <a:pathLst>
                <a:path h="2616345" w="10334905">
                  <a:moveTo>
                    <a:pt x="0" y="0"/>
                  </a:moveTo>
                  <a:lnTo>
                    <a:pt x="10334905" y="0"/>
                  </a:lnTo>
                  <a:lnTo>
                    <a:pt x="10334905" y="2616345"/>
                  </a:lnTo>
                  <a:lnTo>
                    <a:pt x="0" y="2616345"/>
                  </a:lnTo>
                  <a:close/>
                </a:path>
              </a:pathLst>
            </a:custGeom>
            <a:solidFill>
              <a:srgbClr val="138EA8"/>
            </a:solidFill>
          </p:spPr>
        </p:sp>
        <p:sp>
          <p:nvSpPr>
            <p:cNvPr name="Freeform 62" id="62"/>
            <p:cNvSpPr/>
            <p:nvPr/>
          </p:nvSpPr>
          <p:spPr>
            <a:xfrm flipH="false" flipV="false" rot="0">
              <a:off x="0" y="0"/>
              <a:ext cx="10403087" cy="2652592"/>
            </a:xfrm>
            <a:custGeom>
              <a:avLst/>
              <a:gdLst/>
              <a:ahLst/>
              <a:cxnLst/>
              <a:rect r="r" b="b" t="t" l="l"/>
              <a:pathLst>
                <a:path h="2652592" w="10403087">
                  <a:moveTo>
                    <a:pt x="34091" y="0"/>
                  </a:moveTo>
                  <a:lnTo>
                    <a:pt x="10368996" y="0"/>
                  </a:lnTo>
                  <a:cubicBezTo>
                    <a:pt x="10387964" y="0"/>
                    <a:pt x="10403087" y="8176"/>
                    <a:pt x="10403087" y="18124"/>
                  </a:cubicBezTo>
                  <a:lnTo>
                    <a:pt x="10403087" y="2634469"/>
                  </a:lnTo>
                  <a:cubicBezTo>
                    <a:pt x="10403087" y="2644553"/>
                    <a:pt x="10387707" y="2652592"/>
                    <a:pt x="10368996" y="2652592"/>
                  </a:cubicBezTo>
                  <a:lnTo>
                    <a:pt x="34091" y="2652592"/>
                  </a:lnTo>
                  <a:cubicBezTo>
                    <a:pt x="15123" y="2652592"/>
                    <a:pt x="0" y="2644416"/>
                    <a:pt x="0" y="2634469"/>
                  </a:cubicBezTo>
                  <a:lnTo>
                    <a:pt x="0" y="18124"/>
                  </a:lnTo>
                  <a:cubicBezTo>
                    <a:pt x="0" y="8176"/>
                    <a:pt x="15379" y="0"/>
                    <a:pt x="34091" y="0"/>
                  </a:cubicBezTo>
                  <a:moveTo>
                    <a:pt x="34091" y="36384"/>
                  </a:moveTo>
                  <a:lnTo>
                    <a:pt x="34091" y="18124"/>
                  </a:lnTo>
                  <a:lnTo>
                    <a:pt x="68438" y="18124"/>
                  </a:lnTo>
                  <a:lnTo>
                    <a:pt x="68438" y="2634469"/>
                  </a:lnTo>
                  <a:lnTo>
                    <a:pt x="34091" y="2634469"/>
                  </a:lnTo>
                  <a:lnTo>
                    <a:pt x="34091" y="2616345"/>
                  </a:lnTo>
                  <a:lnTo>
                    <a:pt x="10368996" y="2616345"/>
                  </a:lnTo>
                  <a:lnTo>
                    <a:pt x="10368996" y="2634469"/>
                  </a:lnTo>
                  <a:lnTo>
                    <a:pt x="10334905" y="2634469"/>
                  </a:lnTo>
                  <a:lnTo>
                    <a:pt x="10334905" y="18124"/>
                  </a:lnTo>
                  <a:lnTo>
                    <a:pt x="10368996" y="18124"/>
                  </a:lnTo>
                  <a:lnTo>
                    <a:pt x="10368996" y="36384"/>
                  </a:lnTo>
                  <a:lnTo>
                    <a:pt x="34091" y="36384"/>
                  </a:lnTo>
                  <a:close/>
                </a:path>
              </a:pathLst>
            </a:custGeom>
            <a:solidFill>
              <a:srgbClr val="1A9EB8"/>
            </a:solidFill>
          </p:spPr>
        </p:sp>
      </p:grpSp>
      <p:sp>
        <p:nvSpPr>
          <p:cNvPr name="TextBox 63" id="63"/>
          <p:cNvSpPr txBox="true"/>
          <p:nvPr/>
        </p:nvSpPr>
        <p:spPr>
          <a:xfrm rot="0">
            <a:off x="6230870" y="4487551"/>
            <a:ext cx="8143676" cy="2407956"/>
          </a:xfrm>
          <a:prstGeom prst="rect">
            <a:avLst/>
          </a:prstGeom>
        </p:spPr>
        <p:txBody>
          <a:bodyPr anchor="t" rtlCol="false" tIns="0" lIns="0" bIns="0" rIns="0">
            <a:spAutoFit/>
          </a:bodyPr>
          <a:lstStyle/>
          <a:p>
            <a:pPr algn="just">
              <a:lnSpc>
                <a:spcPts val="2682"/>
              </a:lnSpc>
              <a:spcBef>
                <a:spcPct val="0"/>
              </a:spcBef>
            </a:pPr>
            <a:r>
              <a:rPr lang="en-US" b="true" sz="2235">
                <a:solidFill>
                  <a:srgbClr val="F0F7FA"/>
                </a:solidFill>
                <a:latin typeface="Calibri (MS) Bold"/>
                <a:ea typeface="Calibri (MS) Bold"/>
                <a:cs typeface="Calibri (MS) Bold"/>
                <a:sym typeface="Calibri (MS) Bold"/>
              </a:rPr>
              <a:t>Dari hasil eksplorasi awal menggunakan df.info(), terlihat bahwa dataset ini memiliki 365 baris d</a:t>
            </a:r>
            <a:r>
              <a:rPr lang="en-US" b="true" sz="2235">
                <a:solidFill>
                  <a:srgbClr val="F0F7FA"/>
                </a:solidFill>
                <a:latin typeface="Calibri (MS) Bold"/>
                <a:ea typeface="Calibri (MS) Bold"/>
                <a:cs typeface="Calibri (MS) Bold"/>
                <a:sym typeface="Calibri (MS) Bold"/>
              </a:rPr>
              <a:t>engan 11 kolom, mulai dari identitas waktu, parameter suhu, kelembapan, curah hujan, penyinaran matahari, hingga kecepatan dan arah angin. Seluruh data telah berhasil di-merge dari 13 file XLSX bulanan menjadi satu DataFrame utuh.</a:t>
            </a:r>
          </a:p>
          <a:p>
            <a:pPr algn="just">
              <a:lnSpc>
                <a:spcPts val="2682"/>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F4A261"/>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F4A261"/>
            </a:solidFill>
          </p:spPr>
        </p:sp>
      </p:grpSp>
      <p:grpSp>
        <p:nvGrpSpPr>
          <p:cNvPr name="Group 5" id="5"/>
          <p:cNvGrpSpPr/>
          <p:nvPr/>
        </p:nvGrpSpPr>
        <p:grpSpPr>
          <a:xfrm rot="0">
            <a:off x="901703" y="243335"/>
            <a:ext cx="1342139" cy="1342139"/>
            <a:chOff x="0" y="0"/>
            <a:chExt cx="1789519" cy="1789519"/>
          </a:xfrm>
        </p:grpSpPr>
        <p:sp>
          <p:nvSpPr>
            <p:cNvPr name="Freeform 6" id="6"/>
            <p:cNvSpPr/>
            <p:nvPr/>
          </p:nvSpPr>
          <p:spPr>
            <a:xfrm flipH="false" flipV="false" rot="0">
              <a:off x="16891" y="16891"/>
              <a:ext cx="1755648" cy="1755648"/>
            </a:xfrm>
            <a:custGeom>
              <a:avLst/>
              <a:gdLst/>
              <a:ahLst/>
              <a:cxnLst/>
              <a:rect r="r" b="b" t="t" l="l"/>
              <a:pathLst>
                <a:path h="1755648" w="1755648">
                  <a:moveTo>
                    <a:pt x="0" y="0"/>
                  </a:moveTo>
                  <a:lnTo>
                    <a:pt x="1755648" y="0"/>
                  </a:lnTo>
                  <a:lnTo>
                    <a:pt x="1755648" y="1755648"/>
                  </a:lnTo>
                  <a:lnTo>
                    <a:pt x="0" y="1755648"/>
                  </a:lnTo>
                  <a:close/>
                </a:path>
              </a:pathLst>
            </a:custGeom>
            <a:solidFill>
              <a:srgbClr val="F4A261"/>
            </a:solidFill>
          </p:spPr>
        </p:sp>
        <p:sp>
          <p:nvSpPr>
            <p:cNvPr name="Freeform 7" id="7"/>
            <p:cNvSpPr/>
            <p:nvPr/>
          </p:nvSpPr>
          <p:spPr>
            <a:xfrm flipH="false" flipV="false" rot="0">
              <a:off x="0" y="0"/>
              <a:ext cx="1789430" cy="1789430"/>
            </a:xfrm>
            <a:custGeom>
              <a:avLst/>
              <a:gdLst/>
              <a:ahLst/>
              <a:cxnLst/>
              <a:rect r="r" b="b" t="t" l="l"/>
              <a:pathLst>
                <a:path h="1789430" w="1789430">
                  <a:moveTo>
                    <a:pt x="16891" y="0"/>
                  </a:moveTo>
                  <a:lnTo>
                    <a:pt x="1772539" y="0"/>
                  </a:lnTo>
                  <a:cubicBezTo>
                    <a:pt x="1781937" y="0"/>
                    <a:pt x="1789430" y="7620"/>
                    <a:pt x="1789430" y="16891"/>
                  </a:cubicBezTo>
                  <a:lnTo>
                    <a:pt x="1789430" y="1772539"/>
                  </a:lnTo>
                  <a:cubicBezTo>
                    <a:pt x="1789430" y="1781937"/>
                    <a:pt x="1781810" y="1789430"/>
                    <a:pt x="177253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1772539" y="1755648"/>
                  </a:lnTo>
                  <a:lnTo>
                    <a:pt x="1772539" y="1772539"/>
                  </a:lnTo>
                  <a:lnTo>
                    <a:pt x="1755648" y="1772539"/>
                  </a:lnTo>
                  <a:lnTo>
                    <a:pt x="1755648" y="16891"/>
                  </a:lnTo>
                  <a:lnTo>
                    <a:pt x="1772539" y="16891"/>
                  </a:lnTo>
                  <a:lnTo>
                    <a:pt x="1772539" y="33909"/>
                  </a:lnTo>
                  <a:lnTo>
                    <a:pt x="16891" y="33909"/>
                  </a:lnTo>
                  <a:close/>
                </a:path>
              </a:pathLst>
            </a:custGeom>
            <a:solidFill>
              <a:srgbClr val="F4A261"/>
            </a:solidFill>
          </p:spPr>
        </p:sp>
      </p:grpSp>
      <p:grpSp>
        <p:nvGrpSpPr>
          <p:cNvPr name="Group 8" id="8"/>
          <p:cNvGrpSpPr/>
          <p:nvPr/>
        </p:nvGrpSpPr>
        <p:grpSpPr>
          <a:xfrm rot="0">
            <a:off x="914400" y="256032"/>
            <a:ext cx="1316736" cy="1316736"/>
            <a:chOff x="0" y="0"/>
            <a:chExt cx="1755648" cy="1755648"/>
          </a:xfrm>
        </p:grpSpPr>
        <p:sp>
          <p:nvSpPr>
            <p:cNvPr name="Freeform 9" id="9"/>
            <p:cNvSpPr/>
            <p:nvPr/>
          </p:nvSpPr>
          <p:spPr>
            <a:xfrm flipH="false" flipV="false" rot="0">
              <a:off x="0" y="0"/>
              <a:ext cx="1755648" cy="1755648"/>
            </a:xfrm>
            <a:custGeom>
              <a:avLst/>
              <a:gdLst/>
              <a:ahLst/>
              <a:cxnLst/>
              <a:rect r="r" b="b" t="t" l="l"/>
              <a:pathLst>
                <a:path h="1755648" w="1755648">
                  <a:moveTo>
                    <a:pt x="0" y="0"/>
                  </a:moveTo>
                  <a:lnTo>
                    <a:pt x="1755648" y="0"/>
                  </a:lnTo>
                  <a:lnTo>
                    <a:pt x="1755648" y="1755648"/>
                  </a:lnTo>
                  <a:lnTo>
                    <a:pt x="0" y="1755648"/>
                  </a:lnTo>
                  <a:close/>
                </a:path>
              </a:pathLst>
            </a:custGeom>
            <a:blipFill>
              <a:blip r:embed="rId2">
                <a:alphaModFix amt="0"/>
              </a:blip>
              <a:stretch>
                <a:fillRect l="-78303" t="0" r="-78303" b="0"/>
              </a:stretch>
            </a:blipFill>
          </p:spPr>
        </p:sp>
        <p:sp>
          <p:nvSpPr>
            <p:cNvPr name="TextBox 10" id="10"/>
            <p:cNvSpPr txBox="true"/>
            <p:nvPr/>
          </p:nvSpPr>
          <p:spPr>
            <a:xfrm>
              <a:off x="0" y="-114300"/>
              <a:ext cx="1755648" cy="186994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V</a:t>
              </a:r>
            </a:p>
          </p:txBody>
        </p:sp>
      </p:grpSp>
      <p:grpSp>
        <p:nvGrpSpPr>
          <p:cNvPr name="Group 11" id="11"/>
          <p:cNvGrpSpPr/>
          <p:nvPr/>
        </p:nvGrpSpPr>
        <p:grpSpPr>
          <a:xfrm rot="0">
            <a:off x="2468880" y="274320"/>
            <a:ext cx="14996160" cy="1133856"/>
            <a:chOff x="0" y="0"/>
            <a:chExt cx="19994880" cy="1511808"/>
          </a:xfrm>
        </p:grpSpPr>
        <p:sp>
          <p:nvSpPr>
            <p:cNvPr name="Freeform 12" id="12"/>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2">
                <a:alphaModFix amt="0"/>
              </a:blip>
              <a:stretch>
                <a:fillRect l="0" t="-207705" r="0" b="-207705"/>
              </a:stretch>
            </a:blipFill>
          </p:spPr>
        </p:sp>
        <p:sp>
          <p:nvSpPr>
            <p:cNvPr name="TextBox 13" id="13"/>
            <p:cNvSpPr txBox="true"/>
            <p:nvPr/>
          </p:nvSpPr>
          <p:spPr>
            <a:xfrm>
              <a:off x="0" y="-85725"/>
              <a:ext cx="1999488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Velocity — Kecepatan Data</a:t>
              </a:r>
            </a:p>
          </p:txBody>
        </p:sp>
      </p:grpSp>
      <p:grpSp>
        <p:nvGrpSpPr>
          <p:cNvPr name="Group 14" id="14"/>
          <p:cNvGrpSpPr/>
          <p:nvPr/>
        </p:nvGrpSpPr>
        <p:grpSpPr>
          <a:xfrm rot="0">
            <a:off x="914400" y="1682496"/>
            <a:ext cx="16459200" cy="640080"/>
            <a:chOff x="0" y="0"/>
            <a:chExt cx="21945600" cy="853440"/>
          </a:xfrm>
        </p:grpSpPr>
        <p:sp>
          <p:nvSpPr>
            <p:cNvPr name="Freeform 15" id="1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6" id="16"/>
            <p:cNvSpPr txBox="true"/>
            <p:nvPr/>
          </p:nvSpPr>
          <p:spPr>
            <a:xfrm>
              <a:off x="0" y="-38100"/>
              <a:ext cx="21945600" cy="891540"/>
            </a:xfrm>
            <a:prstGeom prst="rect">
              <a:avLst/>
            </a:prstGeom>
          </p:spPr>
          <p:txBody>
            <a:bodyPr anchor="ctr" rtlCol="false" tIns="0" lIns="0" bIns="0" rIns="0"/>
            <a:lstStyle/>
            <a:p>
              <a:pPr algn="l">
                <a:lnSpc>
                  <a:spcPts val="2879"/>
                </a:lnSpc>
              </a:pPr>
              <a:r>
                <a:rPr lang="en-US" sz="2400" i="true">
                  <a:solidFill>
                    <a:srgbClr val="1E3A5F"/>
                  </a:solidFill>
                  <a:latin typeface="Calibri (MS) Italics"/>
                  <a:ea typeface="Calibri (MS) Italics"/>
                  <a:cs typeface="Calibri (MS) Italics"/>
                  <a:sym typeface="Calibri (MS) Italics"/>
                </a:rPr>
                <a:t>Velocity mengacu pada kecepatan data dihasilkan, dikumpulkan, dan diproses secara berkelanjutan.</a:t>
              </a:r>
            </a:p>
          </p:txBody>
        </p:sp>
      </p:grpSp>
      <p:grpSp>
        <p:nvGrpSpPr>
          <p:cNvPr name="Group 17" id="17"/>
          <p:cNvGrpSpPr/>
          <p:nvPr/>
        </p:nvGrpSpPr>
        <p:grpSpPr>
          <a:xfrm rot="0">
            <a:off x="914400" y="2523744"/>
            <a:ext cx="16459200" cy="640080"/>
            <a:chOff x="0" y="0"/>
            <a:chExt cx="21945600" cy="853440"/>
          </a:xfrm>
        </p:grpSpPr>
        <p:sp>
          <p:nvSpPr>
            <p:cNvPr name="Freeform 18" id="18"/>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9" id="19"/>
            <p:cNvSpPr txBox="true"/>
            <p:nvPr/>
          </p:nvSpPr>
          <p:spPr>
            <a:xfrm>
              <a:off x="0" y="-38100"/>
              <a:ext cx="21945600" cy="891540"/>
            </a:xfrm>
            <a:prstGeom prst="rect">
              <a:avLst/>
            </a:prstGeom>
          </p:spPr>
          <p:txBody>
            <a:bodyPr anchor="ctr" rtlCol="false" tIns="0" lIns="0" bIns="0" rIns="0"/>
            <a:lstStyle/>
            <a:p>
              <a:pPr algn="l">
                <a:lnSpc>
                  <a:spcPts val="2879"/>
                </a:lnSpc>
              </a:pPr>
              <a:r>
                <a:rPr lang="en-US" sz="2400" b="true">
                  <a:solidFill>
                    <a:srgbClr val="0A2342"/>
                  </a:solidFill>
                  <a:latin typeface="Calibri (MS) Bold"/>
                  <a:ea typeface="Calibri (MS) Bold"/>
                  <a:cs typeface="Calibri (MS) Bold"/>
                  <a:sym typeface="Calibri (MS) Bold"/>
                </a:rPr>
                <a:t>Alur Pengumpulan Data BMKG:</a:t>
              </a:r>
            </a:p>
          </p:txBody>
        </p:sp>
      </p:grpSp>
      <p:grpSp>
        <p:nvGrpSpPr>
          <p:cNvPr name="Group 20" id="20"/>
          <p:cNvGrpSpPr/>
          <p:nvPr/>
        </p:nvGrpSpPr>
        <p:grpSpPr>
          <a:xfrm rot="0">
            <a:off x="718823" y="3370583"/>
            <a:ext cx="3042923" cy="1762763"/>
            <a:chOff x="0" y="0"/>
            <a:chExt cx="4057231" cy="2350351"/>
          </a:xfrm>
        </p:grpSpPr>
        <p:sp>
          <p:nvSpPr>
            <p:cNvPr name="Freeform 21" id="21"/>
            <p:cNvSpPr/>
            <p:nvPr/>
          </p:nvSpPr>
          <p:spPr>
            <a:xfrm flipH="false" flipV="false" rot="0">
              <a:off x="16891" y="16891"/>
              <a:ext cx="4023360" cy="2316480"/>
            </a:xfrm>
            <a:custGeom>
              <a:avLst/>
              <a:gdLst/>
              <a:ahLst/>
              <a:cxnLst/>
              <a:rect r="r" b="b" t="t" l="l"/>
              <a:pathLst>
                <a:path h="2316480" w="4023360">
                  <a:moveTo>
                    <a:pt x="0" y="0"/>
                  </a:moveTo>
                  <a:lnTo>
                    <a:pt x="4023360" y="0"/>
                  </a:lnTo>
                  <a:lnTo>
                    <a:pt x="4023360" y="2316480"/>
                  </a:lnTo>
                  <a:lnTo>
                    <a:pt x="0" y="2316480"/>
                  </a:lnTo>
                  <a:close/>
                </a:path>
              </a:pathLst>
            </a:custGeom>
            <a:solidFill>
              <a:srgbClr val="F4A261"/>
            </a:solidFill>
          </p:spPr>
        </p:sp>
        <p:sp>
          <p:nvSpPr>
            <p:cNvPr name="Freeform 22" id="22"/>
            <p:cNvSpPr/>
            <p:nvPr/>
          </p:nvSpPr>
          <p:spPr>
            <a:xfrm flipH="false" flipV="false" rot="0">
              <a:off x="0" y="0"/>
              <a:ext cx="4057142" cy="2350262"/>
            </a:xfrm>
            <a:custGeom>
              <a:avLst/>
              <a:gdLst/>
              <a:ahLst/>
              <a:cxnLst/>
              <a:rect r="r" b="b" t="t" l="l"/>
              <a:pathLst>
                <a:path h="2350262" w="4057142">
                  <a:moveTo>
                    <a:pt x="16891" y="0"/>
                  </a:moveTo>
                  <a:lnTo>
                    <a:pt x="4040251" y="0"/>
                  </a:lnTo>
                  <a:cubicBezTo>
                    <a:pt x="4049649" y="0"/>
                    <a:pt x="4057142" y="7620"/>
                    <a:pt x="4057142" y="16891"/>
                  </a:cubicBezTo>
                  <a:lnTo>
                    <a:pt x="4057142" y="2333371"/>
                  </a:lnTo>
                  <a:cubicBezTo>
                    <a:pt x="4057142" y="2342769"/>
                    <a:pt x="4049522" y="2350262"/>
                    <a:pt x="404025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040251" y="2316480"/>
                  </a:lnTo>
                  <a:lnTo>
                    <a:pt x="4040251" y="2333371"/>
                  </a:lnTo>
                  <a:lnTo>
                    <a:pt x="4023360" y="2333371"/>
                  </a:lnTo>
                  <a:lnTo>
                    <a:pt x="4023360" y="16891"/>
                  </a:lnTo>
                  <a:lnTo>
                    <a:pt x="4040251" y="16891"/>
                  </a:lnTo>
                  <a:lnTo>
                    <a:pt x="4040251" y="33909"/>
                  </a:lnTo>
                  <a:lnTo>
                    <a:pt x="16891" y="33909"/>
                  </a:lnTo>
                  <a:close/>
                </a:path>
              </a:pathLst>
            </a:custGeom>
            <a:solidFill>
              <a:srgbClr val="F4A261"/>
            </a:solidFill>
          </p:spPr>
        </p:sp>
      </p:grpSp>
      <p:grpSp>
        <p:nvGrpSpPr>
          <p:cNvPr name="Group 23" id="23"/>
          <p:cNvGrpSpPr/>
          <p:nvPr/>
        </p:nvGrpSpPr>
        <p:grpSpPr>
          <a:xfrm rot="0">
            <a:off x="731520" y="3419856"/>
            <a:ext cx="3017520" cy="1005840"/>
            <a:chOff x="0" y="0"/>
            <a:chExt cx="4023360" cy="1341120"/>
          </a:xfrm>
        </p:grpSpPr>
        <p:sp>
          <p:nvSpPr>
            <p:cNvPr name="Freeform 24" id="24"/>
            <p:cNvSpPr/>
            <p:nvPr/>
          </p:nvSpPr>
          <p:spPr>
            <a:xfrm flipH="false" flipV="false" rot="0">
              <a:off x="0" y="0"/>
              <a:ext cx="4023360" cy="1341120"/>
            </a:xfrm>
            <a:custGeom>
              <a:avLst/>
              <a:gdLst/>
              <a:ahLst/>
              <a:cxnLst/>
              <a:rect r="r" b="b" t="t" l="l"/>
              <a:pathLst>
                <a:path h="1341120" w="4023360">
                  <a:moveTo>
                    <a:pt x="0" y="0"/>
                  </a:moveTo>
                  <a:lnTo>
                    <a:pt x="4023360" y="0"/>
                  </a:lnTo>
                  <a:lnTo>
                    <a:pt x="4023360" y="1341120"/>
                  </a:lnTo>
                  <a:lnTo>
                    <a:pt x="0" y="1341120"/>
                  </a:lnTo>
                  <a:close/>
                </a:path>
              </a:pathLst>
            </a:custGeom>
            <a:blipFill>
              <a:blip r:embed="rId2">
                <a:alphaModFix amt="0"/>
              </a:blip>
              <a:stretch>
                <a:fillRect l="0" t="-8455" r="0" b="-8455"/>
              </a:stretch>
            </a:blipFill>
          </p:spPr>
        </p:sp>
        <p:sp>
          <p:nvSpPr>
            <p:cNvPr name="TextBox 25" id="25"/>
            <p:cNvSpPr txBox="true"/>
            <p:nvPr/>
          </p:nvSpPr>
          <p:spPr>
            <a:xfrm>
              <a:off x="0" y="-47625"/>
              <a:ext cx="4023360"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Sensor</a:t>
              </a:r>
            </a:p>
            <a:p>
              <a:pPr algn="ctr">
                <a:lnSpc>
                  <a:spcPts val="2640"/>
                </a:lnSpc>
              </a:pPr>
              <a:r>
                <a:rPr lang="en-US" sz="2200" b="true">
                  <a:solidFill>
                    <a:srgbClr val="FFFFFF"/>
                  </a:solidFill>
                  <a:latin typeface="Calibri (MS) Bold"/>
                  <a:ea typeface="Calibri (MS) Bold"/>
                  <a:cs typeface="Calibri (MS) Bold"/>
                  <a:sym typeface="Calibri (MS) Bold"/>
                </a:rPr>
                <a:t>Otomatis</a:t>
              </a:r>
            </a:p>
          </p:txBody>
        </p:sp>
      </p:grpSp>
      <p:grpSp>
        <p:nvGrpSpPr>
          <p:cNvPr name="Group 26" id="26"/>
          <p:cNvGrpSpPr/>
          <p:nvPr/>
        </p:nvGrpSpPr>
        <p:grpSpPr>
          <a:xfrm rot="0">
            <a:off x="731520" y="4389120"/>
            <a:ext cx="3017520" cy="512064"/>
            <a:chOff x="0" y="0"/>
            <a:chExt cx="4023360" cy="682752"/>
          </a:xfrm>
        </p:grpSpPr>
        <p:sp>
          <p:nvSpPr>
            <p:cNvPr name="Freeform 27" id="27"/>
            <p:cNvSpPr/>
            <p:nvPr/>
          </p:nvSpPr>
          <p:spPr>
            <a:xfrm flipH="false" flipV="false" rot="0">
              <a:off x="0" y="0"/>
              <a:ext cx="4023360" cy="682752"/>
            </a:xfrm>
            <a:custGeom>
              <a:avLst/>
              <a:gdLst/>
              <a:ahLst/>
              <a:cxnLst/>
              <a:rect r="r" b="b" t="t" l="l"/>
              <a:pathLst>
                <a:path h="682752" w="4023360">
                  <a:moveTo>
                    <a:pt x="0" y="0"/>
                  </a:moveTo>
                  <a:lnTo>
                    <a:pt x="4023360" y="0"/>
                  </a:lnTo>
                  <a:lnTo>
                    <a:pt x="4023360" y="682752"/>
                  </a:lnTo>
                  <a:lnTo>
                    <a:pt x="0" y="682752"/>
                  </a:lnTo>
                  <a:close/>
                </a:path>
              </a:pathLst>
            </a:custGeom>
            <a:blipFill>
              <a:blip r:embed="rId2">
                <a:alphaModFix amt="0"/>
              </a:blip>
              <a:stretch>
                <a:fillRect l="0" t="-64822" r="0" b="-64822"/>
              </a:stretch>
            </a:blipFill>
          </p:spPr>
        </p:sp>
        <p:sp>
          <p:nvSpPr>
            <p:cNvPr name="TextBox 28" id="28"/>
            <p:cNvSpPr txBox="true"/>
            <p:nvPr/>
          </p:nvSpPr>
          <p:spPr>
            <a:xfrm>
              <a:off x="0" y="-38100"/>
              <a:ext cx="4023360" cy="72085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24 jam/hari</a:t>
              </a:r>
            </a:p>
          </p:txBody>
        </p:sp>
      </p:grpSp>
      <p:grpSp>
        <p:nvGrpSpPr>
          <p:cNvPr name="Group 29" id="29"/>
          <p:cNvGrpSpPr/>
          <p:nvPr/>
        </p:nvGrpSpPr>
        <p:grpSpPr>
          <a:xfrm rot="0">
            <a:off x="3749040" y="3749040"/>
            <a:ext cx="457200" cy="694944"/>
            <a:chOff x="0" y="0"/>
            <a:chExt cx="609600" cy="926592"/>
          </a:xfrm>
        </p:grpSpPr>
        <p:sp>
          <p:nvSpPr>
            <p:cNvPr name="Freeform 30" id="30"/>
            <p:cNvSpPr/>
            <p:nvPr/>
          </p:nvSpPr>
          <p:spPr>
            <a:xfrm flipH="false" flipV="false" rot="0">
              <a:off x="0" y="0"/>
              <a:ext cx="609600" cy="926592"/>
            </a:xfrm>
            <a:custGeom>
              <a:avLst/>
              <a:gdLst/>
              <a:ahLst/>
              <a:cxnLst/>
              <a:rect r="r" b="b" t="t" l="l"/>
              <a:pathLst>
                <a:path h="926592" w="609600">
                  <a:moveTo>
                    <a:pt x="0" y="0"/>
                  </a:moveTo>
                  <a:lnTo>
                    <a:pt x="609600" y="0"/>
                  </a:lnTo>
                  <a:lnTo>
                    <a:pt x="609600" y="926592"/>
                  </a:lnTo>
                  <a:lnTo>
                    <a:pt x="0" y="926592"/>
                  </a:lnTo>
                  <a:close/>
                </a:path>
              </a:pathLst>
            </a:custGeom>
            <a:blipFill>
              <a:blip r:embed="rId2">
                <a:alphaModFix amt="0"/>
              </a:blip>
              <a:stretch>
                <a:fillRect l="-145021" t="0" r="-145021" b="0"/>
              </a:stretch>
            </a:blipFill>
          </p:spPr>
        </p:sp>
        <p:sp>
          <p:nvSpPr>
            <p:cNvPr name="TextBox 31" id="31"/>
            <p:cNvSpPr txBox="true"/>
            <p:nvPr/>
          </p:nvSpPr>
          <p:spPr>
            <a:xfrm>
              <a:off x="0" y="-57150"/>
              <a:ext cx="609600" cy="983742"/>
            </a:xfrm>
            <a:prstGeom prst="rect">
              <a:avLst/>
            </a:prstGeom>
          </p:spPr>
          <p:txBody>
            <a:bodyPr anchor="ctr" rtlCol="false" tIns="0" lIns="0" bIns="0" rIns="0"/>
            <a:lstStyle/>
            <a:p>
              <a:pPr algn="l">
                <a:lnSpc>
                  <a:spcPts val="3120"/>
                </a:lnSpc>
              </a:pPr>
              <a:r>
                <a:rPr lang="en-US" sz="2600">
                  <a:solidFill>
                    <a:srgbClr val="F4A261"/>
                  </a:solidFill>
                  <a:latin typeface="Calibri (MS)"/>
                  <a:ea typeface="Calibri (MS)"/>
                  <a:cs typeface="Calibri (MS)"/>
                  <a:sym typeface="Calibri (MS)"/>
                </a:rPr>
                <a:t>▶</a:t>
              </a:r>
            </a:p>
          </p:txBody>
        </p:sp>
      </p:grpSp>
      <p:grpSp>
        <p:nvGrpSpPr>
          <p:cNvPr name="Group 32" id="32"/>
          <p:cNvGrpSpPr/>
          <p:nvPr/>
        </p:nvGrpSpPr>
        <p:grpSpPr>
          <a:xfrm rot="0">
            <a:off x="4102103" y="3370583"/>
            <a:ext cx="3042923" cy="1762763"/>
            <a:chOff x="0" y="0"/>
            <a:chExt cx="4057231" cy="2350351"/>
          </a:xfrm>
        </p:grpSpPr>
        <p:sp>
          <p:nvSpPr>
            <p:cNvPr name="Freeform 33" id="33"/>
            <p:cNvSpPr/>
            <p:nvPr/>
          </p:nvSpPr>
          <p:spPr>
            <a:xfrm flipH="false" flipV="false" rot="0">
              <a:off x="16891" y="16891"/>
              <a:ext cx="4023360" cy="2316480"/>
            </a:xfrm>
            <a:custGeom>
              <a:avLst/>
              <a:gdLst/>
              <a:ahLst/>
              <a:cxnLst/>
              <a:rect r="r" b="b" t="t" l="l"/>
              <a:pathLst>
                <a:path h="2316480" w="4023360">
                  <a:moveTo>
                    <a:pt x="0" y="0"/>
                  </a:moveTo>
                  <a:lnTo>
                    <a:pt x="4023360" y="0"/>
                  </a:lnTo>
                  <a:lnTo>
                    <a:pt x="4023360" y="2316480"/>
                  </a:lnTo>
                  <a:lnTo>
                    <a:pt x="0" y="2316480"/>
                  </a:lnTo>
                  <a:close/>
                </a:path>
              </a:pathLst>
            </a:custGeom>
            <a:solidFill>
              <a:srgbClr val="E08C4A"/>
            </a:solidFill>
          </p:spPr>
        </p:sp>
        <p:sp>
          <p:nvSpPr>
            <p:cNvPr name="Freeform 34" id="34"/>
            <p:cNvSpPr/>
            <p:nvPr/>
          </p:nvSpPr>
          <p:spPr>
            <a:xfrm flipH="false" flipV="false" rot="0">
              <a:off x="0" y="0"/>
              <a:ext cx="4057142" cy="2350262"/>
            </a:xfrm>
            <a:custGeom>
              <a:avLst/>
              <a:gdLst/>
              <a:ahLst/>
              <a:cxnLst/>
              <a:rect r="r" b="b" t="t" l="l"/>
              <a:pathLst>
                <a:path h="2350262" w="4057142">
                  <a:moveTo>
                    <a:pt x="16891" y="0"/>
                  </a:moveTo>
                  <a:lnTo>
                    <a:pt x="4040251" y="0"/>
                  </a:lnTo>
                  <a:cubicBezTo>
                    <a:pt x="4049649" y="0"/>
                    <a:pt x="4057142" y="7620"/>
                    <a:pt x="4057142" y="16891"/>
                  </a:cubicBezTo>
                  <a:lnTo>
                    <a:pt x="4057142" y="2333371"/>
                  </a:lnTo>
                  <a:cubicBezTo>
                    <a:pt x="4057142" y="2342769"/>
                    <a:pt x="4049522" y="2350262"/>
                    <a:pt x="404025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040251" y="2316480"/>
                  </a:lnTo>
                  <a:lnTo>
                    <a:pt x="4040251" y="2333371"/>
                  </a:lnTo>
                  <a:lnTo>
                    <a:pt x="4023360" y="2333371"/>
                  </a:lnTo>
                  <a:lnTo>
                    <a:pt x="4023360" y="16891"/>
                  </a:lnTo>
                  <a:lnTo>
                    <a:pt x="4040251" y="16891"/>
                  </a:lnTo>
                  <a:lnTo>
                    <a:pt x="4040251" y="33909"/>
                  </a:lnTo>
                  <a:lnTo>
                    <a:pt x="16891" y="33909"/>
                  </a:lnTo>
                  <a:close/>
                </a:path>
              </a:pathLst>
            </a:custGeom>
            <a:solidFill>
              <a:srgbClr val="E08C4A"/>
            </a:solidFill>
          </p:spPr>
        </p:sp>
      </p:grpSp>
      <p:grpSp>
        <p:nvGrpSpPr>
          <p:cNvPr name="Group 35" id="35"/>
          <p:cNvGrpSpPr/>
          <p:nvPr/>
        </p:nvGrpSpPr>
        <p:grpSpPr>
          <a:xfrm rot="0">
            <a:off x="4114800" y="3419856"/>
            <a:ext cx="3017520" cy="1005840"/>
            <a:chOff x="0" y="0"/>
            <a:chExt cx="4023360" cy="1341120"/>
          </a:xfrm>
        </p:grpSpPr>
        <p:sp>
          <p:nvSpPr>
            <p:cNvPr name="Freeform 36" id="36"/>
            <p:cNvSpPr/>
            <p:nvPr/>
          </p:nvSpPr>
          <p:spPr>
            <a:xfrm flipH="false" flipV="false" rot="0">
              <a:off x="0" y="0"/>
              <a:ext cx="4023360" cy="1341120"/>
            </a:xfrm>
            <a:custGeom>
              <a:avLst/>
              <a:gdLst/>
              <a:ahLst/>
              <a:cxnLst/>
              <a:rect r="r" b="b" t="t" l="l"/>
              <a:pathLst>
                <a:path h="1341120" w="4023360">
                  <a:moveTo>
                    <a:pt x="0" y="0"/>
                  </a:moveTo>
                  <a:lnTo>
                    <a:pt x="4023360" y="0"/>
                  </a:lnTo>
                  <a:lnTo>
                    <a:pt x="4023360" y="1341120"/>
                  </a:lnTo>
                  <a:lnTo>
                    <a:pt x="0" y="1341120"/>
                  </a:lnTo>
                  <a:close/>
                </a:path>
              </a:pathLst>
            </a:custGeom>
            <a:blipFill>
              <a:blip r:embed="rId2">
                <a:alphaModFix amt="0"/>
              </a:blip>
              <a:stretch>
                <a:fillRect l="0" t="-8455" r="0" b="-8455"/>
              </a:stretch>
            </a:blipFill>
          </p:spPr>
        </p:sp>
        <p:sp>
          <p:nvSpPr>
            <p:cNvPr name="TextBox 37" id="37"/>
            <p:cNvSpPr txBox="true"/>
            <p:nvPr/>
          </p:nvSpPr>
          <p:spPr>
            <a:xfrm>
              <a:off x="0" y="-47625"/>
              <a:ext cx="4023360"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Perekaman</a:t>
              </a:r>
            </a:p>
            <a:p>
              <a:pPr algn="ctr">
                <a:lnSpc>
                  <a:spcPts val="2640"/>
                </a:lnSpc>
              </a:pPr>
              <a:r>
                <a:rPr lang="en-US" sz="2200" b="true">
                  <a:solidFill>
                    <a:srgbClr val="FFFFFF"/>
                  </a:solidFill>
                  <a:latin typeface="Calibri (MS) Bold"/>
                  <a:ea typeface="Calibri (MS) Bold"/>
                  <a:cs typeface="Calibri (MS) Bold"/>
                  <a:sym typeface="Calibri (MS) Bold"/>
                </a:rPr>
                <a:t>Harian</a:t>
              </a:r>
            </a:p>
          </p:txBody>
        </p:sp>
      </p:grpSp>
      <p:grpSp>
        <p:nvGrpSpPr>
          <p:cNvPr name="Group 38" id="38"/>
          <p:cNvGrpSpPr/>
          <p:nvPr/>
        </p:nvGrpSpPr>
        <p:grpSpPr>
          <a:xfrm rot="0">
            <a:off x="4114800" y="4389120"/>
            <a:ext cx="3017520" cy="512064"/>
            <a:chOff x="0" y="0"/>
            <a:chExt cx="4023360" cy="682752"/>
          </a:xfrm>
        </p:grpSpPr>
        <p:sp>
          <p:nvSpPr>
            <p:cNvPr name="Freeform 39" id="39"/>
            <p:cNvSpPr/>
            <p:nvPr/>
          </p:nvSpPr>
          <p:spPr>
            <a:xfrm flipH="false" flipV="false" rot="0">
              <a:off x="0" y="0"/>
              <a:ext cx="4023360" cy="682752"/>
            </a:xfrm>
            <a:custGeom>
              <a:avLst/>
              <a:gdLst/>
              <a:ahLst/>
              <a:cxnLst/>
              <a:rect r="r" b="b" t="t" l="l"/>
              <a:pathLst>
                <a:path h="682752" w="4023360">
                  <a:moveTo>
                    <a:pt x="0" y="0"/>
                  </a:moveTo>
                  <a:lnTo>
                    <a:pt x="4023360" y="0"/>
                  </a:lnTo>
                  <a:lnTo>
                    <a:pt x="4023360" y="682752"/>
                  </a:lnTo>
                  <a:lnTo>
                    <a:pt x="0" y="682752"/>
                  </a:lnTo>
                  <a:close/>
                </a:path>
              </a:pathLst>
            </a:custGeom>
            <a:blipFill>
              <a:blip r:embed="rId2">
                <a:alphaModFix amt="0"/>
              </a:blip>
              <a:stretch>
                <a:fillRect l="0" t="-64822" r="0" b="-64822"/>
              </a:stretch>
            </a:blipFill>
          </p:spPr>
        </p:sp>
        <p:sp>
          <p:nvSpPr>
            <p:cNvPr name="TextBox 40" id="40"/>
            <p:cNvSpPr txBox="true"/>
            <p:nvPr/>
          </p:nvSpPr>
          <p:spPr>
            <a:xfrm>
              <a:off x="0" y="-38100"/>
              <a:ext cx="4023360" cy="72085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Setiap hari</a:t>
              </a:r>
            </a:p>
          </p:txBody>
        </p:sp>
      </p:grpSp>
      <p:grpSp>
        <p:nvGrpSpPr>
          <p:cNvPr name="Group 41" id="41"/>
          <p:cNvGrpSpPr/>
          <p:nvPr/>
        </p:nvGrpSpPr>
        <p:grpSpPr>
          <a:xfrm rot="0">
            <a:off x="7132320" y="3749040"/>
            <a:ext cx="457200" cy="694944"/>
            <a:chOff x="0" y="0"/>
            <a:chExt cx="609600" cy="926592"/>
          </a:xfrm>
        </p:grpSpPr>
        <p:sp>
          <p:nvSpPr>
            <p:cNvPr name="Freeform 42" id="42"/>
            <p:cNvSpPr/>
            <p:nvPr/>
          </p:nvSpPr>
          <p:spPr>
            <a:xfrm flipH="false" flipV="false" rot="0">
              <a:off x="0" y="0"/>
              <a:ext cx="609600" cy="926592"/>
            </a:xfrm>
            <a:custGeom>
              <a:avLst/>
              <a:gdLst/>
              <a:ahLst/>
              <a:cxnLst/>
              <a:rect r="r" b="b" t="t" l="l"/>
              <a:pathLst>
                <a:path h="926592" w="609600">
                  <a:moveTo>
                    <a:pt x="0" y="0"/>
                  </a:moveTo>
                  <a:lnTo>
                    <a:pt x="609600" y="0"/>
                  </a:lnTo>
                  <a:lnTo>
                    <a:pt x="609600" y="926592"/>
                  </a:lnTo>
                  <a:lnTo>
                    <a:pt x="0" y="926592"/>
                  </a:lnTo>
                  <a:close/>
                </a:path>
              </a:pathLst>
            </a:custGeom>
            <a:blipFill>
              <a:blip r:embed="rId2">
                <a:alphaModFix amt="0"/>
              </a:blip>
              <a:stretch>
                <a:fillRect l="-145021" t="0" r="-145021" b="0"/>
              </a:stretch>
            </a:blipFill>
          </p:spPr>
        </p:sp>
        <p:sp>
          <p:nvSpPr>
            <p:cNvPr name="TextBox 43" id="43"/>
            <p:cNvSpPr txBox="true"/>
            <p:nvPr/>
          </p:nvSpPr>
          <p:spPr>
            <a:xfrm>
              <a:off x="0" y="-57150"/>
              <a:ext cx="609600" cy="983742"/>
            </a:xfrm>
            <a:prstGeom prst="rect">
              <a:avLst/>
            </a:prstGeom>
          </p:spPr>
          <p:txBody>
            <a:bodyPr anchor="ctr" rtlCol="false" tIns="0" lIns="0" bIns="0" rIns="0"/>
            <a:lstStyle/>
            <a:p>
              <a:pPr algn="l">
                <a:lnSpc>
                  <a:spcPts val="3120"/>
                </a:lnSpc>
              </a:pPr>
              <a:r>
                <a:rPr lang="en-US" sz="2600">
                  <a:solidFill>
                    <a:srgbClr val="F4A261"/>
                  </a:solidFill>
                  <a:latin typeface="Calibri (MS)"/>
                  <a:ea typeface="Calibri (MS)"/>
                  <a:cs typeface="Calibri (MS)"/>
                  <a:sym typeface="Calibri (MS)"/>
                </a:rPr>
                <a:t>▶</a:t>
              </a:r>
            </a:p>
          </p:txBody>
        </p:sp>
      </p:grpSp>
      <p:grpSp>
        <p:nvGrpSpPr>
          <p:cNvPr name="Group 44" id="44"/>
          <p:cNvGrpSpPr/>
          <p:nvPr/>
        </p:nvGrpSpPr>
        <p:grpSpPr>
          <a:xfrm rot="0">
            <a:off x="7485383" y="3370583"/>
            <a:ext cx="3042923" cy="1762763"/>
            <a:chOff x="0" y="0"/>
            <a:chExt cx="4057231" cy="2350351"/>
          </a:xfrm>
        </p:grpSpPr>
        <p:sp>
          <p:nvSpPr>
            <p:cNvPr name="Freeform 45" id="45"/>
            <p:cNvSpPr/>
            <p:nvPr/>
          </p:nvSpPr>
          <p:spPr>
            <a:xfrm flipH="false" flipV="false" rot="0">
              <a:off x="16891" y="16891"/>
              <a:ext cx="4023360" cy="2316480"/>
            </a:xfrm>
            <a:custGeom>
              <a:avLst/>
              <a:gdLst/>
              <a:ahLst/>
              <a:cxnLst/>
              <a:rect r="r" b="b" t="t" l="l"/>
              <a:pathLst>
                <a:path h="2316480" w="4023360">
                  <a:moveTo>
                    <a:pt x="0" y="0"/>
                  </a:moveTo>
                  <a:lnTo>
                    <a:pt x="4023360" y="0"/>
                  </a:lnTo>
                  <a:lnTo>
                    <a:pt x="4023360" y="2316480"/>
                  </a:lnTo>
                  <a:lnTo>
                    <a:pt x="0" y="2316480"/>
                  </a:lnTo>
                  <a:close/>
                </a:path>
              </a:pathLst>
            </a:custGeom>
            <a:solidFill>
              <a:srgbClr val="C87830"/>
            </a:solidFill>
          </p:spPr>
        </p:sp>
        <p:sp>
          <p:nvSpPr>
            <p:cNvPr name="Freeform 46" id="46"/>
            <p:cNvSpPr/>
            <p:nvPr/>
          </p:nvSpPr>
          <p:spPr>
            <a:xfrm flipH="false" flipV="false" rot="0">
              <a:off x="0" y="0"/>
              <a:ext cx="4057142" cy="2350262"/>
            </a:xfrm>
            <a:custGeom>
              <a:avLst/>
              <a:gdLst/>
              <a:ahLst/>
              <a:cxnLst/>
              <a:rect r="r" b="b" t="t" l="l"/>
              <a:pathLst>
                <a:path h="2350262" w="4057142">
                  <a:moveTo>
                    <a:pt x="16891" y="0"/>
                  </a:moveTo>
                  <a:lnTo>
                    <a:pt x="4040251" y="0"/>
                  </a:lnTo>
                  <a:cubicBezTo>
                    <a:pt x="4049649" y="0"/>
                    <a:pt x="4057142" y="7620"/>
                    <a:pt x="4057142" y="16891"/>
                  </a:cubicBezTo>
                  <a:lnTo>
                    <a:pt x="4057142" y="2333371"/>
                  </a:lnTo>
                  <a:cubicBezTo>
                    <a:pt x="4057142" y="2342769"/>
                    <a:pt x="4049522" y="2350262"/>
                    <a:pt x="404025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040251" y="2316480"/>
                  </a:lnTo>
                  <a:lnTo>
                    <a:pt x="4040251" y="2333371"/>
                  </a:lnTo>
                  <a:lnTo>
                    <a:pt x="4023360" y="2333371"/>
                  </a:lnTo>
                  <a:lnTo>
                    <a:pt x="4023360" y="16891"/>
                  </a:lnTo>
                  <a:lnTo>
                    <a:pt x="4040251" y="16891"/>
                  </a:lnTo>
                  <a:lnTo>
                    <a:pt x="4040251" y="33909"/>
                  </a:lnTo>
                  <a:lnTo>
                    <a:pt x="16891" y="33909"/>
                  </a:lnTo>
                  <a:close/>
                </a:path>
              </a:pathLst>
            </a:custGeom>
            <a:solidFill>
              <a:srgbClr val="C87830"/>
            </a:solidFill>
          </p:spPr>
        </p:sp>
      </p:grpSp>
      <p:grpSp>
        <p:nvGrpSpPr>
          <p:cNvPr name="Group 47" id="47"/>
          <p:cNvGrpSpPr/>
          <p:nvPr/>
        </p:nvGrpSpPr>
        <p:grpSpPr>
          <a:xfrm rot="0">
            <a:off x="7498080" y="3419856"/>
            <a:ext cx="3017520" cy="1005840"/>
            <a:chOff x="0" y="0"/>
            <a:chExt cx="4023360" cy="1341120"/>
          </a:xfrm>
        </p:grpSpPr>
        <p:sp>
          <p:nvSpPr>
            <p:cNvPr name="Freeform 48" id="48"/>
            <p:cNvSpPr/>
            <p:nvPr/>
          </p:nvSpPr>
          <p:spPr>
            <a:xfrm flipH="false" flipV="false" rot="0">
              <a:off x="0" y="0"/>
              <a:ext cx="4023360" cy="1341120"/>
            </a:xfrm>
            <a:custGeom>
              <a:avLst/>
              <a:gdLst/>
              <a:ahLst/>
              <a:cxnLst/>
              <a:rect r="r" b="b" t="t" l="l"/>
              <a:pathLst>
                <a:path h="1341120" w="4023360">
                  <a:moveTo>
                    <a:pt x="0" y="0"/>
                  </a:moveTo>
                  <a:lnTo>
                    <a:pt x="4023360" y="0"/>
                  </a:lnTo>
                  <a:lnTo>
                    <a:pt x="4023360" y="1341120"/>
                  </a:lnTo>
                  <a:lnTo>
                    <a:pt x="0" y="1341120"/>
                  </a:lnTo>
                  <a:close/>
                </a:path>
              </a:pathLst>
            </a:custGeom>
            <a:blipFill>
              <a:blip r:embed="rId2">
                <a:alphaModFix amt="0"/>
              </a:blip>
              <a:stretch>
                <a:fillRect l="0" t="-8455" r="0" b="-8455"/>
              </a:stretch>
            </a:blipFill>
          </p:spPr>
        </p:sp>
        <p:sp>
          <p:nvSpPr>
            <p:cNvPr name="TextBox 49" id="49"/>
            <p:cNvSpPr txBox="true"/>
            <p:nvPr/>
          </p:nvSpPr>
          <p:spPr>
            <a:xfrm>
              <a:off x="0" y="-47625"/>
              <a:ext cx="4023360"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Kompilasi</a:t>
              </a:r>
            </a:p>
            <a:p>
              <a:pPr algn="ctr">
                <a:lnSpc>
                  <a:spcPts val="2640"/>
                </a:lnSpc>
              </a:pPr>
              <a:r>
                <a:rPr lang="en-US" sz="2200" b="true">
                  <a:solidFill>
                    <a:srgbClr val="FFFFFF"/>
                  </a:solidFill>
                  <a:latin typeface="Calibri (MS) Bold"/>
                  <a:ea typeface="Calibri (MS) Bold"/>
                  <a:cs typeface="Calibri (MS) Bold"/>
                  <a:sym typeface="Calibri (MS) Bold"/>
                </a:rPr>
                <a:t>Bulanan</a:t>
              </a:r>
            </a:p>
          </p:txBody>
        </p:sp>
      </p:grpSp>
      <p:grpSp>
        <p:nvGrpSpPr>
          <p:cNvPr name="Group 50" id="50"/>
          <p:cNvGrpSpPr/>
          <p:nvPr/>
        </p:nvGrpSpPr>
        <p:grpSpPr>
          <a:xfrm rot="0">
            <a:off x="7498080" y="4389120"/>
            <a:ext cx="3017520" cy="512064"/>
            <a:chOff x="0" y="0"/>
            <a:chExt cx="4023360" cy="682752"/>
          </a:xfrm>
        </p:grpSpPr>
        <p:sp>
          <p:nvSpPr>
            <p:cNvPr name="Freeform 51" id="51"/>
            <p:cNvSpPr/>
            <p:nvPr/>
          </p:nvSpPr>
          <p:spPr>
            <a:xfrm flipH="false" flipV="false" rot="0">
              <a:off x="0" y="0"/>
              <a:ext cx="4023360" cy="682752"/>
            </a:xfrm>
            <a:custGeom>
              <a:avLst/>
              <a:gdLst/>
              <a:ahLst/>
              <a:cxnLst/>
              <a:rect r="r" b="b" t="t" l="l"/>
              <a:pathLst>
                <a:path h="682752" w="4023360">
                  <a:moveTo>
                    <a:pt x="0" y="0"/>
                  </a:moveTo>
                  <a:lnTo>
                    <a:pt x="4023360" y="0"/>
                  </a:lnTo>
                  <a:lnTo>
                    <a:pt x="4023360" y="682752"/>
                  </a:lnTo>
                  <a:lnTo>
                    <a:pt x="0" y="682752"/>
                  </a:lnTo>
                  <a:close/>
                </a:path>
              </a:pathLst>
            </a:custGeom>
            <a:blipFill>
              <a:blip r:embed="rId2">
                <a:alphaModFix amt="0"/>
              </a:blip>
              <a:stretch>
                <a:fillRect l="0" t="-64822" r="0" b="-64822"/>
              </a:stretch>
            </a:blipFill>
          </p:spPr>
        </p:sp>
        <p:sp>
          <p:nvSpPr>
            <p:cNvPr name="TextBox 52" id="52"/>
            <p:cNvSpPr txBox="true"/>
            <p:nvPr/>
          </p:nvSpPr>
          <p:spPr>
            <a:xfrm>
              <a:off x="0" y="-38100"/>
              <a:ext cx="4023360" cy="72085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Per bulan</a:t>
              </a:r>
            </a:p>
          </p:txBody>
        </p:sp>
      </p:grpSp>
      <p:grpSp>
        <p:nvGrpSpPr>
          <p:cNvPr name="Group 53" id="53"/>
          <p:cNvGrpSpPr/>
          <p:nvPr/>
        </p:nvGrpSpPr>
        <p:grpSpPr>
          <a:xfrm rot="0">
            <a:off x="10515600" y="3749040"/>
            <a:ext cx="457200" cy="694944"/>
            <a:chOff x="0" y="0"/>
            <a:chExt cx="609600" cy="926592"/>
          </a:xfrm>
        </p:grpSpPr>
        <p:sp>
          <p:nvSpPr>
            <p:cNvPr name="Freeform 54" id="54"/>
            <p:cNvSpPr/>
            <p:nvPr/>
          </p:nvSpPr>
          <p:spPr>
            <a:xfrm flipH="false" flipV="false" rot="0">
              <a:off x="0" y="0"/>
              <a:ext cx="609600" cy="926592"/>
            </a:xfrm>
            <a:custGeom>
              <a:avLst/>
              <a:gdLst/>
              <a:ahLst/>
              <a:cxnLst/>
              <a:rect r="r" b="b" t="t" l="l"/>
              <a:pathLst>
                <a:path h="926592" w="609600">
                  <a:moveTo>
                    <a:pt x="0" y="0"/>
                  </a:moveTo>
                  <a:lnTo>
                    <a:pt x="609600" y="0"/>
                  </a:lnTo>
                  <a:lnTo>
                    <a:pt x="609600" y="926592"/>
                  </a:lnTo>
                  <a:lnTo>
                    <a:pt x="0" y="926592"/>
                  </a:lnTo>
                  <a:close/>
                </a:path>
              </a:pathLst>
            </a:custGeom>
            <a:blipFill>
              <a:blip r:embed="rId2">
                <a:alphaModFix amt="0"/>
              </a:blip>
              <a:stretch>
                <a:fillRect l="-145021" t="0" r="-145021" b="0"/>
              </a:stretch>
            </a:blipFill>
          </p:spPr>
        </p:sp>
        <p:sp>
          <p:nvSpPr>
            <p:cNvPr name="TextBox 55" id="55"/>
            <p:cNvSpPr txBox="true"/>
            <p:nvPr/>
          </p:nvSpPr>
          <p:spPr>
            <a:xfrm>
              <a:off x="0" y="-57150"/>
              <a:ext cx="609600" cy="983742"/>
            </a:xfrm>
            <a:prstGeom prst="rect">
              <a:avLst/>
            </a:prstGeom>
          </p:spPr>
          <p:txBody>
            <a:bodyPr anchor="ctr" rtlCol="false" tIns="0" lIns="0" bIns="0" rIns="0"/>
            <a:lstStyle/>
            <a:p>
              <a:pPr algn="l">
                <a:lnSpc>
                  <a:spcPts val="3120"/>
                </a:lnSpc>
              </a:pPr>
              <a:r>
                <a:rPr lang="en-US" sz="2600">
                  <a:solidFill>
                    <a:srgbClr val="F4A261"/>
                  </a:solidFill>
                  <a:latin typeface="Calibri (MS)"/>
                  <a:ea typeface="Calibri (MS)"/>
                  <a:cs typeface="Calibri (MS)"/>
                  <a:sym typeface="Calibri (MS)"/>
                </a:rPr>
                <a:t>▶</a:t>
              </a:r>
            </a:p>
          </p:txBody>
        </p:sp>
      </p:grpSp>
      <p:grpSp>
        <p:nvGrpSpPr>
          <p:cNvPr name="Group 56" id="56"/>
          <p:cNvGrpSpPr/>
          <p:nvPr/>
        </p:nvGrpSpPr>
        <p:grpSpPr>
          <a:xfrm rot="0">
            <a:off x="10868663" y="3370583"/>
            <a:ext cx="3042923" cy="1762763"/>
            <a:chOff x="0" y="0"/>
            <a:chExt cx="4057231" cy="2350351"/>
          </a:xfrm>
        </p:grpSpPr>
        <p:sp>
          <p:nvSpPr>
            <p:cNvPr name="Freeform 57" id="57"/>
            <p:cNvSpPr/>
            <p:nvPr/>
          </p:nvSpPr>
          <p:spPr>
            <a:xfrm flipH="false" flipV="false" rot="0">
              <a:off x="16891" y="16891"/>
              <a:ext cx="4023360" cy="2316480"/>
            </a:xfrm>
            <a:custGeom>
              <a:avLst/>
              <a:gdLst/>
              <a:ahLst/>
              <a:cxnLst/>
              <a:rect r="r" b="b" t="t" l="l"/>
              <a:pathLst>
                <a:path h="2316480" w="4023360">
                  <a:moveTo>
                    <a:pt x="0" y="0"/>
                  </a:moveTo>
                  <a:lnTo>
                    <a:pt x="4023360" y="0"/>
                  </a:lnTo>
                  <a:lnTo>
                    <a:pt x="4023360" y="2316480"/>
                  </a:lnTo>
                  <a:lnTo>
                    <a:pt x="0" y="2316480"/>
                  </a:lnTo>
                  <a:close/>
                </a:path>
              </a:pathLst>
            </a:custGeom>
            <a:solidFill>
              <a:srgbClr val="B06020"/>
            </a:solidFill>
          </p:spPr>
        </p:sp>
        <p:sp>
          <p:nvSpPr>
            <p:cNvPr name="Freeform 58" id="58"/>
            <p:cNvSpPr/>
            <p:nvPr/>
          </p:nvSpPr>
          <p:spPr>
            <a:xfrm flipH="false" flipV="false" rot="0">
              <a:off x="0" y="0"/>
              <a:ext cx="4057142" cy="2350262"/>
            </a:xfrm>
            <a:custGeom>
              <a:avLst/>
              <a:gdLst/>
              <a:ahLst/>
              <a:cxnLst/>
              <a:rect r="r" b="b" t="t" l="l"/>
              <a:pathLst>
                <a:path h="2350262" w="4057142">
                  <a:moveTo>
                    <a:pt x="16891" y="0"/>
                  </a:moveTo>
                  <a:lnTo>
                    <a:pt x="4040251" y="0"/>
                  </a:lnTo>
                  <a:cubicBezTo>
                    <a:pt x="4049649" y="0"/>
                    <a:pt x="4057142" y="7620"/>
                    <a:pt x="4057142" y="16891"/>
                  </a:cubicBezTo>
                  <a:lnTo>
                    <a:pt x="4057142" y="2333371"/>
                  </a:lnTo>
                  <a:cubicBezTo>
                    <a:pt x="4057142" y="2342769"/>
                    <a:pt x="4049522" y="2350262"/>
                    <a:pt x="404025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040251" y="2316480"/>
                  </a:lnTo>
                  <a:lnTo>
                    <a:pt x="4040251" y="2333371"/>
                  </a:lnTo>
                  <a:lnTo>
                    <a:pt x="4023360" y="2333371"/>
                  </a:lnTo>
                  <a:lnTo>
                    <a:pt x="4023360" y="16891"/>
                  </a:lnTo>
                  <a:lnTo>
                    <a:pt x="4040251" y="16891"/>
                  </a:lnTo>
                  <a:lnTo>
                    <a:pt x="4040251" y="33909"/>
                  </a:lnTo>
                  <a:lnTo>
                    <a:pt x="16891" y="33909"/>
                  </a:lnTo>
                  <a:close/>
                </a:path>
              </a:pathLst>
            </a:custGeom>
            <a:solidFill>
              <a:srgbClr val="B06020"/>
            </a:solidFill>
          </p:spPr>
        </p:sp>
      </p:grpSp>
      <p:grpSp>
        <p:nvGrpSpPr>
          <p:cNvPr name="Group 59" id="59"/>
          <p:cNvGrpSpPr/>
          <p:nvPr/>
        </p:nvGrpSpPr>
        <p:grpSpPr>
          <a:xfrm rot="0">
            <a:off x="10881360" y="3419856"/>
            <a:ext cx="3017520" cy="1005840"/>
            <a:chOff x="0" y="0"/>
            <a:chExt cx="4023360" cy="1341120"/>
          </a:xfrm>
        </p:grpSpPr>
        <p:sp>
          <p:nvSpPr>
            <p:cNvPr name="Freeform 60" id="60"/>
            <p:cNvSpPr/>
            <p:nvPr/>
          </p:nvSpPr>
          <p:spPr>
            <a:xfrm flipH="false" flipV="false" rot="0">
              <a:off x="0" y="0"/>
              <a:ext cx="4023360" cy="1341120"/>
            </a:xfrm>
            <a:custGeom>
              <a:avLst/>
              <a:gdLst/>
              <a:ahLst/>
              <a:cxnLst/>
              <a:rect r="r" b="b" t="t" l="l"/>
              <a:pathLst>
                <a:path h="1341120" w="4023360">
                  <a:moveTo>
                    <a:pt x="0" y="0"/>
                  </a:moveTo>
                  <a:lnTo>
                    <a:pt x="4023360" y="0"/>
                  </a:lnTo>
                  <a:lnTo>
                    <a:pt x="4023360" y="1341120"/>
                  </a:lnTo>
                  <a:lnTo>
                    <a:pt x="0" y="1341120"/>
                  </a:lnTo>
                  <a:close/>
                </a:path>
              </a:pathLst>
            </a:custGeom>
            <a:blipFill>
              <a:blip r:embed="rId2">
                <a:alphaModFix amt="0"/>
              </a:blip>
              <a:stretch>
                <a:fillRect l="0" t="-8455" r="0" b="-8455"/>
              </a:stretch>
            </a:blipFill>
          </p:spPr>
        </p:sp>
        <p:sp>
          <p:nvSpPr>
            <p:cNvPr name="TextBox 61" id="61"/>
            <p:cNvSpPr txBox="true"/>
            <p:nvPr/>
          </p:nvSpPr>
          <p:spPr>
            <a:xfrm>
              <a:off x="0" y="-47625"/>
              <a:ext cx="4023360"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Publikasi</a:t>
              </a:r>
            </a:p>
            <a:p>
              <a:pPr algn="ctr">
                <a:lnSpc>
                  <a:spcPts val="2640"/>
                </a:lnSpc>
              </a:pPr>
              <a:r>
                <a:rPr lang="en-US" sz="2200" b="true">
                  <a:solidFill>
                    <a:srgbClr val="FFFFFF"/>
                  </a:solidFill>
                  <a:latin typeface="Calibri (MS) Bold"/>
                  <a:ea typeface="Calibri (MS) Bold"/>
                  <a:cs typeface="Calibri (MS) Bold"/>
                  <a:sym typeface="Calibri (MS) Bold"/>
                </a:rPr>
                <a:t>BMKG</a:t>
              </a:r>
            </a:p>
          </p:txBody>
        </p:sp>
      </p:grpSp>
      <p:grpSp>
        <p:nvGrpSpPr>
          <p:cNvPr name="Group 62" id="62"/>
          <p:cNvGrpSpPr/>
          <p:nvPr/>
        </p:nvGrpSpPr>
        <p:grpSpPr>
          <a:xfrm rot="0">
            <a:off x="10881360" y="4389120"/>
            <a:ext cx="3017520" cy="512064"/>
            <a:chOff x="0" y="0"/>
            <a:chExt cx="4023360" cy="682752"/>
          </a:xfrm>
        </p:grpSpPr>
        <p:sp>
          <p:nvSpPr>
            <p:cNvPr name="Freeform 63" id="63"/>
            <p:cNvSpPr/>
            <p:nvPr/>
          </p:nvSpPr>
          <p:spPr>
            <a:xfrm flipH="false" flipV="false" rot="0">
              <a:off x="0" y="0"/>
              <a:ext cx="4023360" cy="682752"/>
            </a:xfrm>
            <a:custGeom>
              <a:avLst/>
              <a:gdLst/>
              <a:ahLst/>
              <a:cxnLst/>
              <a:rect r="r" b="b" t="t" l="l"/>
              <a:pathLst>
                <a:path h="682752" w="4023360">
                  <a:moveTo>
                    <a:pt x="0" y="0"/>
                  </a:moveTo>
                  <a:lnTo>
                    <a:pt x="4023360" y="0"/>
                  </a:lnTo>
                  <a:lnTo>
                    <a:pt x="4023360" y="682752"/>
                  </a:lnTo>
                  <a:lnTo>
                    <a:pt x="0" y="682752"/>
                  </a:lnTo>
                  <a:close/>
                </a:path>
              </a:pathLst>
            </a:custGeom>
            <a:blipFill>
              <a:blip r:embed="rId2">
                <a:alphaModFix amt="0"/>
              </a:blip>
              <a:stretch>
                <a:fillRect l="0" t="-64822" r="0" b="-64822"/>
              </a:stretch>
            </a:blipFill>
          </p:spPr>
        </p:sp>
        <p:sp>
          <p:nvSpPr>
            <p:cNvPr name="TextBox 64" id="64"/>
            <p:cNvSpPr txBox="true"/>
            <p:nvPr/>
          </p:nvSpPr>
          <p:spPr>
            <a:xfrm>
              <a:off x="0" y="-38100"/>
              <a:ext cx="4023360" cy="72085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bmkg.go.id</a:t>
              </a:r>
            </a:p>
          </p:txBody>
        </p:sp>
      </p:grpSp>
      <p:grpSp>
        <p:nvGrpSpPr>
          <p:cNvPr name="Group 65" id="65"/>
          <p:cNvGrpSpPr/>
          <p:nvPr/>
        </p:nvGrpSpPr>
        <p:grpSpPr>
          <a:xfrm rot="0">
            <a:off x="13898880" y="3749040"/>
            <a:ext cx="457200" cy="694944"/>
            <a:chOff x="0" y="0"/>
            <a:chExt cx="609600" cy="926592"/>
          </a:xfrm>
        </p:grpSpPr>
        <p:sp>
          <p:nvSpPr>
            <p:cNvPr name="Freeform 66" id="66"/>
            <p:cNvSpPr/>
            <p:nvPr/>
          </p:nvSpPr>
          <p:spPr>
            <a:xfrm flipH="false" flipV="false" rot="0">
              <a:off x="0" y="0"/>
              <a:ext cx="609600" cy="926592"/>
            </a:xfrm>
            <a:custGeom>
              <a:avLst/>
              <a:gdLst/>
              <a:ahLst/>
              <a:cxnLst/>
              <a:rect r="r" b="b" t="t" l="l"/>
              <a:pathLst>
                <a:path h="926592" w="609600">
                  <a:moveTo>
                    <a:pt x="0" y="0"/>
                  </a:moveTo>
                  <a:lnTo>
                    <a:pt x="609600" y="0"/>
                  </a:lnTo>
                  <a:lnTo>
                    <a:pt x="609600" y="926592"/>
                  </a:lnTo>
                  <a:lnTo>
                    <a:pt x="0" y="926592"/>
                  </a:lnTo>
                  <a:close/>
                </a:path>
              </a:pathLst>
            </a:custGeom>
            <a:blipFill>
              <a:blip r:embed="rId2">
                <a:alphaModFix amt="0"/>
              </a:blip>
              <a:stretch>
                <a:fillRect l="-145021" t="0" r="-145021" b="0"/>
              </a:stretch>
            </a:blipFill>
          </p:spPr>
        </p:sp>
        <p:sp>
          <p:nvSpPr>
            <p:cNvPr name="TextBox 67" id="67"/>
            <p:cNvSpPr txBox="true"/>
            <p:nvPr/>
          </p:nvSpPr>
          <p:spPr>
            <a:xfrm>
              <a:off x="0" y="-57150"/>
              <a:ext cx="609600" cy="983742"/>
            </a:xfrm>
            <a:prstGeom prst="rect">
              <a:avLst/>
            </a:prstGeom>
          </p:spPr>
          <p:txBody>
            <a:bodyPr anchor="ctr" rtlCol="false" tIns="0" lIns="0" bIns="0" rIns="0"/>
            <a:lstStyle/>
            <a:p>
              <a:pPr algn="l">
                <a:lnSpc>
                  <a:spcPts val="3120"/>
                </a:lnSpc>
              </a:pPr>
              <a:r>
                <a:rPr lang="en-US" sz="2600">
                  <a:solidFill>
                    <a:srgbClr val="F4A261"/>
                  </a:solidFill>
                  <a:latin typeface="Calibri (MS)"/>
                  <a:ea typeface="Calibri (MS)"/>
                  <a:cs typeface="Calibri (MS)"/>
                  <a:sym typeface="Calibri (MS)"/>
                </a:rPr>
                <a:t>▶</a:t>
              </a:r>
            </a:p>
          </p:txBody>
        </p:sp>
      </p:grpSp>
      <p:grpSp>
        <p:nvGrpSpPr>
          <p:cNvPr name="Group 68" id="68"/>
          <p:cNvGrpSpPr/>
          <p:nvPr/>
        </p:nvGrpSpPr>
        <p:grpSpPr>
          <a:xfrm rot="0">
            <a:off x="14251943" y="3370583"/>
            <a:ext cx="3042923" cy="1762763"/>
            <a:chOff x="0" y="0"/>
            <a:chExt cx="4057231" cy="2350351"/>
          </a:xfrm>
        </p:grpSpPr>
        <p:sp>
          <p:nvSpPr>
            <p:cNvPr name="Freeform 69" id="69"/>
            <p:cNvSpPr/>
            <p:nvPr/>
          </p:nvSpPr>
          <p:spPr>
            <a:xfrm flipH="false" flipV="false" rot="0">
              <a:off x="16891" y="16891"/>
              <a:ext cx="4023360" cy="2316480"/>
            </a:xfrm>
            <a:custGeom>
              <a:avLst/>
              <a:gdLst/>
              <a:ahLst/>
              <a:cxnLst/>
              <a:rect r="r" b="b" t="t" l="l"/>
              <a:pathLst>
                <a:path h="2316480" w="4023360">
                  <a:moveTo>
                    <a:pt x="0" y="0"/>
                  </a:moveTo>
                  <a:lnTo>
                    <a:pt x="4023360" y="0"/>
                  </a:lnTo>
                  <a:lnTo>
                    <a:pt x="4023360" y="2316480"/>
                  </a:lnTo>
                  <a:lnTo>
                    <a:pt x="0" y="2316480"/>
                  </a:lnTo>
                  <a:close/>
                </a:path>
              </a:pathLst>
            </a:custGeom>
            <a:solidFill>
              <a:srgbClr val="985010"/>
            </a:solidFill>
          </p:spPr>
        </p:sp>
        <p:sp>
          <p:nvSpPr>
            <p:cNvPr name="Freeform 70" id="70"/>
            <p:cNvSpPr/>
            <p:nvPr/>
          </p:nvSpPr>
          <p:spPr>
            <a:xfrm flipH="false" flipV="false" rot="0">
              <a:off x="0" y="0"/>
              <a:ext cx="4057142" cy="2350262"/>
            </a:xfrm>
            <a:custGeom>
              <a:avLst/>
              <a:gdLst/>
              <a:ahLst/>
              <a:cxnLst/>
              <a:rect r="r" b="b" t="t" l="l"/>
              <a:pathLst>
                <a:path h="2350262" w="4057142">
                  <a:moveTo>
                    <a:pt x="16891" y="0"/>
                  </a:moveTo>
                  <a:lnTo>
                    <a:pt x="4040251" y="0"/>
                  </a:lnTo>
                  <a:cubicBezTo>
                    <a:pt x="4049649" y="0"/>
                    <a:pt x="4057142" y="7620"/>
                    <a:pt x="4057142" y="16891"/>
                  </a:cubicBezTo>
                  <a:lnTo>
                    <a:pt x="4057142" y="2333371"/>
                  </a:lnTo>
                  <a:cubicBezTo>
                    <a:pt x="4057142" y="2342769"/>
                    <a:pt x="4049522" y="2350262"/>
                    <a:pt x="404025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040251" y="2316480"/>
                  </a:lnTo>
                  <a:lnTo>
                    <a:pt x="4040251" y="2333371"/>
                  </a:lnTo>
                  <a:lnTo>
                    <a:pt x="4023360" y="2333371"/>
                  </a:lnTo>
                  <a:lnTo>
                    <a:pt x="4023360" y="16891"/>
                  </a:lnTo>
                  <a:lnTo>
                    <a:pt x="4040251" y="16891"/>
                  </a:lnTo>
                  <a:lnTo>
                    <a:pt x="4040251" y="33909"/>
                  </a:lnTo>
                  <a:lnTo>
                    <a:pt x="16891" y="33909"/>
                  </a:lnTo>
                  <a:close/>
                </a:path>
              </a:pathLst>
            </a:custGeom>
            <a:solidFill>
              <a:srgbClr val="985010"/>
            </a:solidFill>
          </p:spPr>
        </p:sp>
      </p:grpSp>
      <p:grpSp>
        <p:nvGrpSpPr>
          <p:cNvPr name="Group 71" id="71"/>
          <p:cNvGrpSpPr/>
          <p:nvPr/>
        </p:nvGrpSpPr>
        <p:grpSpPr>
          <a:xfrm rot="0">
            <a:off x="14264640" y="3419856"/>
            <a:ext cx="3017520" cy="1005840"/>
            <a:chOff x="0" y="0"/>
            <a:chExt cx="4023360" cy="1341120"/>
          </a:xfrm>
        </p:grpSpPr>
        <p:sp>
          <p:nvSpPr>
            <p:cNvPr name="Freeform 72" id="72"/>
            <p:cNvSpPr/>
            <p:nvPr/>
          </p:nvSpPr>
          <p:spPr>
            <a:xfrm flipH="false" flipV="false" rot="0">
              <a:off x="0" y="0"/>
              <a:ext cx="4023360" cy="1341120"/>
            </a:xfrm>
            <a:custGeom>
              <a:avLst/>
              <a:gdLst/>
              <a:ahLst/>
              <a:cxnLst/>
              <a:rect r="r" b="b" t="t" l="l"/>
              <a:pathLst>
                <a:path h="1341120" w="4023360">
                  <a:moveTo>
                    <a:pt x="0" y="0"/>
                  </a:moveTo>
                  <a:lnTo>
                    <a:pt x="4023360" y="0"/>
                  </a:lnTo>
                  <a:lnTo>
                    <a:pt x="4023360" y="1341120"/>
                  </a:lnTo>
                  <a:lnTo>
                    <a:pt x="0" y="1341120"/>
                  </a:lnTo>
                  <a:close/>
                </a:path>
              </a:pathLst>
            </a:custGeom>
            <a:blipFill>
              <a:blip r:embed="rId2">
                <a:alphaModFix amt="0"/>
              </a:blip>
              <a:stretch>
                <a:fillRect l="0" t="-8455" r="0" b="-8455"/>
              </a:stretch>
            </a:blipFill>
          </p:spPr>
        </p:sp>
        <p:sp>
          <p:nvSpPr>
            <p:cNvPr name="TextBox 73" id="73"/>
            <p:cNvSpPr txBox="true"/>
            <p:nvPr/>
          </p:nvSpPr>
          <p:spPr>
            <a:xfrm>
              <a:off x="0" y="-47625"/>
              <a:ext cx="4023360"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Download</a:t>
              </a:r>
            </a:p>
            <a:p>
              <a:pPr algn="ctr">
                <a:lnSpc>
                  <a:spcPts val="2640"/>
                </a:lnSpc>
              </a:pPr>
              <a:r>
                <a:rPr lang="en-US" sz="2200" b="true">
                  <a:solidFill>
                    <a:srgbClr val="FFFFFF"/>
                  </a:solidFill>
                  <a:latin typeface="Calibri (MS) Bold"/>
                  <a:ea typeface="Calibri (MS) Bold"/>
                  <a:cs typeface="Calibri (MS) Bold"/>
                  <a:sym typeface="Calibri (MS) Bold"/>
                </a:rPr>
                <a:t>&amp; Analisis</a:t>
              </a:r>
            </a:p>
          </p:txBody>
        </p:sp>
      </p:grpSp>
      <p:grpSp>
        <p:nvGrpSpPr>
          <p:cNvPr name="Group 74" id="74"/>
          <p:cNvGrpSpPr/>
          <p:nvPr/>
        </p:nvGrpSpPr>
        <p:grpSpPr>
          <a:xfrm rot="0">
            <a:off x="14264640" y="4389120"/>
            <a:ext cx="3017520" cy="512064"/>
            <a:chOff x="0" y="0"/>
            <a:chExt cx="4023360" cy="682752"/>
          </a:xfrm>
        </p:grpSpPr>
        <p:sp>
          <p:nvSpPr>
            <p:cNvPr name="Freeform 75" id="75"/>
            <p:cNvSpPr/>
            <p:nvPr/>
          </p:nvSpPr>
          <p:spPr>
            <a:xfrm flipH="false" flipV="false" rot="0">
              <a:off x="0" y="0"/>
              <a:ext cx="4023360" cy="682752"/>
            </a:xfrm>
            <a:custGeom>
              <a:avLst/>
              <a:gdLst/>
              <a:ahLst/>
              <a:cxnLst/>
              <a:rect r="r" b="b" t="t" l="l"/>
              <a:pathLst>
                <a:path h="682752" w="4023360">
                  <a:moveTo>
                    <a:pt x="0" y="0"/>
                  </a:moveTo>
                  <a:lnTo>
                    <a:pt x="4023360" y="0"/>
                  </a:lnTo>
                  <a:lnTo>
                    <a:pt x="4023360" y="682752"/>
                  </a:lnTo>
                  <a:lnTo>
                    <a:pt x="0" y="682752"/>
                  </a:lnTo>
                  <a:close/>
                </a:path>
              </a:pathLst>
            </a:custGeom>
            <a:blipFill>
              <a:blip r:embed="rId2">
                <a:alphaModFix amt="0"/>
              </a:blip>
              <a:stretch>
                <a:fillRect l="0" t="-64822" r="0" b="-64822"/>
              </a:stretch>
            </a:blipFill>
          </p:spPr>
        </p:sp>
        <p:sp>
          <p:nvSpPr>
            <p:cNvPr name="TextBox 76" id="76"/>
            <p:cNvSpPr txBox="true"/>
            <p:nvPr/>
          </p:nvSpPr>
          <p:spPr>
            <a:xfrm>
              <a:off x="0" y="-38100"/>
              <a:ext cx="4023360" cy="72085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Dataset kita</a:t>
              </a:r>
            </a:p>
          </p:txBody>
        </p:sp>
      </p:grpSp>
      <p:grpSp>
        <p:nvGrpSpPr>
          <p:cNvPr name="Group 77" id="77"/>
          <p:cNvGrpSpPr/>
          <p:nvPr/>
        </p:nvGrpSpPr>
        <p:grpSpPr>
          <a:xfrm rot="0">
            <a:off x="627383" y="5614416"/>
            <a:ext cx="6858000" cy="4036057"/>
            <a:chOff x="0" y="0"/>
            <a:chExt cx="9144000" cy="5381409"/>
          </a:xfrm>
        </p:grpSpPr>
        <p:sp>
          <p:nvSpPr>
            <p:cNvPr name="Freeform 78" id="78"/>
            <p:cNvSpPr/>
            <p:nvPr/>
          </p:nvSpPr>
          <p:spPr>
            <a:xfrm flipH="false" flipV="false" rot="0">
              <a:off x="7080" y="8509"/>
              <a:ext cx="9129914" cy="5364480"/>
            </a:xfrm>
            <a:custGeom>
              <a:avLst/>
              <a:gdLst/>
              <a:ahLst/>
              <a:cxnLst/>
              <a:rect r="r" b="b" t="t" l="l"/>
              <a:pathLst>
                <a:path h="5364480" w="9129914">
                  <a:moveTo>
                    <a:pt x="0" y="0"/>
                  </a:moveTo>
                  <a:lnTo>
                    <a:pt x="9129914" y="0"/>
                  </a:lnTo>
                  <a:lnTo>
                    <a:pt x="9129914" y="5364480"/>
                  </a:lnTo>
                  <a:lnTo>
                    <a:pt x="0" y="5364480"/>
                  </a:lnTo>
                  <a:close/>
                </a:path>
              </a:pathLst>
            </a:custGeom>
            <a:solidFill>
              <a:srgbClr val="FFFFFF"/>
            </a:solidFill>
          </p:spPr>
        </p:sp>
        <p:sp>
          <p:nvSpPr>
            <p:cNvPr name="Freeform 79" id="79"/>
            <p:cNvSpPr/>
            <p:nvPr/>
          </p:nvSpPr>
          <p:spPr>
            <a:xfrm flipH="false" flipV="false" rot="0">
              <a:off x="0" y="0"/>
              <a:ext cx="9144089" cy="5381498"/>
            </a:xfrm>
            <a:custGeom>
              <a:avLst/>
              <a:gdLst/>
              <a:ahLst/>
              <a:cxnLst/>
              <a:rect r="r" b="b" t="t" l="l"/>
              <a:pathLst>
                <a:path h="5381498" w="9144089">
                  <a:moveTo>
                    <a:pt x="7080" y="0"/>
                  </a:moveTo>
                  <a:lnTo>
                    <a:pt x="9136994" y="0"/>
                  </a:lnTo>
                  <a:cubicBezTo>
                    <a:pt x="9140903" y="0"/>
                    <a:pt x="9144089" y="3810"/>
                    <a:pt x="9144089" y="8509"/>
                  </a:cubicBezTo>
                  <a:lnTo>
                    <a:pt x="9144089" y="5372989"/>
                  </a:lnTo>
                  <a:cubicBezTo>
                    <a:pt x="9144089" y="5377688"/>
                    <a:pt x="9140903" y="5381498"/>
                    <a:pt x="9136994" y="5381498"/>
                  </a:cubicBezTo>
                  <a:lnTo>
                    <a:pt x="7080" y="5381498"/>
                  </a:lnTo>
                  <a:cubicBezTo>
                    <a:pt x="3170" y="5381498"/>
                    <a:pt x="0" y="5377688"/>
                    <a:pt x="0" y="5372989"/>
                  </a:cubicBezTo>
                  <a:lnTo>
                    <a:pt x="0" y="8509"/>
                  </a:lnTo>
                  <a:cubicBezTo>
                    <a:pt x="0" y="3810"/>
                    <a:pt x="3170" y="0"/>
                    <a:pt x="7080" y="0"/>
                  </a:cubicBezTo>
                  <a:moveTo>
                    <a:pt x="7080" y="16891"/>
                  </a:moveTo>
                  <a:lnTo>
                    <a:pt x="7080" y="8509"/>
                  </a:lnTo>
                  <a:lnTo>
                    <a:pt x="14160" y="8509"/>
                  </a:lnTo>
                  <a:lnTo>
                    <a:pt x="14160" y="5372989"/>
                  </a:lnTo>
                  <a:lnTo>
                    <a:pt x="7080" y="5372989"/>
                  </a:lnTo>
                  <a:lnTo>
                    <a:pt x="7080" y="5364480"/>
                  </a:lnTo>
                  <a:lnTo>
                    <a:pt x="9136994" y="5364480"/>
                  </a:lnTo>
                  <a:lnTo>
                    <a:pt x="9136994" y="5372989"/>
                  </a:lnTo>
                  <a:lnTo>
                    <a:pt x="9129914" y="5372989"/>
                  </a:lnTo>
                  <a:lnTo>
                    <a:pt x="9129914" y="8509"/>
                  </a:lnTo>
                  <a:lnTo>
                    <a:pt x="9136994" y="8509"/>
                  </a:lnTo>
                  <a:lnTo>
                    <a:pt x="9136994" y="17018"/>
                  </a:lnTo>
                  <a:lnTo>
                    <a:pt x="7080" y="17018"/>
                  </a:lnTo>
                  <a:close/>
                </a:path>
              </a:pathLst>
            </a:custGeom>
            <a:solidFill>
              <a:srgbClr val="D0E8F0"/>
            </a:solidFill>
          </p:spPr>
        </p:sp>
      </p:grpSp>
      <p:grpSp>
        <p:nvGrpSpPr>
          <p:cNvPr name="Group 80" id="80"/>
          <p:cNvGrpSpPr/>
          <p:nvPr/>
        </p:nvGrpSpPr>
        <p:grpSpPr>
          <a:xfrm rot="0">
            <a:off x="435350" y="5614416"/>
            <a:ext cx="263147" cy="4048763"/>
            <a:chOff x="0" y="0"/>
            <a:chExt cx="350863" cy="5398351"/>
          </a:xfrm>
        </p:grpSpPr>
        <p:sp>
          <p:nvSpPr>
            <p:cNvPr name="Freeform 81" id="81"/>
            <p:cNvSpPr/>
            <p:nvPr/>
          </p:nvSpPr>
          <p:spPr>
            <a:xfrm flipH="false" flipV="false" rot="0">
              <a:off x="16891" y="16891"/>
              <a:ext cx="316992" cy="5364480"/>
            </a:xfrm>
            <a:custGeom>
              <a:avLst/>
              <a:gdLst/>
              <a:ahLst/>
              <a:cxnLst/>
              <a:rect r="r" b="b" t="t" l="l"/>
              <a:pathLst>
                <a:path h="5364480" w="316992">
                  <a:moveTo>
                    <a:pt x="0" y="0"/>
                  </a:moveTo>
                  <a:lnTo>
                    <a:pt x="316992" y="0"/>
                  </a:lnTo>
                  <a:lnTo>
                    <a:pt x="316992" y="5364480"/>
                  </a:lnTo>
                  <a:lnTo>
                    <a:pt x="0" y="5364480"/>
                  </a:lnTo>
                  <a:close/>
                </a:path>
              </a:pathLst>
            </a:custGeom>
            <a:solidFill>
              <a:srgbClr val="F4A261"/>
            </a:solidFill>
          </p:spPr>
        </p:sp>
        <p:sp>
          <p:nvSpPr>
            <p:cNvPr name="Freeform 82" id="82"/>
            <p:cNvSpPr/>
            <p:nvPr/>
          </p:nvSpPr>
          <p:spPr>
            <a:xfrm flipH="false" flipV="false" rot="0">
              <a:off x="0" y="0"/>
              <a:ext cx="350774" cy="5398262"/>
            </a:xfrm>
            <a:custGeom>
              <a:avLst/>
              <a:gdLst/>
              <a:ahLst/>
              <a:cxnLst/>
              <a:rect r="r" b="b" t="t" l="l"/>
              <a:pathLst>
                <a:path h="5398262" w="350774">
                  <a:moveTo>
                    <a:pt x="16891" y="0"/>
                  </a:moveTo>
                  <a:lnTo>
                    <a:pt x="333883" y="0"/>
                  </a:lnTo>
                  <a:cubicBezTo>
                    <a:pt x="343281" y="0"/>
                    <a:pt x="350774" y="7620"/>
                    <a:pt x="350774" y="16891"/>
                  </a:cubicBezTo>
                  <a:lnTo>
                    <a:pt x="350774" y="5381371"/>
                  </a:lnTo>
                  <a:cubicBezTo>
                    <a:pt x="350774" y="5390769"/>
                    <a:pt x="343154" y="5398262"/>
                    <a:pt x="333883" y="5398262"/>
                  </a:cubicBezTo>
                  <a:lnTo>
                    <a:pt x="16891" y="5398262"/>
                  </a:lnTo>
                  <a:cubicBezTo>
                    <a:pt x="7493" y="5398262"/>
                    <a:pt x="0" y="5390642"/>
                    <a:pt x="0" y="5381371"/>
                  </a:cubicBezTo>
                  <a:lnTo>
                    <a:pt x="0" y="16891"/>
                  </a:lnTo>
                  <a:cubicBezTo>
                    <a:pt x="0" y="7620"/>
                    <a:pt x="7620" y="0"/>
                    <a:pt x="16891" y="0"/>
                  </a:cubicBezTo>
                  <a:moveTo>
                    <a:pt x="16891" y="33909"/>
                  </a:moveTo>
                  <a:lnTo>
                    <a:pt x="16891" y="16891"/>
                  </a:lnTo>
                  <a:lnTo>
                    <a:pt x="33909" y="16891"/>
                  </a:lnTo>
                  <a:lnTo>
                    <a:pt x="33909" y="5381371"/>
                  </a:lnTo>
                  <a:lnTo>
                    <a:pt x="16891" y="5381371"/>
                  </a:lnTo>
                  <a:lnTo>
                    <a:pt x="16891" y="5364480"/>
                  </a:lnTo>
                  <a:lnTo>
                    <a:pt x="333883" y="5364480"/>
                  </a:lnTo>
                  <a:lnTo>
                    <a:pt x="333883" y="5381371"/>
                  </a:lnTo>
                  <a:lnTo>
                    <a:pt x="316992" y="5381371"/>
                  </a:lnTo>
                  <a:lnTo>
                    <a:pt x="316992" y="16891"/>
                  </a:lnTo>
                  <a:lnTo>
                    <a:pt x="333883" y="16891"/>
                  </a:lnTo>
                  <a:lnTo>
                    <a:pt x="333883" y="33909"/>
                  </a:lnTo>
                  <a:lnTo>
                    <a:pt x="16891" y="33909"/>
                  </a:lnTo>
                  <a:close/>
                </a:path>
              </a:pathLst>
            </a:custGeom>
            <a:solidFill>
              <a:srgbClr val="F4A261"/>
            </a:solidFill>
          </p:spPr>
        </p:sp>
      </p:grpSp>
      <p:grpSp>
        <p:nvGrpSpPr>
          <p:cNvPr name="Group 83" id="83"/>
          <p:cNvGrpSpPr/>
          <p:nvPr/>
        </p:nvGrpSpPr>
        <p:grpSpPr>
          <a:xfrm rot="0">
            <a:off x="731520" y="5614416"/>
            <a:ext cx="7498080" cy="640080"/>
            <a:chOff x="0" y="0"/>
            <a:chExt cx="9997440" cy="853440"/>
          </a:xfrm>
        </p:grpSpPr>
        <p:sp>
          <p:nvSpPr>
            <p:cNvPr name="Freeform 84" id="84"/>
            <p:cNvSpPr/>
            <p:nvPr/>
          </p:nvSpPr>
          <p:spPr>
            <a:xfrm flipH="false" flipV="false" rot="0">
              <a:off x="0" y="0"/>
              <a:ext cx="9997440" cy="853440"/>
            </a:xfrm>
            <a:custGeom>
              <a:avLst/>
              <a:gdLst/>
              <a:ahLst/>
              <a:cxnLst/>
              <a:rect r="r" b="b" t="t" l="l"/>
              <a:pathLst>
                <a:path h="853440" w="9997440">
                  <a:moveTo>
                    <a:pt x="0" y="0"/>
                  </a:moveTo>
                  <a:lnTo>
                    <a:pt x="9997440" y="0"/>
                  </a:lnTo>
                  <a:lnTo>
                    <a:pt x="9997440" y="853440"/>
                  </a:lnTo>
                  <a:lnTo>
                    <a:pt x="0" y="853440"/>
                  </a:lnTo>
                  <a:close/>
                </a:path>
              </a:pathLst>
            </a:custGeom>
            <a:blipFill>
              <a:blip r:embed="rId3">
                <a:alphaModFix amt="0"/>
              </a:blip>
              <a:stretch>
                <a:fillRect l="0" t="-62883" r="0" b="-62883"/>
              </a:stretch>
            </a:blipFill>
          </p:spPr>
        </p:sp>
        <p:sp>
          <p:nvSpPr>
            <p:cNvPr name="TextBox 85" id="85"/>
            <p:cNvSpPr txBox="true"/>
            <p:nvPr/>
          </p:nvSpPr>
          <p:spPr>
            <a:xfrm>
              <a:off x="0" y="-57150"/>
              <a:ext cx="9997440" cy="910590"/>
            </a:xfrm>
            <a:prstGeom prst="rect">
              <a:avLst/>
            </a:prstGeom>
          </p:spPr>
          <p:txBody>
            <a:bodyPr anchor="ctr" rtlCol="false" tIns="0" lIns="0" bIns="0" rIns="0"/>
            <a:lstStyle/>
            <a:p>
              <a:pPr algn="l">
                <a:lnSpc>
                  <a:spcPts val="3120"/>
                </a:lnSpc>
              </a:pPr>
              <a:r>
                <a:rPr lang="en-US" sz="2600" b="true">
                  <a:solidFill>
                    <a:srgbClr val="F4A261"/>
                  </a:solidFill>
                  <a:latin typeface="Calibri (MS) Bold"/>
                  <a:ea typeface="Calibri (MS) Bold"/>
                  <a:cs typeface="Calibri (MS) Bold"/>
                  <a:sym typeface="Calibri (MS) Bold"/>
                </a:rPr>
                <a:t>Bukti di Dataset BMKG</a:t>
              </a:r>
            </a:p>
          </p:txBody>
        </p:sp>
      </p:grpSp>
      <p:grpSp>
        <p:nvGrpSpPr>
          <p:cNvPr name="Group 86" id="86"/>
          <p:cNvGrpSpPr/>
          <p:nvPr/>
        </p:nvGrpSpPr>
        <p:grpSpPr>
          <a:xfrm rot="0">
            <a:off x="435350" y="6349746"/>
            <a:ext cx="6350852" cy="2881118"/>
            <a:chOff x="0" y="0"/>
            <a:chExt cx="9997440" cy="4535424"/>
          </a:xfrm>
        </p:grpSpPr>
        <p:sp>
          <p:nvSpPr>
            <p:cNvPr name="Freeform 87" id="87"/>
            <p:cNvSpPr/>
            <p:nvPr/>
          </p:nvSpPr>
          <p:spPr>
            <a:xfrm flipH="false" flipV="false" rot="0">
              <a:off x="0" y="0"/>
              <a:ext cx="9997440" cy="4535424"/>
            </a:xfrm>
            <a:custGeom>
              <a:avLst/>
              <a:gdLst/>
              <a:ahLst/>
              <a:cxnLst/>
              <a:rect r="r" b="b" t="t" l="l"/>
              <a:pathLst>
                <a:path h="4535424" w="9997440">
                  <a:moveTo>
                    <a:pt x="0" y="0"/>
                  </a:moveTo>
                  <a:lnTo>
                    <a:pt x="9997440" y="0"/>
                  </a:lnTo>
                  <a:lnTo>
                    <a:pt x="9997440" y="4535424"/>
                  </a:lnTo>
                  <a:lnTo>
                    <a:pt x="0" y="4535424"/>
                  </a:lnTo>
                  <a:close/>
                </a:path>
              </a:pathLst>
            </a:custGeom>
            <a:blipFill>
              <a:blip r:embed="rId2">
                <a:alphaModFix amt="0"/>
              </a:blip>
              <a:stretch>
                <a:fillRect l="-8206" t="0" r="-8206" b="0"/>
              </a:stretch>
            </a:blipFill>
          </p:spPr>
        </p:sp>
        <p:sp>
          <p:nvSpPr>
            <p:cNvPr name="TextBox 88" id="88"/>
            <p:cNvSpPr txBox="true"/>
            <p:nvPr/>
          </p:nvSpPr>
          <p:spPr>
            <a:xfrm>
              <a:off x="0" y="-47625"/>
              <a:ext cx="9997440" cy="4583049"/>
            </a:xfrm>
            <a:prstGeom prst="rect">
              <a:avLst/>
            </a:prstGeom>
          </p:spPr>
          <p:txBody>
            <a:bodyPr anchor="ctr" rtlCol="false" tIns="0" lIns="0" bIns="0" rIns="0"/>
            <a:lstStyle/>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Data direkam otomatis setiap hari oleh sensor BMKG</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1 record baru dihasilkan setiap hari per stasiun</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File laporan tersedia rutin setiap bulan — update konsisten</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Sensor bekerja real-time 24 jam tanpa henti</a:t>
              </a:r>
            </a:p>
          </p:txBody>
        </p:sp>
      </p:grpSp>
      <p:grpSp>
        <p:nvGrpSpPr>
          <p:cNvPr name="Group 89" id="89"/>
          <p:cNvGrpSpPr/>
          <p:nvPr/>
        </p:nvGrpSpPr>
        <p:grpSpPr>
          <a:xfrm rot="0">
            <a:off x="7589520" y="5266696"/>
            <a:ext cx="8046720" cy="585216"/>
            <a:chOff x="0" y="0"/>
            <a:chExt cx="10728960" cy="780288"/>
          </a:xfrm>
        </p:grpSpPr>
        <p:sp>
          <p:nvSpPr>
            <p:cNvPr name="Freeform 90" id="90"/>
            <p:cNvSpPr/>
            <p:nvPr/>
          </p:nvSpPr>
          <p:spPr>
            <a:xfrm flipH="false" flipV="false" rot="0">
              <a:off x="0" y="0"/>
              <a:ext cx="10728960" cy="780288"/>
            </a:xfrm>
            <a:custGeom>
              <a:avLst/>
              <a:gdLst/>
              <a:ahLst/>
              <a:cxnLst/>
              <a:rect r="r" b="b" t="t" l="l"/>
              <a:pathLst>
                <a:path h="780288" w="10728960">
                  <a:moveTo>
                    <a:pt x="0" y="0"/>
                  </a:moveTo>
                  <a:lnTo>
                    <a:pt x="10728960" y="0"/>
                  </a:lnTo>
                  <a:lnTo>
                    <a:pt x="10728960" y="780288"/>
                  </a:lnTo>
                  <a:lnTo>
                    <a:pt x="0" y="780288"/>
                  </a:lnTo>
                  <a:close/>
                </a:path>
              </a:pathLst>
            </a:custGeom>
            <a:blipFill>
              <a:blip r:embed="rId3">
                <a:alphaModFix amt="0"/>
              </a:blip>
              <a:stretch>
                <a:fillRect l="0" t="-82850" r="0" b="-82850"/>
              </a:stretch>
            </a:blipFill>
          </p:spPr>
        </p:sp>
        <p:sp>
          <p:nvSpPr>
            <p:cNvPr name="TextBox 91" id="91"/>
            <p:cNvSpPr txBox="true"/>
            <p:nvPr/>
          </p:nvSpPr>
          <p:spPr>
            <a:xfrm>
              <a:off x="0" y="-47625"/>
              <a:ext cx="10728960" cy="827913"/>
            </a:xfrm>
            <a:prstGeom prst="rect">
              <a:avLst/>
            </a:prstGeom>
          </p:spPr>
          <p:txBody>
            <a:bodyPr anchor="ctr" rtlCol="false" tIns="0" lIns="0" bIns="0" rIns="0"/>
            <a:lstStyle/>
            <a:p>
              <a:pPr algn="l">
                <a:lnSpc>
                  <a:spcPts val="2640"/>
                </a:lnSpc>
              </a:pPr>
              <a:r>
                <a:rPr lang="en-US" sz="2200" b="true">
                  <a:solidFill>
                    <a:srgbClr val="1E3A5F"/>
                  </a:solidFill>
                  <a:latin typeface="Calibri (MS) Bold"/>
                  <a:ea typeface="Calibri (MS) Bold"/>
                  <a:cs typeface="Calibri (MS) Bold"/>
                  <a:sym typeface="Calibri (MS) Bold"/>
                </a:rPr>
                <a:t>Code:</a:t>
              </a:r>
            </a:p>
          </p:txBody>
        </p:sp>
      </p:grpSp>
      <p:sp>
        <p:nvSpPr>
          <p:cNvPr name="Freeform 92" id="92"/>
          <p:cNvSpPr/>
          <p:nvPr/>
        </p:nvSpPr>
        <p:spPr>
          <a:xfrm flipH="false" flipV="false" rot="0">
            <a:off x="7762283" y="5985262"/>
            <a:ext cx="10415711" cy="1990171"/>
          </a:xfrm>
          <a:custGeom>
            <a:avLst/>
            <a:gdLst/>
            <a:ahLst/>
            <a:cxnLst/>
            <a:rect r="r" b="b" t="t" l="l"/>
            <a:pathLst>
              <a:path h="1990171" w="10415711">
                <a:moveTo>
                  <a:pt x="0" y="0"/>
                </a:moveTo>
                <a:lnTo>
                  <a:pt x="10415711" y="0"/>
                </a:lnTo>
                <a:lnTo>
                  <a:pt x="10415711" y="1990172"/>
                </a:lnTo>
                <a:lnTo>
                  <a:pt x="0" y="1990172"/>
                </a:lnTo>
                <a:lnTo>
                  <a:pt x="0" y="0"/>
                </a:lnTo>
                <a:close/>
              </a:path>
            </a:pathLst>
          </a:custGeom>
          <a:blipFill>
            <a:blip r:embed="rId3"/>
            <a:stretch>
              <a:fillRect l="0" t="-565" r="0" b="-565"/>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9B59B6"/>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9B59B6"/>
            </a:solidFill>
          </p:spPr>
        </p:sp>
      </p:grpSp>
      <p:grpSp>
        <p:nvGrpSpPr>
          <p:cNvPr name="Group 5" id="5"/>
          <p:cNvGrpSpPr/>
          <p:nvPr/>
        </p:nvGrpSpPr>
        <p:grpSpPr>
          <a:xfrm rot="0">
            <a:off x="901703" y="243335"/>
            <a:ext cx="1342139" cy="1342139"/>
            <a:chOff x="0" y="0"/>
            <a:chExt cx="1789519" cy="1789519"/>
          </a:xfrm>
        </p:grpSpPr>
        <p:sp>
          <p:nvSpPr>
            <p:cNvPr name="Freeform 6" id="6"/>
            <p:cNvSpPr/>
            <p:nvPr/>
          </p:nvSpPr>
          <p:spPr>
            <a:xfrm flipH="false" flipV="false" rot="0">
              <a:off x="16891" y="16891"/>
              <a:ext cx="1755648" cy="1755648"/>
            </a:xfrm>
            <a:custGeom>
              <a:avLst/>
              <a:gdLst/>
              <a:ahLst/>
              <a:cxnLst/>
              <a:rect r="r" b="b" t="t" l="l"/>
              <a:pathLst>
                <a:path h="1755648" w="1755648">
                  <a:moveTo>
                    <a:pt x="0" y="0"/>
                  </a:moveTo>
                  <a:lnTo>
                    <a:pt x="1755648" y="0"/>
                  </a:lnTo>
                  <a:lnTo>
                    <a:pt x="1755648" y="1755648"/>
                  </a:lnTo>
                  <a:lnTo>
                    <a:pt x="0" y="1755648"/>
                  </a:lnTo>
                  <a:close/>
                </a:path>
              </a:pathLst>
            </a:custGeom>
            <a:solidFill>
              <a:srgbClr val="9B59B6"/>
            </a:solidFill>
          </p:spPr>
        </p:sp>
        <p:sp>
          <p:nvSpPr>
            <p:cNvPr name="Freeform 7" id="7"/>
            <p:cNvSpPr/>
            <p:nvPr/>
          </p:nvSpPr>
          <p:spPr>
            <a:xfrm flipH="false" flipV="false" rot="0">
              <a:off x="0" y="0"/>
              <a:ext cx="1789430" cy="1789430"/>
            </a:xfrm>
            <a:custGeom>
              <a:avLst/>
              <a:gdLst/>
              <a:ahLst/>
              <a:cxnLst/>
              <a:rect r="r" b="b" t="t" l="l"/>
              <a:pathLst>
                <a:path h="1789430" w="1789430">
                  <a:moveTo>
                    <a:pt x="16891" y="0"/>
                  </a:moveTo>
                  <a:lnTo>
                    <a:pt x="1772539" y="0"/>
                  </a:lnTo>
                  <a:cubicBezTo>
                    <a:pt x="1781937" y="0"/>
                    <a:pt x="1789430" y="7620"/>
                    <a:pt x="1789430" y="16891"/>
                  </a:cubicBezTo>
                  <a:lnTo>
                    <a:pt x="1789430" y="1772539"/>
                  </a:lnTo>
                  <a:cubicBezTo>
                    <a:pt x="1789430" y="1781937"/>
                    <a:pt x="1781810" y="1789430"/>
                    <a:pt x="177253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1772539" y="1755648"/>
                  </a:lnTo>
                  <a:lnTo>
                    <a:pt x="1772539" y="1772539"/>
                  </a:lnTo>
                  <a:lnTo>
                    <a:pt x="1755648" y="1772539"/>
                  </a:lnTo>
                  <a:lnTo>
                    <a:pt x="1755648" y="16891"/>
                  </a:lnTo>
                  <a:lnTo>
                    <a:pt x="1772539" y="16891"/>
                  </a:lnTo>
                  <a:lnTo>
                    <a:pt x="1772539" y="33909"/>
                  </a:lnTo>
                  <a:lnTo>
                    <a:pt x="16891" y="33909"/>
                  </a:lnTo>
                  <a:close/>
                </a:path>
              </a:pathLst>
            </a:custGeom>
            <a:solidFill>
              <a:srgbClr val="9B59B6"/>
            </a:solidFill>
          </p:spPr>
        </p:sp>
      </p:grpSp>
      <p:grpSp>
        <p:nvGrpSpPr>
          <p:cNvPr name="Group 8" id="8"/>
          <p:cNvGrpSpPr/>
          <p:nvPr/>
        </p:nvGrpSpPr>
        <p:grpSpPr>
          <a:xfrm rot="0">
            <a:off x="914400" y="256032"/>
            <a:ext cx="1316736" cy="1316736"/>
            <a:chOff x="0" y="0"/>
            <a:chExt cx="1755648" cy="1755648"/>
          </a:xfrm>
        </p:grpSpPr>
        <p:sp>
          <p:nvSpPr>
            <p:cNvPr name="Freeform 9" id="9"/>
            <p:cNvSpPr/>
            <p:nvPr/>
          </p:nvSpPr>
          <p:spPr>
            <a:xfrm flipH="false" flipV="false" rot="0">
              <a:off x="0" y="0"/>
              <a:ext cx="1755648" cy="1755648"/>
            </a:xfrm>
            <a:custGeom>
              <a:avLst/>
              <a:gdLst/>
              <a:ahLst/>
              <a:cxnLst/>
              <a:rect r="r" b="b" t="t" l="l"/>
              <a:pathLst>
                <a:path h="1755648" w="1755648">
                  <a:moveTo>
                    <a:pt x="0" y="0"/>
                  </a:moveTo>
                  <a:lnTo>
                    <a:pt x="1755648" y="0"/>
                  </a:lnTo>
                  <a:lnTo>
                    <a:pt x="1755648" y="1755648"/>
                  </a:lnTo>
                  <a:lnTo>
                    <a:pt x="0" y="1755648"/>
                  </a:lnTo>
                  <a:close/>
                </a:path>
              </a:pathLst>
            </a:custGeom>
            <a:blipFill>
              <a:blip r:embed="rId2">
                <a:alphaModFix amt="0"/>
              </a:blip>
              <a:stretch>
                <a:fillRect l="-78303" t="0" r="-78303" b="0"/>
              </a:stretch>
            </a:blipFill>
          </p:spPr>
        </p:sp>
        <p:sp>
          <p:nvSpPr>
            <p:cNvPr name="TextBox 10" id="10"/>
            <p:cNvSpPr txBox="true"/>
            <p:nvPr/>
          </p:nvSpPr>
          <p:spPr>
            <a:xfrm>
              <a:off x="0" y="-114300"/>
              <a:ext cx="1755648" cy="186994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V</a:t>
              </a:r>
            </a:p>
          </p:txBody>
        </p:sp>
      </p:grpSp>
      <p:grpSp>
        <p:nvGrpSpPr>
          <p:cNvPr name="Group 11" id="11"/>
          <p:cNvGrpSpPr/>
          <p:nvPr/>
        </p:nvGrpSpPr>
        <p:grpSpPr>
          <a:xfrm rot="0">
            <a:off x="2468880" y="274320"/>
            <a:ext cx="14996160" cy="1133856"/>
            <a:chOff x="0" y="0"/>
            <a:chExt cx="19994880" cy="1511808"/>
          </a:xfrm>
        </p:grpSpPr>
        <p:sp>
          <p:nvSpPr>
            <p:cNvPr name="Freeform 12" id="12"/>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2">
                <a:alphaModFix amt="0"/>
              </a:blip>
              <a:stretch>
                <a:fillRect l="0" t="-207705" r="0" b="-207705"/>
              </a:stretch>
            </a:blipFill>
          </p:spPr>
        </p:sp>
        <p:sp>
          <p:nvSpPr>
            <p:cNvPr name="TextBox 13" id="13"/>
            <p:cNvSpPr txBox="true"/>
            <p:nvPr/>
          </p:nvSpPr>
          <p:spPr>
            <a:xfrm>
              <a:off x="0" y="-85725"/>
              <a:ext cx="1999488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Variety — Keberagaman Data</a:t>
              </a:r>
            </a:p>
          </p:txBody>
        </p:sp>
      </p:grpSp>
      <p:grpSp>
        <p:nvGrpSpPr>
          <p:cNvPr name="Group 14" id="14"/>
          <p:cNvGrpSpPr/>
          <p:nvPr/>
        </p:nvGrpSpPr>
        <p:grpSpPr>
          <a:xfrm rot="0">
            <a:off x="914400" y="1682496"/>
            <a:ext cx="16459200" cy="640080"/>
            <a:chOff x="0" y="0"/>
            <a:chExt cx="21945600" cy="853440"/>
          </a:xfrm>
        </p:grpSpPr>
        <p:sp>
          <p:nvSpPr>
            <p:cNvPr name="Freeform 15" id="1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6" id="16"/>
            <p:cNvSpPr txBox="true"/>
            <p:nvPr/>
          </p:nvSpPr>
          <p:spPr>
            <a:xfrm>
              <a:off x="0" y="-38100"/>
              <a:ext cx="21945600" cy="891540"/>
            </a:xfrm>
            <a:prstGeom prst="rect">
              <a:avLst/>
            </a:prstGeom>
          </p:spPr>
          <p:txBody>
            <a:bodyPr anchor="ctr" rtlCol="false" tIns="0" lIns="0" bIns="0" rIns="0"/>
            <a:lstStyle/>
            <a:p>
              <a:pPr algn="l">
                <a:lnSpc>
                  <a:spcPts val="2879"/>
                </a:lnSpc>
              </a:pPr>
              <a:r>
                <a:rPr lang="en-US" sz="2400" i="true">
                  <a:solidFill>
                    <a:srgbClr val="1E3A5F"/>
                  </a:solidFill>
                  <a:latin typeface="Calibri (MS) Italics"/>
                  <a:ea typeface="Calibri (MS) Italics"/>
                  <a:cs typeface="Calibri (MS) Italics"/>
                  <a:sym typeface="Calibri (MS) Italics"/>
                </a:rPr>
                <a:t>Variety mengacu pada keberagaman jenis, format, dan tipe data yang dikumpulkan dalam satu dataset.</a:t>
              </a:r>
            </a:p>
          </p:txBody>
        </p:sp>
      </p:grpSp>
      <p:grpSp>
        <p:nvGrpSpPr>
          <p:cNvPr name="Group 17" id="17"/>
          <p:cNvGrpSpPr/>
          <p:nvPr/>
        </p:nvGrpSpPr>
        <p:grpSpPr>
          <a:xfrm rot="0">
            <a:off x="914400" y="2523744"/>
            <a:ext cx="9144000" cy="585216"/>
            <a:chOff x="0" y="0"/>
            <a:chExt cx="12192000" cy="780288"/>
          </a:xfrm>
        </p:grpSpPr>
        <p:sp>
          <p:nvSpPr>
            <p:cNvPr name="Freeform 18" id="18"/>
            <p:cNvSpPr/>
            <p:nvPr/>
          </p:nvSpPr>
          <p:spPr>
            <a:xfrm flipH="false" flipV="false" rot="0">
              <a:off x="0" y="0"/>
              <a:ext cx="12192000" cy="780288"/>
            </a:xfrm>
            <a:custGeom>
              <a:avLst/>
              <a:gdLst/>
              <a:ahLst/>
              <a:cxnLst/>
              <a:rect r="r" b="b" t="t" l="l"/>
              <a:pathLst>
                <a:path h="780288" w="12192000">
                  <a:moveTo>
                    <a:pt x="0" y="0"/>
                  </a:moveTo>
                  <a:lnTo>
                    <a:pt x="12192000" y="0"/>
                  </a:lnTo>
                  <a:lnTo>
                    <a:pt x="12192000" y="780288"/>
                  </a:lnTo>
                  <a:lnTo>
                    <a:pt x="0" y="780288"/>
                  </a:lnTo>
                  <a:close/>
                </a:path>
              </a:pathLst>
            </a:custGeom>
            <a:blipFill>
              <a:blip r:embed="rId2">
                <a:alphaModFix amt="0"/>
              </a:blip>
              <a:stretch>
                <a:fillRect l="0" t="-254453" r="0" b="-254453"/>
              </a:stretch>
            </a:blipFill>
          </p:spPr>
        </p:sp>
        <p:sp>
          <p:nvSpPr>
            <p:cNvPr name="TextBox 19" id="19"/>
            <p:cNvSpPr txBox="true"/>
            <p:nvPr/>
          </p:nvSpPr>
          <p:spPr>
            <a:xfrm>
              <a:off x="0" y="-38100"/>
              <a:ext cx="12192000" cy="818388"/>
            </a:xfrm>
            <a:prstGeom prst="rect">
              <a:avLst/>
            </a:prstGeom>
          </p:spPr>
          <p:txBody>
            <a:bodyPr anchor="ctr" rtlCol="false" tIns="0" lIns="0" bIns="0" rIns="0"/>
            <a:lstStyle/>
            <a:p>
              <a:pPr algn="l">
                <a:lnSpc>
                  <a:spcPts val="2879"/>
                </a:lnSpc>
              </a:pPr>
              <a:r>
                <a:rPr lang="en-US" sz="2400" b="true">
                  <a:solidFill>
                    <a:srgbClr val="0A2342"/>
                  </a:solidFill>
                  <a:latin typeface="Calibri (MS) Bold"/>
                  <a:ea typeface="Calibri (MS) Bold"/>
                  <a:cs typeface="Calibri (MS) Bold"/>
                  <a:sym typeface="Calibri (MS) Bold"/>
                </a:rPr>
                <a:t>11 Parameter Iklim dalam Dataset:</a:t>
              </a:r>
            </a:p>
          </p:txBody>
        </p:sp>
      </p:grpSp>
      <p:graphicFrame>
        <p:nvGraphicFramePr>
          <p:cNvPr name="Table 20" id="20"/>
          <p:cNvGraphicFramePr>
            <a:graphicFrameLocks noGrp="true"/>
          </p:cNvGraphicFramePr>
          <p:nvPr/>
        </p:nvGraphicFramePr>
        <p:xfrm>
          <a:off x="914400" y="3200400"/>
          <a:ext cx="9931400" cy="7060671"/>
        </p:xfrm>
        <a:graphic>
          <a:graphicData uri="http://schemas.openxmlformats.org/drawingml/2006/table">
            <a:tbl>
              <a:tblPr/>
              <a:tblGrid>
                <a:gridCol w="1828941"/>
                <a:gridCol w="3903411"/>
                <a:gridCol w="1468164"/>
                <a:gridCol w="2730884"/>
              </a:tblGrid>
              <a:tr h="558773">
                <a:tc>
                  <a:txBody>
                    <a:bodyPr anchor="t" rtlCol="false"/>
                    <a:lstStyle/>
                    <a:p>
                      <a:pPr algn="l">
                        <a:lnSpc>
                          <a:spcPts val="2400"/>
                        </a:lnSpc>
                        <a:defRPr/>
                      </a:pPr>
                      <a:r>
                        <a:rPr lang="en-US" sz="2000" b="true">
                          <a:solidFill>
                            <a:srgbClr val="FFFFFF"/>
                          </a:solidFill>
                          <a:latin typeface="Calibri (MS) Bold"/>
                          <a:ea typeface="Calibri (MS) Bold"/>
                          <a:cs typeface="Calibri (MS) Bold"/>
                          <a:sym typeface="Calibri (MS) Bold"/>
                        </a:rPr>
                        <a:t>Kolom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9B59B6"/>
                    </a:solidFill>
                  </a:tcPr>
                </a:tc>
                <a:tc>
                  <a:txBody>
                    <a:bodyPr anchor="t" rtlCol="false"/>
                    <a:lstStyle/>
                    <a:p>
                      <a:pPr algn="l">
                        <a:lnSpc>
                          <a:spcPts val="2400"/>
                        </a:lnSpc>
                        <a:defRPr/>
                      </a:pPr>
                      <a:r>
                        <a:rPr lang="en-US" sz="2000" b="true">
                          <a:solidFill>
                            <a:srgbClr val="FFFFFF"/>
                          </a:solidFill>
                          <a:latin typeface="Calibri (MS) Bold"/>
                          <a:ea typeface="Calibri (MS) Bold"/>
                          <a:cs typeface="Calibri (MS) Bold"/>
                          <a:sym typeface="Calibri (MS) Bold"/>
                        </a:rPr>
                        <a:t>Keterangan</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9B59B6"/>
                    </a:solidFill>
                  </a:tcPr>
                </a:tc>
                <a:tc>
                  <a:txBody>
                    <a:bodyPr anchor="t" rtlCol="false"/>
                    <a:lstStyle/>
                    <a:p>
                      <a:pPr algn="l">
                        <a:lnSpc>
                          <a:spcPts val="2400"/>
                        </a:lnSpc>
                        <a:defRPr/>
                      </a:pPr>
                      <a:r>
                        <a:rPr lang="en-US" sz="2000" b="true">
                          <a:solidFill>
                            <a:srgbClr val="FFFFFF"/>
                          </a:solidFill>
                          <a:latin typeface="Calibri (MS) Bold"/>
                          <a:ea typeface="Calibri (MS) Bold"/>
                          <a:cs typeface="Calibri (MS) Bold"/>
                          <a:sym typeface="Calibri (MS) Bold"/>
                        </a:rPr>
                        <a:t>Satuan</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9B59B6"/>
                    </a:solidFill>
                  </a:tcPr>
                </a:tc>
                <a:tc>
                  <a:txBody>
                    <a:bodyPr anchor="t" rtlCol="false"/>
                    <a:lstStyle/>
                    <a:p>
                      <a:pPr algn="l">
                        <a:lnSpc>
                          <a:spcPts val="2400"/>
                        </a:lnSpc>
                        <a:defRPr/>
                      </a:pPr>
                      <a:r>
                        <a:rPr lang="en-US" sz="2000" b="true">
                          <a:solidFill>
                            <a:srgbClr val="FFFFFF"/>
                          </a:solidFill>
                          <a:latin typeface="Calibri (MS) Bold"/>
                          <a:ea typeface="Calibri (MS) Bold"/>
                          <a:cs typeface="Calibri (MS) Bold"/>
                          <a:sym typeface="Calibri (MS) Bold"/>
                        </a:rPr>
                        <a:t>Tipe</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9B59B6"/>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TN</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Suhu Minimum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°C</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TX</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Suhu Maksimum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°C</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TAVG</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Suhu Rata-rata</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°C</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RH_AVG</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Kelembapan Relatif</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RR</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Curah Hujan</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mm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SS</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Penyinaran Matahari</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jam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FF_X</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Kec. Angin Maksimum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m/s</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DDD_X</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Arah Angin (maks)</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FF_AVG</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Kec. Angin Rata-rata</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m/s</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DDD_CAR</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Arah Angin Terbanyak</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Object</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TANGGAL</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Tanggal Pengukuran</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Datetime</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bl>
          </a:graphicData>
        </a:graphic>
      </p:graphicFrame>
      <p:grpSp>
        <p:nvGrpSpPr>
          <p:cNvPr name="Group 21" id="21"/>
          <p:cNvGrpSpPr/>
          <p:nvPr/>
        </p:nvGrpSpPr>
        <p:grpSpPr>
          <a:xfrm rot="0">
            <a:off x="11972287" y="3194047"/>
            <a:ext cx="5681977" cy="3213097"/>
            <a:chOff x="0" y="0"/>
            <a:chExt cx="7575969" cy="4284129"/>
          </a:xfrm>
        </p:grpSpPr>
        <p:sp>
          <p:nvSpPr>
            <p:cNvPr name="Freeform 22" id="22"/>
            <p:cNvSpPr/>
            <p:nvPr/>
          </p:nvSpPr>
          <p:spPr>
            <a:xfrm flipH="false" flipV="false" rot="0">
              <a:off x="8509" y="8509"/>
              <a:ext cx="7559040" cy="4267200"/>
            </a:xfrm>
            <a:custGeom>
              <a:avLst/>
              <a:gdLst/>
              <a:ahLst/>
              <a:cxnLst/>
              <a:rect r="r" b="b" t="t" l="l"/>
              <a:pathLst>
                <a:path h="4267200" w="7559040">
                  <a:moveTo>
                    <a:pt x="0" y="0"/>
                  </a:moveTo>
                  <a:lnTo>
                    <a:pt x="7559040" y="0"/>
                  </a:lnTo>
                  <a:lnTo>
                    <a:pt x="7559040" y="4267200"/>
                  </a:lnTo>
                  <a:lnTo>
                    <a:pt x="0" y="4267200"/>
                  </a:lnTo>
                  <a:close/>
                </a:path>
              </a:pathLst>
            </a:custGeom>
            <a:solidFill>
              <a:srgbClr val="FFFFFF"/>
            </a:solidFill>
          </p:spPr>
        </p:sp>
        <p:sp>
          <p:nvSpPr>
            <p:cNvPr name="Freeform 23" id="23"/>
            <p:cNvSpPr/>
            <p:nvPr/>
          </p:nvSpPr>
          <p:spPr>
            <a:xfrm flipH="false" flipV="false" rot="0">
              <a:off x="0" y="0"/>
              <a:ext cx="7576058" cy="4284218"/>
            </a:xfrm>
            <a:custGeom>
              <a:avLst/>
              <a:gdLst/>
              <a:ahLst/>
              <a:cxnLst/>
              <a:rect r="r" b="b" t="t" l="l"/>
              <a:pathLst>
                <a:path h="4284218" w="7576058">
                  <a:moveTo>
                    <a:pt x="8509" y="0"/>
                  </a:moveTo>
                  <a:lnTo>
                    <a:pt x="7567549" y="0"/>
                  </a:lnTo>
                  <a:cubicBezTo>
                    <a:pt x="7572248" y="0"/>
                    <a:pt x="7576058" y="3810"/>
                    <a:pt x="7576058" y="8509"/>
                  </a:cubicBezTo>
                  <a:lnTo>
                    <a:pt x="7576058" y="4275709"/>
                  </a:lnTo>
                  <a:cubicBezTo>
                    <a:pt x="7576058" y="4280408"/>
                    <a:pt x="7572248" y="4284218"/>
                    <a:pt x="7567549" y="4284218"/>
                  </a:cubicBezTo>
                  <a:lnTo>
                    <a:pt x="8509" y="4284218"/>
                  </a:lnTo>
                  <a:cubicBezTo>
                    <a:pt x="3810" y="4284218"/>
                    <a:pt x="0" y="4280408"/>
                    <a:pt x="0" y="4275709"/>
                  </a:cubicBezTo>
                  <a:lnTo>
                    <a:pt x="0" y="8509"/>
                  </a:lnTo>
                  <a:cubicBezTo>
                    <a:pt x="0" y="3810"/>
                    <a:pt x="3810" y="0"/>
                    <a:pt x="8509" y="0"/>
                  </a:cubicBezTo>
                  <a:moveTo>
                    <a:pt x="8509" y="16891"/>
                  </a:moveTo>
                  <a:lnTo>
                    <a:pt x="8509" y="8509"/>
                  </a:lnTo>
                  <a:lnTo>
                    <a:pt x="17018" y="8509"/>
                  </a:lnTo>
                  <a:lnTo>
                    <a:pt x="17018" y="4275709"/>
                  </a:lnTo>
                  <a:lnTo>
                    <a:pt x="8509" y="4275709"/>
                  </a:lnTo>
                  <a:lnTo>
                    <a:pt x="8509" y="4267200"/>
                  </a:lnTo>
                  <a:lnTo>
                    <a:pt x="7567549" y="4267200"/>
                  </a:lnTo>
                  <a:lnTo>
                    <a:pt x="7567549" y="4275709"/>
                  </a:lnTo>
                  <a:lnTo>
                    <a:pt x="7559040" y="4275709"/>
                  </a:lnTo>
                  <a:lnTo>
                    <a:pt x="7559040" y="8509"/>
                  </a:lnTo>
                  <a:lnTo>
                    <a:pt x="7567549" y="8509"/>
                  </a:lnTo>
                  <a:lnTo>
                    <a:pt x="7567549" y="17018"/>
                  </a:lnTo>
                  <a:lnTo>
                    <a:pt x="8509" y="17018"/>
                  </a:lnTo>
                  <a:close/>
                </a:path>
              </a:pathLst>
            </a:custGeom>
            <a:solidFill>
              <a:srgbClr val="D0E8F0"/>
            </a:solidFill>
          </p:spPr>
        </p:sp>
      </p:grpSp>
      <p:grpSp>
        <p:nvGrpSpPr>
          <p:cNvPr name="Group 24" id="24"/>
          <p:cNvGrpSpPr/>
          <p:nvPr/>
        </p:nvGrpSpPr>
        <p:grpSpPr>
          <a:xfrm rot="0">
            <a:off x="11965943" y="3187703"/>
            <a:ext cx="263147" cy="3225803"/>
            <a:chOff x="0" y="0"/>
            <a:chExt cx="350863" cy="4301071"/>
          </a:xfrm>
        </p:grpSpPr>
        <p:sp>
          <p:nvSpPr>
            <p:cNvPr name="Freeform 25" id="25"/>
            <p:cNvSpPr/>
            <p:nvPr/>
          </p:nvSpPr>
          <p:spPr>
            <a:xfrm flipH="false" flipV="false" rot="0">
              <a:off x="16891" y="16891"/>
              <a:ext cx="316992" cy="4267200"/>
            </a:xfrm>
            <a:custGeom>
              <a:avLst/>
              <a:gdLst/>
              <a:ahLst/>
              <a:cxnLst/>
              <a:rect r="r" b="b" t="t" l="l"/>
              <a:pathLst>
                <a:path h="4267200" w="316992">
                  <a:moveTo>
                    <a:pt x="0" y="0"/>
                  </a:moveTo>
                  <a:lnTo>
                    <a:pt x="316992" y="0"/>
                  </a:lnTo>
                  <a:lnTo>
                    <a:pt x="316992" y="4267200"/>
                  </a:lnTo>
                  <a:lnTo>
                    <a:pt x="0" y="4267200"/>
                  </a:lnTo>
                  <a:close/>
                </a:path>
              </a:pathLst>
            </a:custGeom>
            <a:solidFill>
              <a:srgbClr val="9B59B6"/>
            </a:solidFill>
          </p:spPr>
        </p:sp>
        <p:sp>
          <p:nvSpPr>
            <p:cNvPr name="Freeform 26" id="26"/>
            <p:cNvSpPr/>
            <p:nvPr/>
          </p:nvSpPr>
          <p:spPr>
            <a:xfrm flipH="false" flipV="false" rot="0">
              <a:off x="0" y="0"/>
              <a:ext cx="350774" cy="4300982"/>
            </a:xfrm>
            <a:custGeom>
              <a:avLst/>
              <a:gdLst/>
              <a:ahLst/>
              <a:cxnLst/>
              <a:rect r="r" b="b" t="t" l="l"/>
              <a:pathLst>
                <a:path h="4300982" w="350774">
                  <a:moveTo>
                    <a:pt x="16891" y="0"/>
                  </a:moveTo>
                  <a:lnTo>
                    <a:pt x="333883" y="0"/>
                  </a:lnTo>
                  <a:cubicBezTo>
                    <a:pt x="343281" y="0"/>
                    <a:pt x="350774" y="7620"/>
                    <a:pt x="350774" y="16891"/>
                  </a:cubicBezTo>
                  <a:lnTo>
                    <a:pt x="350774" y="4284091"/>
                  </a:lnTo>
                  <a:cubicBezTo>
                    <a:pt x="350774" y="4293489"/>
                    <a:pt x="343154" y="4300982"/>
                    <a:pt x="333883"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333883" y="4267200"/>
                  </a:lnTo>
                  <a:lnTo>
                    <a:pt x="333883" y="4284091"/>
                  </a:lnTo>
                  <a:lnTo>
                    <a:pt x="316992" y="4284091"/>
                  </a:lnTo>
                  <a:lnTo>
                    <a:pt x="316992" y="16891"/>
                  </a:lnTo>
                  <a:lnTo>
                    <a:pt x="333883" y="16891"/>
                  </a:lnTo>
                  <a:lnTo>
                    <a:pt x="333883" y="33909"/>
                  </a:lnTo>
                  <a:lnTo>
                    <a:pt x="16891" y="33909"/>
                  </a:lnTo>
                  <a:close/>
                </a:path>
              </a:pathLst>
            </a:custGeom>
            <a:solidFill>
              <a:srgbClr val="9B59B6"/>
            </a:solidFill>
          </p:spPr>
        </p:sp>
      </p:grpSp>
      <p:grpSp>
        <p:nvGrpSpPr>
          <p:cNvPr name="Group 27" id="27"/>
          <p:cNvGrpSpPr/>
          <p:nvPr/>
        </p:nvGrpSpPr>
        <p:grpSpPr>
          <a:xfrm rot="0">
            <a:off x="12435840" y="3328416"/>
            <a:ext cx="4937760" cy="640080"/>
            <a:chOff x="0" y="0"/>
            <a:chExt cx="6583680" cy="853440"/>
          </a:xfrm>
        </p:grpSpPr>
        <p:sp>
          <p:nvSpPr>
            <p:cNvPr name="Freeform 28" id="28"/>
            <p:cNvSpPr/>
            <p:nvPr/>
          </p:nvSpPr>
          <p:spPr>
            <a:xfrm flipH="false" flipV="false" rot="0">
              <a:off x="0" y="0"/>
              <a:ext cx="6583680" cy="853440"/>
            </a:xfrm>
            <a:custGeom>
              <a:avLst/>
              <a:gdLst/>
              <a:ahLst/>
              <a:cxnLst/>
              <a:rect r="r" b="b" t="t" l="l"/>
              <a:pathLst>
                <a:path h="853440" w="6583680">
                  <a:moveTo>
                    <a:pt x="0" y="0"/>
                  </a:moveTo>
                  <a:lnTo>
                    <a:pt x="6583680" y="0"/>
                  </a:lnTo>
                  <a:lnTo>
                    <a:pt x="6583680" y="853440"/>
                  </a:lnTo>
                  <a:lnTo>
                    <a:pt x="0" y="853440"/>
                  </a:lnTo>
                  <a:close/>
                </a:path>
              </a:pathLst>
            </a:custGeom>
            <a:blipFill>
              <a:blip r:embed="rId2">
                <a:alphaModFix amt="0"/>
              </a:blip>
              <a:stretch>
                <a:fillRect l="0" t="-100313" r="0" b="-100313"/>
              </a:stretch>
            </a:blipFill>
          </p:spPr>
        </p:sp>
        <p:sp>
          <p:nvSpPr>
            <p:cNvPr name="TextBox 29" id="29"/>
            <p:cNvSpPr txBox="true"/>
            <p:nvPr/>
          </p:nvSpPr>
          <p:spPr>
            <a:xfrm>
              <a:off x="0" y="-38100"/>
              <a:ext cx="6583680" cy="891540"/>
            </a:xfrm>
            <a:prstGeom prst="rect">
              <a:avLst/>
            </a:prstGeom>
          </p:spPr>
          <p:txBody>
            <a:bodyPr anchor="ctr" rtlCol="false" tIns="0" lIns="0" bIns="0" rIns="0"/>
            <a:lstStyle/>
            <a:p>
              <a:pPr algn="l">
                <a:lnSpc>
                  <a:spcPts val="2879"/>
                </a:lnSpc>
              </a:pPr>
              <a:r>
                <a:rPr lang="en-US" sz="2400" b="true">
                  <a:solidFill>
                    <a:srgbClr val="9B59B6"/>
                  </a:solidFill>
                  <a:latin typeface="Calibri (MS) Bold"/>
                  <a:ea typeface="Calibri (MS) Bold"/>
                  <a:cs typeface="Calibri (MS) Bold"/>
                  <a:sym typeface="Calibri (MS) Bold"/>
                </a:rPr>
                <a:t>Tipe Data yang Ada</a:t>
              </a:r>
            </a:p>
          </p:txBody>
        </p:sp>
      </p:grpSp>
      <p:grpSp>
        <p:nvGrpSpPr>
          <p:cNvPr name="Group 30" id="30"/>
          <p:cNvGrpSpPr/>
          <p:nvPr/>
        </p:nvGrpSpPr>
        <p:grpSpPr>
          <a:xfrm rot="0">
            <a:off x="12344400" y="3648456"/>
            <a:ext cx="5120640" cy="2596896"/>
            <a:chOff x="0" y="0"/>
            <a:chExt cx="6827520" cy="3462528"/>
          </a:xfrm>
        </p:grpSpPr>
        <p:sp>
          <p:nvSpPr>
            <p:cNvPr name="Freeform 31" id="31"/>
            <p:cNvSpPr/>
            <p:nvPr/>
          </p:nvSpPr>
          <p:spPr>
            <a:xfrm flipH="false" flipV="false" rot="0">
              <a:off x="0" y="0"/>
              <a:ext cx="6827520" cy="3462528"/>
            </a:xfrm>
            <a:custGeom>
              <a:avLst/>
              <a:gdLst/>
              <a:ahLst/>
              <a:cxnLst/>
              <a:rect r="r" b="b" t="t" l="l"/>
              <a:pathLst>
                <a:path h="3462528" w="6827520">
                  <a:moveTo>
                    <a:pt x="0" y="0"/>
                  </a:moveTo>
                  <a:lnTo>
                    <a:pt x="6827520" y="0"/>
                  </a:lnTo>
                  <a:lnTo>
                    <a:pt x="6827520" y="3462528"/>
                  </a:lnTo>
                  <a:lnTo>
                    <a:pt x="0" y="3462528"/>
                  </a:lnTo>
                  <a:close/>
                </a:path>
              </a:pathLst>
            </a:custGeom>
            <a:blipFill>
              <a:blip r:embed="rId2">
                <a:alphaModFix amt="0"/>
              </a:blip>
              <a:stretch>
                <a:fillRect l="-15068" t="0" r="-15068" b="0"/>
              </a:stretch>
            </a:blipFill>
          </p:spPr>
        </p:sp>
        <p:sp>
          <p:nvSpPr>
            <p:cNvPr name="TextBox 32" id="32"/>
            <p:cNvSpPr txBox="true"/>
            <p:nvPr/>
          </p:nvSpPr>
          <p:spPr>
            <a:xfrm>
              <a:off x="0" y="-47625"/>
              <a:ext cx="6827520" cy="3510153"/>
            </a:xfrm>
            <a:prstGeom prst="rect">
              <a:avLst/>
            </a:prstGeom>
          </p:spPr>
          <p:txBody>
            <a:bodyPr anchor="ctr" rtlCol="false" tIns="0" lIns="0" bIns="0" rIns="0"/>
            <a:lstStyle/>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Numerik kontinu (9 kolom): suhu, RR, dll</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Kategorik/teks (1 kolom): DDD_CAR (W, SW, dll)</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Datetime (1 kolom): TANGGAL</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E74C3C"/>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E74C3C"/>
            </a:solidFill>
          </p:spPr>
        </p:sp>
      </p:grpSp>
      <p:grpSp>
        <p:nvGrpSpPr>
          <p:cNvPr name="Group 5" id="5"/>
          <p:cNvGrpSpPr/>
          <p:nvPr/>
        </p:nvGrpSpPr>
        <p:grpSpPr>
          <a:xfrm rot="0">
            <a:off x="901703" y="243335"/>
            <a:ext cx="1342139" cy="1342139"/>
            <a:chOff x="0" y="0"/>
            <a:chExt cx="1789519" cy="1789519"/>
          </a:xfrm>
        </p:grpSpPr>
        <p:sp>
          <p:nvSpPr>
            <p:cNvPr name="Freeform 6" id="6"/>
            <p:cNvSpPr/>
            <p:nvPr/>
          </p:nvSpPr>
          <p:spPr>
            <a:xfrm flipH="false" flipV="false" rot="0">
              <a:off x="16891" y="16891"/>
              <a:ext cx="1755648" cy="1755648"/>
            </a:xfrm>
            <a:custGeom>
              <a:avLst/>
              <a:gdLst/>
              <a:ahLst/>
              <a:cxnLst/>
              <a:rect r="r" b="b" t="t" l="l"/>
              <a:pathLst>
                <a:path h="1755648" w="1755648">
                  <a:moveTo>
                    <a:pt x="0" y="0"/>
                  </a:moveTo>
                  <a:lnTo>
                    <a:pt x="1755648" y="0"/>
                  </a:lnTo>
                  <a:lnTo>
                    <a:pt x="1755648" y="1755648"/>
                  </a:lnTo>
                  <a:lnTo>
                    <a:pt x="0" y="1755648"/>
                  </a:lnTo>
                  <a:close/>
                </a:path>
              </a:pathLst>
            </a:custGeom>
            <a:solidFill>
              <a:srgbClr val="E74C3C"/>
            </a:solidFill>
          </p:spPr>
        </p:sp>
        <p:sp>
          <p:nvSpPr>
            <p:cNvPr name="Freeform 7" id="7"/>
            <p:cNvSpPr/>
            <p:nvPr/>
          </p:nvSpPr>
          <p:spPr>
            <a:xfrm flipH="false" flipV="false" rot="0">
              <a:off x="0" y="0"/>
              <a:ext cx="1789430" cy="1789430"/>
            </a:xfrm>
            <a:custGeom>
              <a:avLst/>
              <a:gdLst/>
              <a:ahLst/>
              <a:cxnLst/>
              <a:rect r="r" b="b" t="t" l="l"/>
              <a:pathLst>
                <a:path h="1789430" w="1789430">
                  <a:moveTo>
                    <a:pt x="16891" y="0"/>
                  </a:moveTo>
                  <a:lnTo>
                    <a:pt x="1772539" y="0"/>
                  </a:lnTo>
                  <a:cubicBezTo>
                    <a:pt x="1781937" y="0"/>
                    <a:pt x="1789430" y="7620"/>
                    <a:pt x="1789430" y="16891"/>
                  </a:cubicBezTo>
                  <a:lnTo>
                    <a:pt x="1789430" y="1772539"/>
                  </a:lnTo>
                  <a:cubicBezTo>
                    <a:pt x="1789430" y="1781937"/>
                    <a:pt x="1781810" y="1789430"/>
                    <a:pt x="177253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1772539" y="1755648"/>
                  </a:lnTo>
                  <a:lnTo>
                    <a:pt x="1772539" y="1772539"/>
                  </a:lnTo>
                  <a:lnTo>
                    <a:pt x="1755648" y="1772539"/>
                  </a:lnTo>
                  <a:lnTo>
                    <a:pt x="1755648" y="16891"/>
                  </a:lnTo>
                  <a:lnTo>
                    <a:pt x="1772539" y="16891"/>
                  </a:lnTo>
                  <a:lnTo>
                    <a:pt x="1772539" y="33909"/>
                  </a:lnTo>
                  <a:lnTo>
                    <a:pt x="16891" y="33909"/>
                  </a:lnTo>
                  <a:close/>
                </a:path>
              </a:pathLst>
            </a:custGeom>
            <a:solidFill>
              <a:srgbClr val="E74C3C"/>
            </a:solidFill>
          </p:spPr>
        </p:sp>
      </p:grpSp>
      <p:grpSp>
        <p:nvGrpSpPr>
          <p:cNvPr name="Group 8" id="8"/>
          <p:cNvGrpSpPr/>
          <p:nvPr/>
        </p:nvGrpSpPr>
        <p:grpSpPr>
          <a:xfrm rot="0">
            <a:off x="914400" y="256032"/>
            <a:ext cx="1316736" cy="1316736"/>
            <a:chOff x="0" y="0"/>
            <a:chExt cx="1755648" cy="1755648"/>
          </a:xfrm>
        </p:grpSpPr>
        <p:sp>
          <p:nvSpPr>
            <p:cNvPr name="Freeform 9" id="9"/>
            <p:cNvSpPr/>
            <p:nvPr/>
          </p:nvSpPr>
          <p:spPr>
            <a:xfrm flipH="false" flipV="false" rot="0">
              <a:off x="0" y="0"/>
              <a:ext cx="1755648" cy="1755648"/>
            </a:xfrm>
            <a:custGeom>
              <a:avLst/>
              <a:gdLst/>
              <a:ahLst/>
              <a:cxnLst/>
              <a:rect r="r" b="b" t="t" l="l"/>
              <a:pathLst>
                <a:path h="1755648" w="1755648">
                  <a:moveTo>
                    <a:pt x="0" y="0"/>
                  </a:moveTo>
                  <a:lnTo>
                    <a:pt x="1755648" y="0"/>
                  </a:lnTo>
                  <a:lnTo>
                    <a:pt x="1755648" y="1755648"/>
                  </a:lnTo>
                  <a:lnTo>
                    <a:pt x="0" y="1755648"/>
                  </a:lnTo>
                  <a:close/>
                </a:path>
              </a:pathLst>
            </a:custGeom>
            <a:blipFill>
              <a:blip r:embed="rId2">
                <a:alphaModFix amt="0"/>
              </a:blip>
              <a:stretch>
                <a:fillRect l="-78303" t="0" r="-78303" b="0"/>
              </a:stretch>
            </a:blipFill>
          </p:spPr>
        </p:sp>
        <p:sp>
          <p:nvSpPr>
            <p:cNvPr name="TextBox 10" id="10"/>
            <p:cNvSpPr txBox="true"/>
            <p:nvPr/>
          </p:nvSpPr>
          <p:spPr>
            <a:xfrm>
              <a:off x="0" y="-114300"/>
              <a:ext cx="1755648" cy="186994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V</a:t>
              </a:r>
            </a:p>
          </p:txBody>
        </p:sp>
      </p:grpSp>
      <p:grpSp>
        <p:nvGrpSpPr>
          <p:cNvPr name="Group 11" id="11"/>
          <p:cNvGrpSpPr/>
          <p:nvPr/>
        </p:nvGrpSpPr>
        <p:grpSpPr>
          <a:xfrm rot="0">
            <a:off x="2468880" y="274320"/>
            <a:ext cx="14996160" cy="1133856"/>
            <a:chOff x="0" y="0"/>
            <a:chExt cx="19994880" cy="1511808"/>
          </a:xfrm>
        </p:grpSpPr>
        <p:sp>
          <p:nvSpPr>
            <p:cNvPr name="Freeform 12" id="12"/>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2">
                <a:alphaModFix amt="0"/>
              </a:blip>
              <a:stretch>
                <a:fillRect l="0" t="-207705" r="0" b="-207705"/>
              </a:stretch>
            </a:blipFill>
          </p:spPr>
        </p:sp>
        <p:sp>
          <p:nvSpPr>
            <p:cNvPr name="TextBox 13" id="13"/>
            <p:cNvSpPr txBox="true"/>
            <p:nvPr/>
          </p:nvSpPr>
          <p:spPr>
            <a:xfrm>
              <a:off x="0" y="-85725"/>
              <a:ext cx="1999488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Veracity — Keakuratan &amp; Kepercayaan Data</a:t>
              </a:r>
            </a:p>
          </p:txBody>
        </p:sp>
      </p:grpSp>
      <p:grpSp>
        <p:nvGrpSpPr>
          <p:cNvPr name="Group 14" id="14"/>
          <p:cNvGrpSpPr/>
          <p:nvPr/>
        </p:nvGrpSpPr>
        <p:grpSpPr>
          <a:xfrm rot="0">
            <a:off x="914400" y="1682496"/>
            <a:ext cx="16459200" cy="640080"/>
            <a:chOff x="0" y="0"/>
            <a:chExt cx="21945600" cy="853440"/>
          </a:xfrm>
        </p:grpSpPr>
        <p:sp>
          <p:nvSpPr>
            <p:cNvPr name="Freeform 15" id="1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6" id="16"/>
            <p:cNvSpPr txBox="true"/>
            <p:nvPr/>
          </p:nvSpPr>
          <p:spPr>
            <a:xfrm>
              <a:off x="0" y="-38100"/>
              <a:ext cx="21945600" cy="891540"/>
            </a:xfrm>
            <a:prstGeom prst="rect">
              <a:avLst/>
            </a:prstGeom>
          </p:spPr>
          <p:txBody>
            <a:bodyPr anchor="ctr" rtlCol="false" tIns="0" lIns="0" bIns="0" rIns="0"/>
            <a:lstStyle/>
            <a:p>
              <a:pPr algn="l">
                <a:lnSpc>
                  <a:spcPts val="2879"/>
                </a:lnSpc>
              </a:pPr>
              <a:r>
                <a:rPr lang="en-US" sz="2400" i="true">
                  <a:solidFill>
                    <a:srgbClr val="1E3A5F"/>
                  </a:solidFill>
                  <a:latin typeface="Calibri (MS) Italics"/>
                  <a:ea typeface="Calibri (MS) Italics"/>
                  <a:cs typeface="Calibri (MS) Italics"/>
                  <a:sym typeface="Calibri (MS) Italics"/>
                </a:rPr>
                <a:t>Veracity mengacu pada kualitas dan keterpercayaan data — termasuk adanya noise, error, dan missing values yang perlu ditangani.</a:t>
              </a:r>
            </a:p>
          </p:txBody>
        </p:sp>
      </p:grpSp>
      <p:grpSp>
        <p:nvGrpSpPr>
          <p:cNvPr name="Group 17" id="17"/>
          <p:cNvGrpSpPr/>
          <p:nvPr/>
        </p:nvGrpSpPr>
        <p:grpSpPr>
          <a:xfrm rot="0">
            <a:off x="914400" y="2484710"/>
            <a:ext cx="7967977" cy="2481577"/>
            <a:chOff x="0" y="0"/>
            <a:chExt cx="10623969" cy="3308769"/>
          </a:xfrm>
        </p:grpSpPr>
        <p:sp>
          <p:nvSpPr>
            <p:cNvPr name="Freeform 18" id="18"/>
            <p:cNvSpPr/>
            <p:nvPr/>
          </p:nvSpPr>
          <p:spPr>
            <a:xfrm flipH="false" flipV="false" rot="0">
              <a:off x="8509" y="8509"/>
              <a:ext cx="10607040" cy="3291840"/>
            </a:xfrm>
            <a:custGeom>
              <a:avLst/>
              <a:gdLst/>
              <a:ahLst/>
              <a:cxnLst/>
              <a:rect r="r" b="b" t="t" l="l"/>
              <a:pathLst>
                <a:path h="3291840" w="10607040">
                  <a:moveTo>
                    <a:pt x="0" y="0"/>
                  </a:moveTo>
                  <a:lnTo>
                    <a:pt x="10607040" y="0"/>
                  </a:lnTo>
                  <a:lnTo>
                    <a:pt x="10607040" y="3291840"/>
                  </a:lnTo>
                  <a:lnTo>
                    <a:pt x="0" y="3291840"/>
                  </a:lnTo>
                  <a:close/>
                </a:path>
              </a:pathLst>
            </a:custGeom>
            <a:solidFill>
              <a:srgbClr val="FFFFFF"/>
            </a:solidFill>
          </p:spPr>
        </p:sp>
        <p:sp>
          <p:nvSpPr>
            <p:cNvPr name="Freeform 19" id="19"/>
            <p:cNvSpPr/>
            <p:nvPr/>
          </p:nvSpPr>
          <p:spPr>
            <a:xfrm flipH="false" flipV="false" rot="0">
              <a:off x="0" y="0"/>
              <a:ext cx="10624058" cy="3308858"/>
            </a:xfrm>
            <a:custGeom>
              <a:avLst/>
              <a:gdLst/>
              <a:ahLst/>
              <a:cxnLst/>
              <a:rect r="r" b="b" t="t" l="l"/>
              <a:pathLst>
                <a:path h="3308858" w="10624058">
                  <a:moveTo>
                    <a:pt x="8509" y="0"/>
                  </a:moveTo>
                  <a:lnTo>
                    <a:pt x="10615549" y="0"/>
                  </a:lnTo>
                  <a:cubicBezTo>
                    <a:pt x="10620248" y="0"/>
                    <a:pt x="10624058" y="3810"/>
                    <a:pt x="10624058" y="8509"/>
                  </a:cubicBezTo>
                  <a:lnTo>
                    <a:pt x="10624058" y="3300349"/>
                  </a:lnTo>
                  <a:cubicBezTo>
                    <a:pt x="10624058" y="3305048"/>
                    <a:pt x="10620248" y="3308858"/>
                    <a:pt x="10615549" y="3308858"/>
                  </a:cubicBezTo>
                  <a:lnTo>
                    <a:pt x="8509" y="3308858"/>
                  </a:lnTo>
                  <a:cubicBezTo>
                    <a:pt x="3810" y="3308858"/>
                    <a:pt x="0" y="3305048"/>
                    <a:pt x="0" y="3300349"/>
                  </a:cubicBezTo>
                  <a:lnTo>
                    <a:pt x="0" y="8509"/>
                  </a:lnTo>
                  <a:cubicBezTo>
                    <a:pt x="0" y="3810"/>
                    <a:pt x="3810" y="0"/>
                    <a:pt x="8509" y="0"/>
                  </a:cubicBezTo>
                  <a:moveTo>
                    <a:pt x="8509" y="16891"/>
                  </a:moveTo>
                  <a:lnTo>
                    <a:pt x="8509" y="8509"/>
                  </a:lnTo>
                  <a:lnTo>
                    <a:pt x="17018" y="8509"/>
                  </a:lnTo>
                  <a:lnTo>
                    <a:pt x="17018" y="3300349"/>
                  </a:lnTo>
                  <a:lnTo>
                    <a:pt x="8509" y="3300349"/>
                  </a:lnTo>
                  <a:lnTo>
                    <a:pt x="8509" y="3291840"/>
                  </a:lnTo>
                  <a:lnTo>
                    <a:pt x="10615549" y="3291840"/>
                  </a:lnTo>
                  <a:lnTo>
                    <a:pt x="10615549" y="3300349"/>
                  </a:lnTo>
                  <a:lnTo>
                    <a:pt x="10607040" y="3300349"/>
                  </a:lnTo>
                  <a:lnTo>
                    <a:pt x="10607040" y="8509"/>
                  </a:lnTo>
                  <a:lnTo>
                    <a:pt x="10615549" y="8509"/>
                  </a:lnTo>
                  <a:lnTo>
                    <a:pt x="10615549" y="17018"/>
                  </a:lnTo>
                  <a:lnTo>
                    <a:pt x="8509" y="17018"/>
                  </a:lnTo>
                  <a:close/>
                </a:path>
              </a:pathLst>
            </a:custGeom>
            <a:solidFill>
              <a:srgbClr val="D0E8F0"/>
            </a:solidFill>
          </p:spPr>
        </p:sp>
      </p:grpSp>
      <p:grpSp>
        <p:nvGrpSpPr>
          <p:cNvPr name="Group 20" id="20"/>
          <p:cNvGrpSpPr/>
          <p:nvPr/>
        </p:nvGrpSpPr>
        <p:grpSpPr>
          <a:xfrm rot="0">
            <a:off x="9365076" y="2455926"/>
            <a:ext cx="7967977" cy="2481577"/>
            <a:chOff x="0" y="0"/>
            <a:chExt cx="10623969" cy="3308769"/>
          </a:xfrm>
        </p:grpSpPr>
        <p:sp>
          <p:nvSpPr>
            <p:cNvPr name="Freeform 21" id="21"/>
            <p:cNvSpPr/>
            <p:nvPr/>
          </p:nvSpPr>
          <p:spPr>
            <a:xfrm flipH="false" flipV="false" rot="0">
              <a:off x="8509" y="8509"/>
              <a:ext cx="10607040" cy="3291840"/>
            </a:xfrm>
            <a:custGeom>
              <a:avLst/>
              <a:gdLst/>
              <a:ahLst/>
              <a:cxnLst/>
              <a:rect r="r" b="b" t="t" l="l"/>
              <a:pathLst>
                <a:path h="3291840" w="10607040">
                  <a:moveTo>
                    <a:pt x="0" y="0"/>
                  </a:moveTo>
                  <a:lnTo>
                    <a:pt x="10607040" y="0"/>
                  </a:lnTo>
                  <a:lnTo>
                    <a:pt x="10607040" y="3291840"/>
                  </a:lnTo>
                  <a:lnTo>
                    <a:pt x="0" y="3291840"/>
                  </a:lnTo>
                  <a:close/>
                </a:path>
              </a:pathLst>
            </a:custGeom>
            <a:solidFill>
              <a:srgbClr val="FFFFFF"/>
            </a:solidFill>
          </p:spPr>
        </p:sp>
        <p:sp>
          <p:nvSpPr>
            <p:cNvPr name="Freeform 22" id="22"/>
            <p:cNvSpPr/>
            <p:nvPr/>
          </p:nvSpPr>
          <p:spPr>
            <a:xfrm flipH="false" flipV="false" rot="0">
              <a:off x="0" y="0"/>
              <a:ext cx="10624058" cy="3308858"/>
            </a:xfrm>
            <a:custGeom>
              <a:avLst/>
              <a:gdLst/>
              <a:ahLst/>
              <a:cxnLst/>
              <a:rect r="r" b="b" t="t" l="l"/>
              <a:pathLst>
                <a:path h="3308858" w="10624058">
                  <a:moveTo>
                    <a:pt x="8509" y="0"/>
                  </a:moveTo>
                  <a:lnTo>
                    <a:pt x="10615549" y="0"/>
                  </a:lnTo>
                  <a:cubicBezTo>
                    <a:pt x="10620248" y="0"/>
                    <a:pt x="10624058" y="3810"/>
                    <a:pt x="10624058" y="8509"/>
                  </a:cubicBezTo>
                  <a:lnTo>
                    <a:pt x="10624058" y="3300349"/>
                  </a:lnTo>
                  <a:cubicBezTo>
                    <a:pt x="10624058" y="3305048"/>
                    <a:pt x="10620248" y="3308858"/>
                    <a:pt x="10615549" y="3308858"/>
                  </a:cubicBezTo>
                  <a:lnTo>
                    <a:pt x="8509" y="3308858"/>
                  </a:lnTo>
                  <a:cubicBezTo>
                    <a:pt x="3810" y="3308858"/>
                    <a:pt x="0" y="3305048"/>
                    <a:pt x="0" y="3300349"/>
                  </a:cubicBezTo>
                  <a:lnTo>
                    <a:pt x="0" y="8509"/>
                  </a:lnTo>
                  <a:cubicBezTo>
                    <a:pt x="0" y="3810"/>
                    <a:pt x="3810" y="0"/>
                    <a:pt x="8509" y="0"/>
                  </a:cubicBezTo>
                  <a:moveTo>
                    <a:pt x="8509" y="16891"/>
                  </a:moveTo>
                  <a:lnTo>
                    <a:pt x="8509" y="8509"/>
                  </a:lnTo>
                  <a:lnTo>
                    <a:pt x="17018" y="8509"/>
                  </a:lnTo>
                  <a:lnTo>
                    <a:pt x="17018" y="3300349"/>
                  </a:lnTo>
                  <a:lnTo>
                    <a:pt x="8509" y="3300349"/>
                  </a:lnTo>
                  <a:lnTo>
                    <a:pt x="8509" y="3291840"/>
                  </a:lnTo>
                  <a:lnTo>
                    <a:pt x="10615549" y="3291840"/>
                  </a:lnTo>
                  <a:lnTo>
                    <a:pt x="10615549" y="3300349"/>
                  </a:lnTo>
                  <a:lnTo>
                    <a:pt x="10607040" y="3300349"/>
                  </a:lnTo>
                  <a:lnTo>
                    <a:pt x="10607040" y="8509"/>
                  </a:lnTo>
                  <a:lnTo>
                    <a:pt x="10615549" y="8509"/>
                  </a:lnTo>
                  <a:lnTo>
                    <a:pt x="10615549" y="17018"/>
                  </a:lnTo>
                  <a:lnTo>
                    <a:pt x="8509" y="17018"/>
                  </a:lnTo>
                  <a:close/>
                </a:path>
              </a:pathLst>
            </a:custGeom>
            <a:solidFill>
              <a:srgbClr val="D0E8F0"/>
            </a:solidFill>
          </p:spPr>
        </p:sp>
      </p:grpSp>
      <p:grpSp>
        <p:nvGrpSpPr>
          <p:cNvPr name="Group 23" id="23"/>
          <p:cNvGrpSpPr/>
          <p:nvPr/>
        </p:nvGrpSpPr>
        <p:grpSpPr>
          <a:xfrm rot="0">
            <a:off x="914400" y="2484710"/>
            <a:ext cx="263147" cy="2494283"/>
            <a:chOff x="0" y="0"/>
            <a:chExt cx="350863" cy="3325711"/>
          </a:xfrm>
        </p:grpSpPr>
        <p:sp>
          <p:nvSpPr>
            <p:cNvPr name="Freeform 24" id="24"/>
            <p:cNvSpPr/>
            <p:nvPr/>
          </p:nvSpPr>
          <p:spPr>
            <a:xfrm flipH="false" flipV="false" rot="0">
              <a:off x="16891" y="16891"/>
              <a:ext cx="316992" cy="3291840"/>
            </a:xfrm>
            <a:custGeom>
              <a:avLst/>
              <a:gdLst/>
              <a:ahLst/>
              <a:cxnLst/>
              <a:rect r="r" b="b" t="t" l="l"/>
              <a:pathLst>
                <a:path h="3291840" w="316992">
                  <a:moveTo>
                    <a:pt x="0" y="0"/>
                  </a:moveTo>
                  <a:lnTo>
                    <a:pt x="316992" y="0"/>
                  </a:lnTo>
                  <a:lnTo>
                    <a:pt x="316992" y="3291840"/>
                  </a:lnTo>
                  <a:lnTo>
                    <a:pt x="0" y="3291840"/>
                  </a:lnTo>
                  <a:close/>
                </a:path>
              </a:pathLst>
            </a:custGeom>
            <a:solidFill>
              <a:srgbClr val="E74C3C"/>
            </a:solidFill>
          </p:spPr>
        </p:sp>
        <p:sp>
          <p:nvSpPr>
            <p:cNvPr name="Freeform 25" id="25"/>
            <p:cNvSpPr/>
            <p:nvPr/>
          </p:nvSpPr>
          <p:spPr>
            <a:xfrm flipH="false" flipV="false" rot="0">
              <a:off x="0" y="0"/>
              <a:ext cx="350774" cy="3325622"/>
            </a:xfrm>
            <a:custGeom>
              <a:avLst/>
              <a:gdLst/>
              <a:ahLst/>
              <a:cxnLst/>
              <a:rect r="r" b="b" t="t" l="l"/>
              <a:pathLst>
                <a:path h="3325622" w="350774">
                  <a:moveTo>
                    <a:pt x="16891" y="0"/>
                  </a:moveTo>
                  <a:lnTo>
                    <a:pt x="333883" y="0"/>
                  </a:lnTo>
                  <a:cubicBezTo>
                    <a:pt x="343281" y="0"/>
                    <a:pt x="350774" y="7620"/>
                    <a:pt x="350774" y="16891"/>
                  </a:cubicBezTo>
                  <a:lnTo>
                    <a:pt x="350774" y="3308731"/>
                  </a:lnTo>
                  <a:cubicBezTo>
                    <a:pt x="350774" y="3318129"/>
                    <a:pt x="343154" y="3325622"/>
                    <a:pt x="333883"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333883" y="3291840"/>
                  </a:lnTo>
                  <a:lnTo>
                    <a:pt x="333883" y="3308731"/>
                  </a:lnTo>
                  <a:lnTo>
                    <a:pt x="316992" y="3308731"/>
                  </a:lnTo>
                  <a:lnTo>
                    <a:pt x="316992" y="16891"/>
                  </a:lnTo>
                  <a:lnTo>
                    <a:pt x="333883" y="16891"/>
                  </a:lnTo>
                  <a:lnTo>
                    <a:pt x="333883" y="33909"/>
                  </a:lnTo>
                  <a:lnTo>
                    <a:pt x="16891" y="33909"/>
                  </a:lnTo>
                  <a:close/>
                </a:path>
              </a:pathLst>
            </a:custGeom>
            <a:solidFill>
              <a:srgbClr val="E74C3C"/>
            </a:solidFill>
          </p:spPr>
        </p:sp>
      </p:grpSp>
      <p:grpSp>
        <p:nvGrpSpPr>
          <p:cNvPr name="Group 26" id="26"/>
          <p:cNvGrpSpPr/>
          <p:nvPr/>
        </p:nvGrpSpPr>
        <p:grpSpPr>
          <a:xfrm rot="0">
            <a:off x="9352380" y="2455926"/>
            <a:ext cx="263147" cy="2494283"/>
            <a:chOff x="0" y="0"/>
            <a:chExt cx="350863" cy="3325711"/>
          </a:xfrm>
        </p:grpSpPr>
        <p:sp>
          <p:nvSpPr>
            <p:cNvPr name="Freeform 27" id="27"/>
            <p:cNvSpPr/>
            <p:nvPr/>
          </p:nvSpPr>
          <p:spPr>
            <a:xfrm flipH="false" flipV="false" rot="0">
              <a:off x="16891" y="16891"/>
              <a:ext cx="316992" cy="3291840"/>
            </a:xfrm>
            <a:custGeom>
              <a:avLst/>
              <a:gdLst/>
              <a:ahLst/>
              <a:cxnLst/>
              <a:rect r="r" b="b" t="t" l="l"/>
              <a:pathLst>
                <a:path h="3291840" w="316992">
                  <a:moveTo>
                    <a:pt x="0" y="0"/>
                  </a:moveTo>
                  <a:lnTo>
                    <a:pt x="316992" y="0"/>
                  </a:lnTo>
                  <a:lnTo>
                    <a:pt x="316992" y="3291840"/>
                  </a:lnTo>
                  <a:lnTo>
                    <a:pt x="0" y="3291840"/>
                  </a:lnTo>
                  <a:close/>
                </a:path>
              </a:pathLst>
            </a:custGeom>
            <a:solidFill>
              <a:srgbClr val="D35400"/>
            </a:solidFill>
          </p:spPr>
        </p:sp>
        <p:sp>
          <p:nvSpPr>
            <p:cNvPr name="Freeform 28" id="28"/>
            <p:cNvSpPr/>
            <p:nvPr/>
          </p:nvSpPr>
          <p:spPr>
            <a:xfrm flipH="false" flipV="false" rot="0">
              <a:off x="0" y="0"/>
              <a:ext cx="350774" cy="3325622"/>
            </a:xfrm>
            <a:custGeom>
              <a:avLst/>
              <a:gdLst/>
              <a:ahLst/>
              <a:cxnLst/>
              <a:rect r="r" b="b" t="t" l="l"/>
              <a:pathLst>
                <a:path h="3325622" w="350774">
                  <a:moveTo>
                    <a:pt x="16891" y="0"/>
                  </a:moveTo>
                  <a:lnTo>
                    <a:pt x="333883" y="0"/>
                  </a:lnTo>
                  <a:cubicBezTo>
                    <a:pt x="343281" y="0"/>
                    <a:pt x="350774" y="7620"/>
                    <a:pt x="350774" y="16891"/>
                  </a:cubicBezTo>
                  <a:lnTo>
                    <a:pt x="350774" y="3308731"/>
                  </a:lnTo>
                  <a:cubicBezTo>
                    <a:pt x="350774" y="3318129"/>
                    <a:pt x="343154" y="3325622"/>
                    <a:pt x="333883"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333883" y="3291840"/>
                  </a:lnTo>
                  <a:lnTo>
                    <a:pt x="333883" y="3308731"/>
                  </a:lnTo>
                  <a:lnTo>
                    <a:pt x="316992" y="3308731"/>
                  </a:lnTo>
                  <a:lnTo>
                    <a:pt x="316992" y="16891"/>
                  </a:lnTo>
                  <a:lnTo>
                    <a:pt x="333883" y="16891"/>
                  </a:lnTo>
                  <a:lnTo>
                    <a:pt x="333883" y="33909"/>
                  </a:lnTo>
                  <a:lnTo>
                    <a:pt x="16891" y="33909"/>
                  </a:lnTo>
                  <a:close/>
                </a:path>
              </a:pathLst>
            </a:custGeom>
            <a:solidFill>
              <a:srgbClr val="D35400"/>
            </a:solidFill>
          </p:spPr>
        </p:sp>
      </p:grpSp>
      <p:sp>
        <p:nvSpPr>
          <p:cNvPr name="Freeform 29" id="29"/>
          <p:cNvSpPr/>
          <p:nvPr/>
        </p:nvSpPr>
        <p:spPr>
          <a:xfrm flipH="false" flipV="false" rot="0">
            <a:off x="3895831" y="2499312"/>
            <a:ext cx="4967944" cy="2433279"/>
          </a:xfrm>
          <a:custGeom>
            <a:avLst/>
            <a:gdLst/>
            <a:ahLst/>
            <a:cxnLst/>
            <a:rect r="r" b="b" t="t" l="l"/>
            <a:pathLst>
              <a:path h="2433279" w="4967944">
                <a:moveTo>
                  <a:pt x="0" y="0"/>
                </a:moveTo>
                <a:lnTo>
                  <a:pt x="4967943" y="0"/>
                </a:lnTo>
                <a:lnTo>
                  <a:pt x="4967943" y="2433278"/>
                </a:lnTo>
                <a:lnTo>
                  <a:pt x="0" y="2433278"/>
                </a:lnTo>
                <a:lnTo>
                  <a:pt x="0" y="0"/>
                </a:lnTo>
                <a:close/>
              </a:path>
            </a:pathLst>
          </a:custGeom>
          <a:blipFill>
            <a:blip r:embed="rId3"/>
            <a:stretch>
              <a:fillRect l="0" t="0" r="0" b="0"/>
            </a:stretch>
          </a:blipFill>
        </p:spPr>
      </p:sp>
      <p:sp>
        <p:nvSpPr>
          <p:cNvPr name="Freeform 30" id="30"/>
          <p:cNvSpPr/>
          <p:nvPr/>
        </p:nvSpPr>
        <p:spPr>
          <a:xfrm flipH="false" flipV="false" rot="0">
            <a:off x="12333143" y="2484710"/>
            <a:ext cx="4999910" cy="2424009"/>
          </a:xfrm>
          <a:custGeom>
            <a:avLst/>
            <a:gdLst/>
            <a:ahLst/>
            <a:cxnLst/>
            <a:rect r="r" b="b" t="t" l="l"/>
            <a:pathLst>
              <a:path h="2424009" w="4999910">
                <a:moveTo>
                  <a:pt x="0" y="0"/>
                </a:moveTo>
                <a:lnTo>
                  <a:pt x="4999910" y="0"/>
                </a:lnTo>
                <a:lnTo>
                  <a:pt x="4999910" y="2424009"/>
                </a:lnTo>
                <a:lnTo>
                  <a:pt x="0" y="2424009"/>
                </a:lnTo>
                <a:lnTo>
                  <a:pt x="0" y="0"/>
                </a:lnTo>
                <a:close/>
              </a:path>
            </a:pathLst>
          </a:custGeom>
          <a:blipFill>
            <a:blip r:embed="rId4"/>
            <a:stretch>
              <a:fillRect l="0" t="0" r="-8055" b="0"/>
            </a:stretch>
          </a:blipFill>
        </p:spPr>
      </p:sp>
      <p:sp>
        <p:nvSpPr>
          <p:cNvPr name="Freeform 31" id="31"/>
          <p:cNvSpPr/>
          <p:nvPr/>
        </p:nvSpPr>
        <p:spPr>
          <a:xfrm flipH="false" flipV="false" rot="0">
            <a:off x="2058723" y="5872265"/>
            <a:ext cx="6622172" cy="3687442"/>
          </a:xfrm>
          <a:custGeom>
            <a:avLst/>
            <a:gdLst/>
            <a:ahLst/>
            <a:cxnLst/>
            <a:rect r="r" b="b" t="t" l="l"/>
            <a:pathLst>
              <a:path h="3687442" w="6622172">
                <a:moveTo>
                  <a:pt x="0" y="0"/>
                </a:moveTo>
                <a:lnTo>
                  <a:pt x="6622171" y="0"/>
                </a:lnTo>
                <a:lnTo>
                  <a:pt x="6622171" y="3687442"/>
                </a:lnTo>
                <a:lnTo>
                  <a:pt x="0" y="3687442"/>
                </a:lnTo>
                <a:lnTo>
                  <a:pt x="0" y="0"/>
                </a:lnTo>
                <a:close/>
              </a:path>
            </a:pathLst>
          </a:custGeom>
          <a:blipFill>
            <a:blip r:embed="rId5"/>
            <a:stretch>
              <a:fillRect l="0" t="0" r="0" b="0"/>
            </a:stretch>
          </a:blipFill>
        </p:spPr>
      </p:sp>
      <p:grpSp>
        <p:nvGrpSpPr>
          <p:cNvPr name="Group 32" id="32"/>
          <p:cNvGrpSpPr/>
          <p:nvPr/>
        </p:nvGrpSpPr>
        <p:grpSpPr>
          <a:xfrm rot="0">
            <a:off x="9785269" y="2635149"/>
            <a:ext cx="2347256" cy="1299753"/>
            <a:chOff x="0" y="0"/>
            <a:chExt cx="3129675" cy="1733004"/>
          </a:xfrm>
        </p:grpSpPr>
        <p:sp>
          <p:nvSpPr>
            <p:cNvPr name="Freeform 33" id="33"/>
            <p:cNvSpPr/>
            <p:nvPr/>
          </p:nvSpPr>
          <p:spPr>
            <a:xfrm flipH="false" flipV="false" rot="0">
              <a:off x="0" y="0"/>
              <a:ext cx="3129675" cy="1733004"/>
            </a:xfrm>
            <a:custGeom>
              <a:avLst/>
              <a:gdLst/>
              <a:ahLst/>
              <a:cxnLst/>
              <a:rect r="r" b="b" t="t" l="l"/>
              <a:pathLst>
                <a:path h="1733004" w="3129675">
                  <a:moveTo>
                    <a:pt x="0" y="0"/>
                  </a:moveTo>
                  <a:lnTo>
                    <a:pt x="3129675" y="0"/>
                  </a:lnTo>
                  <a:lnTo>
                    <a:pt x="3129675" y="1733004"/>
                  </a:lnTo>
                  <a:lnTo>
                    <a:pt x="0" y="1733004"/>
                  </a:lnTo>
                  <a:close/>
                </a:path>
              </a:pathLst>
            </a:custGeom>
            <a:blipFill>
              <a:blip r:embed="rId2">
                <a:alphaModFix amt="0"/>
              </a:blip>
              <a:stretch>
                <a:fillRect l="0" t="-85041" r="-211648" b="-34287"/>
              </a:stretch>
            </a:blipFill>
          </p:spPr>
        </p:sp>
        <p:sp>
          <p:nvSpPr>
            <p:cNvPr name="TextBox 34" id="34"/>
            <p:cNvSpPr txBox="true"/>
            <p:nvPr/>
          </p:nvSpPr>
          <p:spPr>
            <a:xfrm>
              <a:off x="0" y="-57150"/>
              <a:ext cx="3129675" cy="1790154"/>
            </a:xfrm>
            <a:prstGeom prst="rect">
              <a:avLst/>
            </a:prstGeom>
          </p:spPr>
          <p:txBody>
            <a:bodyPr anchor="ctr" rtlCol="false" tIns="0" lIns="0" bIns="0" rIns="0"/>
            <a:lstStyle/>
            <a:p>
              <a:pPr algn="l">
                <a:lnSpc>
                  <a:spcPts val="3120"/>
                </a:lnSpc>
              </a:pPr>
              <a:r>
                <a:rPr lang="en-US" sz="2600" b="true">
                  <a:solidFill>
                    <a:srgbClr val="E67E22"/>
                  </a:solidFill>
                  <a:latin typeface="Calibri (MS) Bold"/>
                  <a:ea typeface="Calibri (MS) Bold"/>
                  <a:cs typeface="Calibri (MS) Bold"/>
                  <a:sym typeface="Calibri (MS) Bold"/>
                </a:rPr>
                <a:t>Sesudah Penanganan Missing Values</a:t>
              </a:r>
            </a:p>
          </p:txBody>
        </p:sp>
      </p:grpSp>
      <p:grpSp>
        <p:nvGrpSpPr>
          <p:cNvPr name="Group 35" id="35"/>
          <p:cNvGrpSpPr/>
          <p:nvPr/>
        </p:nvGrpSpPr>
        <p:grpSpPr>
          <a:xfrm rot="0">
            <a:off x="1334596" y="3910215"/>
            <a:ext cx="3563793" cy="784034"/>
            <a:chOff x="0" y="0"/>
            <a:chExt cx="6096000" cy="1341120"/>
          </a:xfrm>
        </p:grpSpPr>
        <p:sp>
          <p:nvSpPr>
            <p:cNvPr name="Freeform 36" id="36"/>
            <p:cNvSpPr/>
            <p:nvPr/>
          </p:nvSpPr>
          <p:spPr>
            <a:xfrm flipH="false" flipV="false" rot="0">
              <a:off x="0" y="0"/>
              <a:ext cx="6096000" cy="1341120"/>
            </a:xfrm>
            <a:custGeom>
              <a:avLst/>
              <a:gdLst/>
              <a:ahLst/>
              <a:cxnLst/>
              <a:rect r="r" b="b" t="t" l="l"/>
              <a:pathLst>
                <a:path h="1341120" w="6096000">
                  <a:moveTo>
                    <a:pt x="0" y="0"/>
                  </a:moveTo>
                  <a:lnTo>
                    <a:pt x="6096000" y="0"/>
                  </a:lnTo>
                  <a:lnTo>
                    <a:pt x="6096000" y="1341120"/>
                  </a:lnTo>
                  <a:lnTo>
                    <a:pt x="0" y="1341120"/>
                  </a:lnTo>
                  <a:close/>
                </a:path>
              </a:pathLst>
            </a:custGeom>
            <a:blipFill>
              <a:blip r:embed="rId2">
                <a:alphaModFix amt="0"/>
              </a:blip>
              <a:stretch>
                <a:fillRect l="0" t="-38568" r="0" b="-38568"/>
              </a:stretch>
            </a:blipFill>
          </p:spPr>
        </p:sp>
        <p:sp>
          <p:nvSpPr>
            <p:cNvPr name="TextBox 37" id="37"/>
            <p:cNvSpPr txBox="true"/>
            <p:nvPr/>
          </p:nvSpPr>
          <p:spPr>
            <a:xfrm>
              <a:off x="0" y="-28575"/>
              <a:ext cx="6096000" cy="1369695"/>
            </a:xfrm>
            <a:prstGeom prst="rect">
              <a:avLst/>
            </a:prstGeom>
          </p:spPr>
          <p:txBody>
            <a:bodyPr anchor="ctr" rtlCol="false" tIns="0" lIns="0" bIns="0" rIns="0"/>
            <a:lstStyle/>
            <a:p>
              <a:pPr algn="l">
                <a:lnSpc>
                  <a:spcPts val="1920"/>
                </a:lnSpc>
              </a:pPr>
              <a:r>
                <a:rPr lang="en-US" sz="1600">
                  <a:solidFill>
                    <a:srgbClr val="1E3A5F"/>
                  </a:solidFill>
                  <a:latin typeface="Calibri (MS)"/>
                  <a:ea typeface="Calibri (MS)"/>
                  <a:cs typeface="Calibri (MS)"/>
                  <a:sym typeface="Calibri (MS)"/>
                </a:rPr>
                <a:t>Nilai kosong/NaN</a:t>
              </a:r>
            </a:p>
            <a:p>
              <a:pPr algn="l">
                <a:lnSpc>
                  <a:spcPts val="1920"/>
                </a:lnSpc>
              </a:pPr>
              <a:r>
                <a:rPr lang="en-US" sz="1600">
                  <a:solidFill>
                    <a:srgbClr val="1E3A5F"/>
                  </a:solidFill>
                  <a:latin typeface="Calibri (MS)"/>
                  <a:ea typeface="Calibri (MS)"/>
                  <a:cs typeface="Calibri (MS)"/>
                  <a:sym typeface="Calibri (MS)"/>
                </a:rPr>
                <a:t>ditemukan pada kolom RR</a:t>
              </a:r>
            </a:p>
          </p:txBody>
        </p:sp>
      </p:grpSp>
      <p:grpSp>
        <p:nvGrpSpPr>
          <p:cNvPr name="Group 38" id="38"/>
          <p:cNvGrpSpPr/>
          <p:nvPr/>
        </p:nvGrpSpPr>
        <p:grpSpPr>
          <a:xfrm rot="0">
            <a:off x="9772575" y="3877974"/>
            <a:ext cx="2560567" cy="784034"/>
            <a:chOff x="0" y="0"/>
            <a:chExt cx="4379946" cy="1341120"/>
          </a:xfrm>
        </p:grpSpPr>
        <p:sp>
          <p:nvSpPr>
            <p:cNvPr name="Freeform 39" id="39"/>
            <p:cNvSpPr/>
            <p:nvPr/>
          </p:nvSpPr>
          <p:spPr>
            <a:xfrm flipH="false" flipV="false" rot="0">
              <a:off x="0" y="0"/>
              <a:ext cx="4379946" cy="1341120"/>
            </a:xfrm>
            <a:custGeom>
              <a:avLst/>
              <a:gdLst/>
              <a:ahLst/>
              <a:cxnLst/>
              <a:rect r="r" b="b" t="t" l="l"/>
              <a:pathLst>
                <a:path h="1341120" w="4379946">
                  <a:moveTo>
                    <a:pt x="0" y="0"/>
                  </a:moveTo>
                  <a:lnTo>
                    <a:pt x="4379946" y="0"/>
                  </a:lnTo>
                  <a:lnTo>
                    <a:pt x="4379946" y="1341120"/>
                  </a:lnTo>
                  <a:lnTo>
                    <a:pt x="0" y="1341120"/>
                  </a:lnTo>
                  <a:close/>
                </a:path>
              </a:pathLst>
            </a:custGeom>
            <a:blipFill>
              <a:blip r:embed="rId2">
                <a:alphaModFix amt="0"/>
              </a:blip>
              <a:stretch>
                <a:fillRect l="0" t="-38568" r="-39179" b="-38568"/>
              </a:stretch>
            </a:blipFill>
          </p:spPr>
        </p:sp>
        <p:sp>
          <p:nvSpPr>
            <p:cNvPr name="TextBox 40" id="40"/>
            <p:cNvSpPr txBox="true"/>
            <p:nvPr/>
          </p:nvSpPr>
          <p:spPr>
            <a:xfrm>
              <a:off x="0" y="-28575"/>
              <a:ext cx="4379946" cy="1369695"/>
            </a:xfrm>
            <a:prstGeom prst="rect">
              <a:avLst/>
            </a:prstGeom>
          </p:spPr>
          <p:txBody>
            <a:bodyPr anchor="ctr" rtlCol="false" tIns="0" lIns="0" bIns="0" rIns="0"/>
            <a:lstStyle/>
            <a:p>
              <a:pPr algn="l">
                <a:lnSpc>
                  <a:spcPts val="1920"/>
                </a:lnSpc>
              </a:pPr>
              <a:r>
                <a:rPr lang="en-US" sz="1600">
                  <a:solidFill>
                    <a:srgbClr val="1E3A5F"/>
                  </a:solidFill>
                  <a:latin typeface="Calibri (MS)"/>
                  <a:ea typeface="Calibri (MS)"/>
                  <a:cs typeface="Calibri (MS)"/>
                  <a:sym typeface="Calibri (MS)"/>
                </a:rPr>
                <a:t>Nilai kosong/NaN pada kolom RR berhasil di tangani</a:t>
              </a:r>
            </a:p>
          </p:txBody>
        </p:sp>
      </p:grpSp>
      <p:grpSp>
        <p:nvGrpSpPr>
          <p:cNvPr name="Group 41" id="41"/>
          <p:cNvGrpSpPr/>
          <p:nvPr/>
        </p:nvGrpSpPr>
        <p:grpSpPr>
          <a:xfrm rot="0">
            <a:off x="1358075" y="2610462"/>
            <a:ext cx="2325686" cy="1299753"/>
            <a:chOff x="0" y="0"/>
            <a:chExt cx="3100915" cy="1733004"/>
          </a:xfrm>
        </p:grpSpPr>
        <p:sp>
          <p:nvSpPr>
            <p:cNvPr name="Freeform 42" id="42"/>
            <p:cNvSpPr/>
            <p:nvPr/>
          </p:nvSpPr>
          <p:spPr>
            <a:xfrm flipH="false" flipV="false" rot="0">
              <a:off x="0" y="0"/>
              <a:ext cx="3100915" cy="1733004"/>
            </a:xfrm>
            <a:custGeom>
              <a:avLst/>
              <a:gdLst/>
              <a:ahLst/>
              <a:cxnLst/>
              <a:rect r="r" b="b" t="t" l="l"/>
              <a:pathLst>
                <a:path h="1733004" w="3100915">
                  <a:moveTo>
                    <a:pt x="0" y="0"/>
                  </a:moveTo>
                  <a:lnTo>
                    <a:pt x="3100915" y="0"/>
                  </a:lnTo>
                  <a:lnTo>
                    <a:pt x="3100915" y="1733004"/>
                  </a:lnTo>
                  <a:lnTo>
                    <a:pt x="0" y="1733004"/>
                  </a:lnTo>
                  <a:close/>
                </a:path>
              </a:pathLst>
            </a:custGeom>
            <a:blipFill>
              <a:blip r:embed="rId2">
                <a:alphaModFix amt="0"/>
              </a:blip>
              <a:stretch>
                <a:fillRect l="0" t="-85041" r="-214539" b="-34287"/>
              </a:stretch>
            </a:blipFill>
          </p:spPr>
        </p:sp>
        <p:sp>
          <p:nvSpPr>
            <p:cNvPr name="TextBox 43" id="43"/>
            <p:cNvSpPr txBox="true"/>
            <p:nvPr/>
          </p:nvSpPr>
          <p:spPr>
            <a:xfrm>
              <a:off x="0" y="-57150"/>
              <a:ext cx="3100915" cy="1790154"/>
            </a:xfrm>
            <a:prstGeom prst="rect">
              <a:avLst/>
            </a:prstGeom>
          </p:spPr>
          <p:txBody>
            <a:bodyPr anchor="ctr" rtlCol="false" tIns="0" lIns="0" bIns="0" rIns="0"/>
            <a:lstStyle/>
            <a:p>
              <a:pPr algn="l">
                <a:lnSpc>
                  <a:spcPts val="3120"/>
                </a:lnSpc>
              </a:pPr>
              <a:r>
                <a:rPr lang="en-US" sz="2600" b="true">
                  <a:solidFill>
                    <a:srgbClr val="E74C3C"/>
                  </a:solidFill>
                  <a:latin typeface="Calibri (MS) Bold"/>
                  <a:ea typeface="Calibri (MS) Bold"/>
                  <a:cs typeface="Calibri (MS) Bold"/>
                  <a:sym typeface="Calibri (MS) Bold"/>
                </a:rPr>
                <a:t>Sebelum Penanganan Missing Values</a:t>
              </a:r>
            </a:p>
          </p:txBody>
        </p:sp>
      </p:grpSp>
      <p:grpSp>
        <p:nvGrpSpPr>
          <p:cNvPr name="Group 44" id="44"/>
          <p:cNvGrpSpPr/>
          <p:nvPr/>
        </p:nvGrpSpPr>
        <p:grpSpPr>
          <a:xfrm rot="0">
            <a:off x="9352380" y="6396971"/>
            <a:ext cx="8217037" cy="3011938"/>
            <a:chOff x="0" y="0"/>
            <a:chExt cx="10623969" cy="3894194"/>
          </a:xfrm>
        </p:grpSpPr>
        <p:sp>
          <p:nvSpPr>
            <p:cNvPr name="Freeform 45" id="45"/>
            <p:cNvSpPr/>
            <p:nvPr/>
          </p:nvSpPr>
          <p:spPr>
            <a:xfrm flipH="false" flipV="false" rot="0">
              <a:off x="8509" y="10015"/>
              <a:ext cx="10607040" cy="3874270"/>
            </a:xfrm>
            <a:custGeom>
              <a:avLst/>
              <a:gdLst/>
              <a:ahLst/>
              <a:cxnLst/>
              <a:rect r="r" b="b" t="t" l="l"/>
              <a:pathLst>
                <a:path h="3874270" w="10607040">
                  <a:moveTo>
                    <a:pt x="0" y="0"/>
                  </a:moveTo>
                  <a:lnTo>
                    <a:pt x="10607040" y="0"/>
                  </a:lnTo>
                  <a:lnTo>
                    <a:pt x="10607040" y="3874270"/>
                  </a:lnTo>
                  <a:lnTo>
                    <a:pt x="0" y="3874270"/>
                  </a:lnTo>
                  <a:close/>
                </a:path>
              </a:pathLst>
            </a:custGeom>
            <a:solidFill>
              <a:srgbClr val="FFFFFF"/>
            </a:solidFill>
          </p:spPr>
        </p:sp>
        <p:sp>
          <p:nvSpPr>
            <p:cNvPr name="Freeform 46" id="46"/>
            <p:cNvSpPr/>
            <p:nvPr/>
          </p:nvSpPr>
          <p:spPr>
            <a:xfrm flipH="false" flipV="false" rot="0">
              <a:off x="0" y="0"/>
              <a:ext cx="10624058" cy="3894283"/>
            </a:xfrm>
            <a:custGeom>
              <a:avLst/>
              <a:gdLst/>
              <a:ahLst/>
              <a:cxnLst/>
              <a:rect r="r" b="b" t="t" l="l"/>
              <a:pathLst>
                <a:path h="3894283" w="10624058">
                  <a:moveTo>
                    <a:pt x="8509" y="0"/>
                  </a:moveTo>
                  <a:lnTo>
                    <a:pt x="10615549" y="0"/>
                  </a:lnTo>
                  <a:cubicBezTo>
                    <a:pt x="10620248" y="0"/>
                    <a:pt x="10624058" y="4484"/>
                    <a:pt x="10624058" y="10015"/>
                  </a:cubicBezTo>
                  <a:lnTo>
                    <a:pt x="10624058" y="3884285"/>
                  </a:lnTo>
                  <a:cubicBezTo>
                    <a:pt x="10624058" y="3889815"/>
                    <a:pt x="10620248" y="3894283"/>
                    <a:pt x="10615549" y="3894283"/>
                  </a:cubicBezTo>
                  <a:lnTo>
                    <a:pt x="8509" y="3894283"/>
                  </a:lnTo>
                  <a:cubicBezTo>
                    <a:pt x="3810" y="3894283"/>
                    <a:pt x="0" y="3889815"/>
                    <a:pt x="0" y="3884285"/>
                  </a:cubicBezTo>
                  <a:lnTo>
                    <a:pt x="0" y="10015"/>
                  </a:lnTo>
                  <a:cubicBezTo>
                    <a:pt x="0" y="4484"/>
                    <a:pt x="3810" y="0"/>
                    <a:pt x="8509" y="0"/>
                  </a:cubicBezTo>
                  <a:moveTo>
                    <a:pt x="8509" y="19880"/>
                  </a:moveTo>
                  <a:lnTo>
                    <a:pt x="8509" y="10015"/>
                  </a:lnTo>
                  <a:lnTo>
                    <a:pt x="17018" y="10015"/>
                  </a:lnTo>
                  <a:lnTo>
                    <a:pt x="17018" y="3884285"/>
                  </a:lnTo>
                  <a:lnTo>
                    <a:pt x="8509" y="3884285"/>
                  </a:lnTo>
                  <a:lnTo>
                    <a:pt x="8509" y="3874270"/>
                  </a:lnTo>
                  <a:lnTo>
                    <a:pt x="10615549" y="3874270"/>
                  </a:lnTo>
                  <a:lnTo>
                    <a:pt x="10615549" y="3884285"/>
                  </a:lnTo>
                  <a:lnTo>
                    <a:pt x="10607040" y="3884285"/>
                  </a:lnTo>
                  <a:lnTo>
                    <a:pt x="10607040" y="10015"/>
                  </a:lnTo>
                  <a:lnTo>
                    <a:pt x="10615549" y="10015"/>
                  </a:lnTo>
                  <a:lnTo>
                    <a:pt x="10615549" y="20029"/>
                  </a:lnTo>
                  <a:lnTo>
                    <a:pt x="8509" y="20029"/>
                  </a:lnTo>
                  <a:close/>
                </a:path>
              </a:pathLst>
            </a:custGeom>
            <a:solidFill>
              <a:srgbClr val="D0E8F0"/>
            </a:solidFill>
          </p:spPr>
        </p:sp>
      </p:grpSp>
      <p:grpSp>
        <p:nvGrpSpPr>
          <p:cNvPr name="Group 47" id="47"/>
          <p:cNvGrpSpPr/>
          <p:nvPr/>
        </p:nvGrpSpPr>
        <p:grpSpPr>
          <a:xfrm rot="5400000">
            <a:off x="13258874" y="2218439"/>
            <a:ext cx="404049" cy="8217037"/>
            <a:chOff x="0" y="0"/>
            <a:chExt cx="163532" cy="3325711"/>
          </a:xfrm>
        </p:grpSpPr>
        <p:sp>
          <p:nvSpPr>
            <p:cNvPr name="Freeform 48" id="48"/>
            <p:cNvSpPr/>
            <p:nvPr/>
          </p:nvSpPr>
          <p:spPr>
            <a:xfrm flipH="false" flipV="false" rot="0">
              <a:off x="7873" y="16891"/>
              <a:ext cx="147745" cy="3291840"/>
            </a:xfrm>
            <a:custGeom>
              <a:avLst/>
              <a:gdLst/>
              <a:ahLst/>
              <a:cxnLst/>
              <a:rect r="r" b="b" t="t" l="l"/>
              <a:pathLst>
                <a:path h="3291840" w="147745">
                  <a:moveTo>
                    <a:pt x="0" y="0"/>
                  </a:moveTo>
                  <a:lnTo>
                    <a:pt x="147745" y="0"/>
                  </a:lnTo>
                  <a:lnTo>
                    <a:pt x="147745" y="3291840"/>
                  </a:lnTo>
                  <a:lnTo>
                    <a:pt x="0" y="3291840"/>
                  </a:lnTo>
                  <a:close/>
                </a:path>
              </a:pathLst>
            </a:custGeom>
            <a:solidFill>
              <a:srgbClr val="E74C3C"/>
            </a:solidFill>
          </p:spPr>
        </p:sp>
        <p:sp>
          <p:nvSpPr>
            <p:cNvPr name="Freeform 49" id="49"/>
            <p:cNvSpPr/>
            <p:nvPr/>
          </p:nvSpPr>
          <p:spPr>
            <a:xfrm flipH="false" flipV="false" rot="0">
              <a:off x="0" y="0"/>
              <a:ext cx="163491" cy="3325622"/>
            </a:xfrm>
            <a:custGeom>
              <a:avLst/>
              <a:gdLst/>
              <a:ahLst/>
              <a:cxnLst/>
              <a:rect r="r" b="b" t="t" l="l"/>
              <a:pathLst>
                <a:path h="3325622" w="163491">
                  <a:moveTo>
                    <a:pt x="7873" y="0"/>
                  </a:moveTo>
                  <a:lnTo>
                    <a:pt x="155618" y="0"/>
                  </a:lnTo>
                  <a:cubicBezTo>
                    <a:pt x="159998" y="0"/>
                    <a:pt x="163491" y="7620"/>
                    <a:pt x="163491" y="16891"/>
                  </a:cubicBezTo>
                  <a:lnTo>
                    <a:pt x="163491" y="3308731"/>
                  </a:lnTo>
                  <a:cubicBezTo>
                    <a:pt x="163491" y="3318129"/>
                    <a:pt x="159939" y="3325622"/>
                    <a:pt x="155618" y="3325622"/>
                  </a:cubicBezTo>
                  <a:lnTo>
                    <a:pt x="7873" y="3325622"/>
                  </a:lnTo>
                  <a:cubicBezTo>
                    <a:pt x="3492" y="3325622"/>
                    <a:pt x="0" y="3318002"/>
                    <a:pt x="0" y="3308731"/>
                  </a:cubicBezTo>
                  <a:lnTo>
                    <a:pt x="0" y="16891"/>
                  </a:lnTo>
                  <a:cubicBezTo>
                    <a:pt x="0" y="7620"/>
                    <a:pt x="3552" y="0"/>
                    <a:pt x="7873" y="0"/>
                  </a:cubicBezTo>
                  <a:moveTo>
                    <a:pt x="7873" y="33909"/>
                  </a:moveTo>
                  <a:lnTo>
                    <a:pt x="7873" y="16891"/>
                  </a:lnTo>
                  <a:lnTo>
                    <a:pt x="15804" y="16891"/>
                  </a:lnTo>
                  <a:lnTo>
                    <a:pt x="15804" y="3308731"/>
                  </a:lnTo>
                  <a:lnTo>
                    <a:pt x="7873" y="3308731"/>
                  </a:lnTo>
                  <a:lnTo>
                    <a:pt x="7873" y="3291840"/>
                  </a:lnTo>
                  <a:lnTo>
                    <a:pt x="155618" y="3291840"/>
                  </a:lnTo>
                  <a:lnTo>
                    <a:pt x="155618" y="3308731"/>
                  </a:lnTo>
                  <a:lnTo>
                    <a:pt x="147745" y="3308731"/>
                  </a:lnTo>
                  <a:lnTo>
                    <a:pt x="147745" y="16891"/>
                  </a:lnTo>
                  <a:lnTo>
                    <a:pt x="155618" y="16891"/>
                  </a:lnTo>
                  <a:lnTo>
                    <a:pt x="155618" y="33909"/>
                  </a:lnTo>
                  <a:lnTo>
                    <a:pt x="7873" y="33909"/>
                  </a:lnTo>
                  <a:close/>
                </a:path>
              </a:pathLst>
            </a:custGeom>
            <a:solidFill>
              <a:srgbClr val="E74C3C"/>
            </a:solidFill>
          </p:spPr>
        </p:sp>
      </p:grpSp>
      <p:sp>
        <p:nvSpPr>
          <p:cNvPr name="TextBox 50" id="50"/>
          <p:cNvSpPr txBox="true"/>
          <p:nvPr/>
        </p:nvSpPr>
        <p:spPr>
          <a:xfrm rot="0">
            <a:off x="9441157" y="6497406"/>
            <a:ext cx="7908792" cy="2772967"/>
          </a:xfrm>
          <a:prstGeom prst="rect">
            <a:avLst/>
          </a:prstGeom>
        </p:spPr>
        <p:txBody>
          <a:bodyPr anchor="t" rtlCol="false" tIns="0" lIns="0" bIns="0" rIns="0">
            <a:spAutoFit/>
          </a:bodyPr>
          <a:lstStyle/>
          <a:p>
            <a:pPr algn="just">
              <a:lnSpc>
                <a:spcPts val="2436"/>
              </a:lnSpc>
              <a:spcBef>
                <a:spcPct val="0"/>
              </a:spcBef>
            </a:pPr>
            <a:r>
              <a:rPr lang="en-US" b="true" sz="2030">
                <a:solidFill>
                  <a:srgbClr val="000000"/>
                </a:solidFill>
                <a:latin typeface="Calibri (MS) Bold"/>
                <a:ea typeface="Calibri (MS) Bold"/>
                <a:cs typeface="Calibri (MS) Bold"/>
                <a:sym typeface="Calibri (MS) Bold"/>
              </a:rPr>
              <a:t>Pada tahap Veracity, ditemukan 35 missing values (8.8%) pada kolom RR (curah hujan) yang berasal dari kode error 8888 dan 9999 milik BMKG yang mana m</a:t>
            </a:r>
            <a:r>
              <a:rPr lang="en-US" b="true" sz="2030">
                <a:solidFill>
                  <a:srgbClr val="000000"/>
                </a:solidFill>
                <a:latin typeface="Calibri (MS) Bold"/>
                <a:ea typeface="Calibri (MS) Bold"/>
                <a:cs typeface="Calibri (MS) Bold"/>
                <a:sym typeface="Calibri (MS) Bold"/>
              </a:rPr>
              <a:t>enandakan sensor tidak dapat mengukur. Sedangkan kolom lainnya tidak memiliki missing value.</a:t>
            </a:r>
          </a:p>
          <a:p>
            <a:pPr algn="just">
              <a:lnSpc>
                <a:spcPts val="2436"/>
              </a:lnSpc>
              <a:spcBef>
                <a:spcPct val="0"/>
              </a:spcBef>
            </a:pPr>
            <a:r>
              <a:rPr lang="en-US" b="true" sz="2030">
                <a:solidFill>
                  <a:srgbClr val="000000"/>
                </a:solidFill>
                <a:latin typeface="Calibri (MS) Bold"/>
                <a:ea typeface="Calibri (MS) Bold"/>
                <a:cs typeface="Calibri (MS) Bold"/>
                <a:sym typeface="Calibri (MS) Bold"/>
              </a:rPr>
              <a:t>Untuk menanganinya digunakan tiga metode secara berurutan yaitu forward fill → backward fill → median per bulan. Hasilnya seluruh missing value berhasil ditangani, dibuktikan dengan semua kolom RR_FILLED bernilai 0. Kolom RR_IMPUTED berfungsi sebagai penanda dimana nilai False berarti data asli, True berarti data hasil imputasi.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2ECC71"/>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2ECC71"/>
            </a:solidFill>
          </p:spPr>
        </p:sp>
      </p:grpSp>
      <p:grpSp>
        <p:nvGrpSpPr>
          <p:cNvPr name="Group 5" id="5"/>
          <p:cNvGrpSpPr/>
          <p:nvPr/>
        </p:nvGrpSpPr>
        <p:grpSpPr>
          <a:xfrm rot="0">
            <a:off x="901703" y="243335"/>
            <a:ext cx="1342139" cy="1342139"/>
            <a:chOff x="0" y="0"/>
            <a:chExt cx="1789519" cy="1789519"/>
          </a:xfrm>
        </p:grpSpPr>
        <p:sp>
          <p:nvSpPr>
            <p:cNvPr name="Freeform 6" id="6"/>
            <p:cNvSpPr/>
            <p:nvPr/>
          </p:nvSpPr>
          <p:spPr>
            <a:xfrm flipH="false" flipV="false" rot="0">
              <a:off x="16891" y="16891"/>
              <a:ext cx="1755648" cy="1755648"/>
            </a:xfrm>
            <a:custGeom>
              <a:avLst/>
              <a:gdLst/>
              <a:ahLst/>
              <a:cxnLst/>
              <a:rect r="r" b="b" t="t" l="l"/>
              <a:pathLst>
                <a:path h="1755648" w="1755648">
                  <a:moveTo>
                    <a:pt x="0" y="0"/>
                  </a:moveTo>
                  <a:lnTo>
                    <a:pt x="1755648" y="0"/>
                  </a:lnTo>
                  <a:lnTo>
                    <a:pt x="1755648" y="1755648"/>
                  </a:lnTo>
                  <a:lnTo>
                    <a:pt x="0" y="1755648"/>
                  </a:lnTo>
                  <a:close/>
                </a:path>
              </a:pathLst>
            </a:custGeom>
            <a:solidFill>
              <a:srgbClr val="2ECC71"/>
            </a:solidFill>
          </p:spPr>
        </p:sp>
        <p:sp>
          <p:nvSpPr>
            <p:cNvPr name="Freeform 7" id="7"/>
            <p:cNvSpPr/>
            <p:nvPr/>
          </p:nvSpPr>
          <p:spPr>
            <a:xfrm flipH="false" flipV="false" rot="0">
              <a:off x="0" y="0"/>
              <a:ext cx="1789430" cy="1789430"/>
            </a:xfrm>
            <a:custGeom>
              <a:avLst/>
              <a:gdLst/>
              <a:ahLst/>
              <a:cxnLst/>
              <a:rect r="r" b="b" t="t" l="l"/>
              <a:pathLst>
                <a:path h="1789430" w="1789430">
                  <a:moveTo>
                    <a:pt x="16891" y="0"/>
                  </a:moveTo>
                  <a:lnTo>
                    <a:pt x="1772539" y="0"/>
                  </a:lnTo>
                  <a:cubicBezTo>
                    <a:pt x="1781937" y="0"/>
                    <a:pt x="1789430" y="7620"/>
                    <a:pt x="1789430" y="16891"/>
                  </a:cubicBezTo>
                  <a:lnTo>
                    <a:pt x="1789430" y="1772539"/>
                  </a:lnTo>
                  <a:cubicBezTo>
                    <a:pt x="1789430" y="1781937"/>
                    <a:pt x="1781810" y="1789430"/>
                    <a:pt x="177253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1772539" y="1755648"/>
                  </a:lnTo>
                  <a:lnTo>
                    <a:pt x="1772539" y="1772539"/>
                  </a:lnTo>
                  <a:lnTo>
                    <a:pt x="1755648" y="1772539"/>
                  </a:lnTo>
                  <a:lnTo>
                    <a:pt x="1755648" y="16891"/>
                  </a:lnTo>
                  <a:lnTo>
                    <a:pt x="1772539" y="16891"/>
                  </a:lnTo>
                  <a:lnTo>
                    <a:pt x="1772539" y="33909"/>
                  </a:lnTo>
                  <a:lnTo>
                    <a:pt x="16891" y="33909"/>
                  </a:lnTo>
                  <a:close/>
                </a:path>
              </a:pathLst>
            </a:custGeom>
            <a:solidFill>
              <a:srgbClr val="2ECC71"/>
            </a:solidFill>
          </p:spPr>
        </p:sp>
      </p:grpSp>
      <p:grpSp>
        <p:nvGrpSpPr>
          <p:cNvPr name="Group 8" id="8"/>
          <p:cNvGrpSpPr/>
          <p:nvPr/>
        </p:nvGrpSpPr>
        <p:grpSpPr>
          <a:xfrm rot="0">
            <a:off x="914400" y="256032"/>
            <a:ext cx="1316736" cy="1316736"/>
            <a:chOff x="0" y="0"/>
            <a:chExt cx="1755648" cy="1755648"/>
          </a:xfrm>
        </p:grpSpPr>
        <p:sp>
          <p:nvSpPr>
            <p:cNvPr name="Freeform 9" id="9"/>
            <p:cNvSpPr/>
            <p:nvPr/>
          </p:nvSpPr>
          <p:spPr>
            <a:xfrm flipH="false" flipV="false" rot="0">
              <a:off x="0" y="0"/>
              <a:ext cx="1755648" cy="1755648"/>
            </a:xfrm>
            <a:custGeom>
              <a:avLst/>
              <a:gdLst/>
              <a:ahLst/>
              <a:cxnLst/>
              <a:rect r="r" b="b" t="t" l="l"/>
              <a:pathLst>
                <a:path h="1755648" w="1755648">
                  <a:moveTo>
                    <a:pt x="0" y="0"/>
                  </a:moveTo>
                  <a:lnTo>
                    <a:pt x="1755648" y="0"/>
                  </a:lnTo>
                  <a:lnTo>
                    <a:pt x="1755648" y="1755648"/>
                  </a:lnTo>
                  <a:lnTo>
                    <a:pt x="0" y="1755648"/>
                  </a:lnTo>
                  <a:close/>
                </a:path>
              </a:pathLst>
            </a:custGeom>
            <a:blipFill>
              <a:blip r:embed="rId2">
                <a:alphaModFix amt="0"/>
              </a:blip>
              <a:stretch>
                <a:fillRect l="-78303" t="0" r="-78303" b="0"/>
              </a:stretch>
            </a:blipFill>
          </p:spPr>
        </p:sp>
        <p:sp>
          <p:nvSpPr>
            <p:cNvPr name="TextBox 10" id="10"/>
            <p:cNvSpPr txBox="true"/>
            <p:nvPr/>
          </p:nvSpPr>
          <p:spPr>
            <a:xfrm>
              <a:off x="0" y="-114300"/>
              <a:ext cx="1755648" cy="186994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V</a:t>
              </a:r>
            </a:p>
          </p:txBody>
        </p:sp>
      </p:grpSp>
      <p:grpSp>
        <p:nvGrpSpPr>
          <p:cNvPr name="Group 11" id="11"/>
          <p:cNvGrpSpPr/>
          <p:nvPr/>
        </p:nvGrpSpPr>
        <p:grpSpPr>
          <a:xfrm rot="0">
            <a:off x="2468880" y="274320"/>
            <a:ext cx="14996160" cy="1133856"/>
            <a:chOff x="0" y="0"/>
            <a:chExt cx="19994880" cy="1511808"/>
          </a:xfrm>
        </p:grpSpPr>
        <p:sp>
          <p:nvSpPr>
            <p:cNvPr name="Freeform 12" id="12"/>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2">
                <a:alphaModFix amt="0"/>
              </a:blip>
              <a:stretch>
                <a:fillRect l="0" t="-207705" r="0" b="-207705"/>
              </a:stretch>
            </a:blipFill>
          </p:spPr>
        </p:sp>
        <p:sp>
          <p:nvSpPr>
            <p:cNvPr name="TextBox 13" id="13"/>
            <p:cNvSpPr txBox="true"/>
            <p:nvPr/>
          </p:nvSpPr>
          <p:spPr>
            <a:xfrm>
              <a:off x="0" y="-85725"/>
              <a:ext cx="1999488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Value — Nilai &amp; Manfaat Data</a:t>
              </a:r>
            </a:p>
          </p:txBody>
        </p:sp>
      </p:grpSp>
      <p:grpSp>
        <p:nvGrpSpPr>
          <p:cNvPr name="Group 14" id="14"/>
          <p:cNvGrpSpPr/>
          <p:nvPr/>
        </p:nvGrpSpPr>
        <p:grpSpPr>
          <a:xfrm rot="0">
            <a:off x="914400" y="1572768"/>
            <a:ext cx="16459200" cy="640080"/>
            <a:chOff x="0" y="0"/>
            <a:chExt cx="21945600" cy="853440"/>
          </a:xfrm>
        </p:grpSpPr>
        <p:sp>
          <p:nvSpPr>
            <p:cNvPr name="Freeform 15" id="1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6" id="16"/>
            <p:cNvSpPr txBox="true"/>
            <p:nvPr/>
          </p:nvSpPr>
          <p:spPr>
            <a:xfrm>
              <a:off x="0" y="-38100"/>
              <a:ext cx="21945600" cy="891540"/>
            </a:xfrm>
            <a:prstGeom prst="rect">
              <a:avLst/>
            </a:prstGeom>
          </p:spPr>
          <p:txBody>
            <a:bodyPr anchor="ctr" rtlCol="false" tIns="0" lIns="0" bIns="0" rIns="0"/>
            <a:lstStyle/>
            <a:p>
              <a:pPr algn="l">
                <a:lnSpc>
                  <a:spcPts val="2879"/>
                </a:lnSpc>
              </a:pPr>
              <a:r>
                <a:rPr lang="en-US" sz="2400" i="true">
                  <a:solidFill>
                    <a:srgbClr val="1E3A5F"/>
                  </a:solidFill>
                  <a:latin typeface="Calibri (MS) Italics"/>
                  <a:ea typeface="Calibri (MS) Italics"/>
                  <a:cs typeface="Calibri (MS) Italics"/>
                  <a:sym typeface="Calibri (MS) Italics"/>
                </a:rPr>
                <a:t>Value adalah nilai akhir yang dapat diambil dari data setelah melalui proses analisis — ini adalah tujuan utama Big Data.</a:t>
              </a:r>
            </a:p>
          </p:txBody>
        </p:sp>
      </p:grpSp>
      <p:grpSp>
        <p:nvGrpSpPr>
          <p:cNvPr name="Group 17" id="17"/>
          <p:cNvGrpSpPr/>
          <p:nvPr/>
        </p:nvGrpSpPr>
        <p:grpSpPr>
          <a:xfrm rot="0">
            <a:off x="633727" y="2590543"/>
            <a:ext cx="5499097" cy="3030217"/>
            <a:chOff x="0" y="0"/>
            <a:chExt cx="7332129" cy="4040289"/>
          </a:xfrm>
        </p:grpSpPr>
        <p:sp>
          <p:nvSpPr>
            <p:cNvPr name="Freeform 18" id="18"/>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19" id="19"/>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20" id="20"/>
          <p:cNvGrpSpPr/>
          <p:nvPr/>
        </p:nvGrpSpPr>
        <p:grpSpPr>
          <a:xfrm rot="0">
            <a:off x="627383" y="2584199"/>
            <a:ext cx="5511803" cy="208283"/>
            <a:chOff x="0" y="0"/>
            <a:chExt cx="7349071" cy="277711"/>
          </a:xfrm>
        </p:grpSpPr>
        <p:sp>
          <p:nvSpPr>
            <p:cNvPr name="Freeform 21" id="21"/>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22" id="22"/>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23" id="23"/>
          <p:cNvGrpSpPr/>
          <p:nvPr/>
        </p:nvGrpSpPr>
        <p:grpSpPr>
          <a:xfrm rot="0">
            <a:off x="822960" y="2002536"/>
            <a:ext cx="822960" cy="822960"/>
            <a:chOff x="0" y="0"/>
            <a:chExt cx="1097280" cy="1097280"/>
          </a:xfrm>
        </p:grpSpPr>
        <p:sp>
          <p:nvSpPr>
            <p:cNvPr name="Freeform 24" id="2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25" id="25"/>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26" id="26"/>
          <p:cNvGrpSpPr/>
          <p:nvPr/>
        </p:nvGrpSpPr>
        <p:grpSpPr>
          <a:xfrm rot="0">
            <a:off x="1572768" y="2069211"/>
            <a:ext cx="4206240" cy="694944"/>
            <a:chOff x="0" y="0"/>
            <a:chExt cx="5608320" cy="926592"/>
          </a:xfrm>
        </p:grpSpPr>
        <p:sp>
          <p:nvSpPr>
            <p:cNvPr name="Freeform 27" id="27"/>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28" id="28"/>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Penerbangan Juanda</a:t>
              </a:r>
            </a:p>
          </p:txBody>
        </p:sp>
      </p:grpSp>
      <p:grpSp>
        <p:nvGrpSpPr>
          <p:cNvPr name="Group 29" id="29"/>
          <p:cNvGrpSpPr/>
          <p:nvPr/>
        </p:nvGrpSpPr>
        <p:grpSpPr>
          <a:xfrm rot="0">
            <a:off x="507359" y="2888199"/>
            <a:ext cx="5625465" cy="2961712"/>
            <a:chOff x="0" y="0"/>
            <a:chExt cx="7473917" cy="3934892"/>
          </a:xfrm>
        </p:grpSpPr>
        <p:sp>
          <p:nvSpPr>
            <p:cNvPr name="Freeform 30" id="30"/>
            <p:cNvSpPr/>
            <p:nvPr/>
          </p:nvSpPr>
          <p:spPr>
            <a:xfrm flipH="false" flipV="false" rot="0">
              <a:off x="0" y="0"/>
              <a:ext cx="7473917" cy="3934892"/>
            </a:xfrm>
            <a:custGeom>
              <a:avLst/>
              <a:gdLst/>
              <a:ahLst/>
              <a:cxnLst/>
              <a:rect r="r" b="b" t="t" l="l"/>
              <a:pathLst>
                <a:path h="3934892" w="7473917">
                  <a:moveTo>
                    <a:pt x="0" y="0"/>
                  </a:moveTo>
                  <a:lnTo>
                    <a:pt x="7473917" y="0"/>
                  </a:lnTo>
                  <a:lnTo>
                    <a:pt x="7473917" y="3934892"/>
                  </a:lnTo>
                  <a:lnTo>
                    <a:pt x="0" y="3934892"/>
                  </a:lnTo>
                  <a:close/>
                </a:path>
              </a:pathLst>
            </a:custGeom>
            <a:blipFill>
              <a:blip r:embed="rId2">
                <a:alphaModFix amt="0"/>
              </a:blip>
              <a:stretch>
                <a:fillRect l="0" t="-11258" r="9301" b="44123"/>
              </a:stretch>
            </a:blipFill>
          </p:spPr>
        </p:sp>
        <p:sp>
          <p:nvSpPr>
            <p:cNvPr name="TextBox 31" id="31"/>
            <p:cNvSpPr txBox="true"/>
            <p:nvPr/>
          </p:nvSpPr>
          <p:spPr>
            <a:xfrm>
              <a:off x="0" y="-38100"/>
              <a:ext cx="7473917" cy="3972992"/>
            </a:xfrm>
            <a:prstGeom prst="rect">
              <a:avLst/>
            </a:prstGeom>
          </p:spPr>
          <p:txBody>
            <a:bodyPr anchor="ctr" rtlCol="false" tIns="0" lIns="0" bIns="0" rIns="0"/>
            <a:lstStyle/>
            <a:p>
              <a:pPr algn="just" marL="410209" indent="-205105" lvl="1">
                <a:lnSpc>
                  <a:spcPts val="2279"/>
                </a:lnSpc>
                <a:buFont typeface="Arial"/>
                <a:buChar char="•"/>
              </a:pPr>
              <a:r>
                <a:rPr lang="en-US" sz="1899">
                  <a:solidFill>
                    <a:srgbClr val="1E3A5F"/>
                  </a:solidFill>
                  <a:latin typeface="Calibri (MS)"/>
                  <a:ea typeface="Calibri (MS)"/>
                  <a:cs typeface="Calibri (MS)"/>
                  <a:sym typeface="Calibri (MS)"/>
                </a:rPr>
                <a:t>Analisis menunjukkan curah hujan tertingg</a:t>
              </a:r>
              <a:r>
                <a:rPr lang="en-US" sz="1899">
                  <a:solidFill>
                    <a:srgbClr val="1E3A5F"/>
                  </a:solidFill>
                  <a:latin typeface="Calibri (MS)"/>
                  <a:ea typeface="Calibri (MS)"/>
                  <a:cs typeface="Calibri (MS)"/>
                  <a:sym typeface="Calibri (MS)"/>
                </a:rPr>
                <a:t>i terjadi pada bulan November–Maret (musim hujan), dengan intensitas hujan kategori Lebat hingga Sangat Lebat yang berpotensi mengganggu operasional penerbangan. Kecepatan angin maksimum (FF_X) juga meningkat signifikan di periode ini. Data ini menjadi dasar penetapan jadwal penerbangan dan prosedur keselamatan di Bandara Juanda.</a:t>
              </a:r>
            </a:p>
            <a:p>
              <a:pPr algn="just">
                <a:lnSpc>
                  <a:spcPts val="2280"/>
                </a:lnSpc>
              </a:pPr>
            </a:p>
          </p:txBody>
        </p:sp>
      </p:grpSp>
      <p:grpSp>
        <p:nvGrpSpPr>
          <p:cNvPr name="Group 32" id="32"/>
          <p:cNvGrpSpPr/>
          <p:nvPr/>
        </p:nvGrpSpPr>
        <p:grpSpPr>
          <a:xfrm rot="0">
            <a:off x="6394447" y="2590543"/>
            <a:ext cx="5499097" cy="3030217"/>
            <a:chOff x="0" y="0"/>
            <a:chExt cx="7332129" cy="4040289"/>
          </a:xfrm>
        </p:grpSpPr>
        <p:sp>
          <p:nvSpPr>
            <p:cNvPr name="Freeform 33" id="33"/>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34" id="34"/>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35" id="35"/>
          <p:cNvGrpSpPr/>
          <p:nvPr/>
        </p:nvGrpSpPr>
        <p:grpSpPr>
          <a:xfrm rot="0">
            <a:off x="6388103" y="2584199"/>
            <a:ext cx="5511803" cy="208283"/>
            <a:chOff x="0" y="0"/>
            <a:chExt cx="7349071" cy="277711"/>
          </a:xfrm>
        </p:grpSpPr>
        <p:sp>
          <p:nvSpPr>
            <p:cNvPr name="Freeform 36" id="36"/>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37" id="37"/>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38" id="38"/>
          <p:cNvGrpSpPr/>
          <p:nvPr/>
        </p:nvGrpSpPr>
        <p:grpSpPr>
          <a:xfrm rot="0">
            <a:off x="6394447" y="1911096"/>
            <a:ext cx="822960" cy="822960"/>
            <a:chOff x="0" y="0"/>
            <a:chExt cx="1097280" cy="1097280"/>
          </a:xfrm>
        </p:grpSpPr>
        <p:sp>
          <p:nvSpPr>
            <p:cNvPr name="Freeform 39" id="3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40" id="40"/>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41" id="41"/>
          <p:cNvGrpSpPr/>
          <p:nvPr/>
        </p:nvGrpSpPr>
        <p:grpSpPr>
          <a:xfrm rot="0">
            <a:off x="7059168" y="2066544"/>
            <a:ext cx="4206240" cy="694944"/>
            <a:chOff x="0" y="0"/>
            <a:chExt cx="5608320" cy="926592"/>
          </a:xfrm>
        </p:grpSpPr>
        <p:sp>
          <p:nvSpPr>
            <p:cNvPr name="Freeform 42" id="42"/>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43" id="43"/>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Mitigasi Banjir</a:t>
              </a:r>
            </a:p>
          </p:txBody>
        </p:sp>
      </p:grpSp>
      <p:grpSp>
        <p:nvGrpSpPr>
          <p:cNvPr name="Group 44" id="44"/>
          <p:cNvGrpSpPr/>
          <p:nvPr/>
        </p:nvGrpSpPr>
        <p:grpSpPr>
          <a:xfrm rot="0">
            <a:off x="6235446" y="2876964"/>
            <a:ext cx="5468874" cy="2951169"/>
            <a:chOff x="0" y="0"/>
            <a:chExt cx="7291832" cy="3934892"/>
          </a:xfrm>
        </p:grpSpPr>
        <p:sp>
          <p:nvSpPr>
            <p:cNvPr name="Freeform 45" id="45"/>
            <p:cNvSpPr/>
            <p:nvPr/>
          </p:nvSpPr>
          <p:spPr>
            <a:xfrm flipH="false" flipV="false" rot="0">
              <a:off x="0" y="0"/>
              <a:ext cx="7291832" cy="3934892"/>
            </a:xfrm>
            <a:custGeom>
              <a:avLst/>
              <a:gdLst/>
              <a:ahLst/>
              <a:cxnLst/>
              <a:rect r="r" b="b" t="t" l="l"/>
              <a:pathLst>
                <a:path h="3934892" w="7291832">
                  <a:moveTo>
                    <a:pt x="0" y="0"/>
                  </a:moveTo>
                  <a:lnTo>
                    <a:pt x="7291832" y="0"/>
                  </a:lnTo>
                  <a:lnTo>
                    <a:pt x="7291832" y="3934892"/>
                  </a:lnTo>
                  <a:lnTo>
                    <a:pt x="0" y="3934892"/>
                  </a:lnTo>
                  <a:close/>
                </a:path>
              </a:pathLst>
            </a:custGeom>
            <a:blipFill>
              <a:blip r:embed="rId2">
                <a:alphaModFix amt="0"/>
              </a:blip>
              <a:stretch>
                <a:fillRect l="0" t="-11258" r="7036" b="44123"/>
              </a:stretch>
            </a:blipFill>
          </p:spPr>
        </p:sp>
        <p:sp>
          <p:nvSpPr>
            <p:cNvPr name="TextBox 46" id="46"/>
            <p:cNvSpPr txBox="true"/>
            <p:nvPr/>
          </p:nvSpPr>
          <p:spPr>
            <a:xfrm>
              <a:off x="0" y="-38100"/>
              <a:ext cx="7291832" cy="3972992"/>
            </a:xfrm>
            <a:prstGeom prst="rect">
              <a:avLst/>
            </a:prstGeom>
          </p:spPr>
          <p:txBody>
            <a:bodyPr anchor="ctr" rtlCol="false" tIns="0" lIns="0" bIns="0" rIns="0"/>
            <a:lstStyle/>
            <a:p>
              <a:pPr algn="just" marL="410209" indent="-205105" lvl="1">
                <a:lnSpc>
                  <a:spcPts val="2279"/>
                </a:lnSpc>
                <a:buFont typeface="Arial"/>
                <a:buChar char="•"/>
              </a:pPr>
              <a:r>
                <a:rPr lang="en-US" sz="1899">
                  <a:solidFill>
                    <a:srgbClr val="1E3A5F"/>
                  </a:solidFill>
                  <a:latin typeface="Calibri (MS)"/>
                  <a:ea typeface="Calibri (MS)"/>
                  <a:cs typeface="Calibri (MS)"/>
                  <a:sym typeface="Calibri (MS)"/>
                </a:rPr>
                <a:t>B</a:t>
              </a:r>
              <a:r>
                <a:rPr lang="en-US" sz="1899">
                  <a:solidFill>
                    <a:srgbClr val="1E3A5F"/>
                  </a:solidFill>
                  <a:latin typeface="Calibri (MS)"/>
                  <a:ea typeface="Calibri (MS)"/>
                  <a:cs typeface="Calibri (MS)"/>
                  <a:sym typeface="Calibri (MS)"/>
                </a:rPr>
                <a:t>erdasarkan analisis anomali (z-score &gt; 2), ditemukan sejumlah hari dengan curah hujan ekstrem yang berpotensi memicu banjir di wilayah Surabaya. Pola hujan lebat terkonsentrasi pada bulan November–April (Musim Hujan), dengan curah hujan harian tertinggi mencapai kategori Ekstrem. Data ini dapat dimanfaatkan sebagai sistem peringatan dini banjir berbasis data iklim aktual BMKG.</a:t>
              </a:r>
            </a:p>
            <a:p>
              <a:pPr algn="just">
                <a:lnSpc>
                  <a:spcPts val="2280"/>
                </a:lnSpc>
              </a:pPr>
            </a:p>
          </p:txBody>
        </p:sp>
      </p:grpSp>
      <p:grpSp>
        <p:nvGrpSpPr>
          <p:cNvPr name="Group 47" id="47"/>
          <p:cNvGrpSpPr/>
          <p:nvPr/>
        </p:nvGrpSpPr>
        <p:grpSpPr>
          <a:xfrm rot="0">
            <a:off x="12155167" y="2590543"/>
            <a:ext cx="5499097" cy="3030217"/>
            <a:chOff x="0" y="0"/>
            <a:chExt cx="7332129" cy="4040289"/>
          </a:xfrm>
        </p:grpSpPr>
        <p:sp>
          <p:nvSpPr>
            <p:cNvPr name="Freeform 48" id="48"/>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49" id="49"/>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50" id="50"/>
          <p:cNvGrpSpPr/>
          <p:nvPr/>
        </p:nvGrpSpPr>
        <p:grpSpPr>
          <a:xfrm rot="0">
            <a:off x="12148823" y="2584199"/>
            <a:ext cx="5511803" cy="208283"/>
            <a:chOff x="0" y="0"/>
            <a:chExt cx="7349071" cy="277711"/>
          </a:xfrm>
        </p:grpSpPr>
        <p:sp>
          <p:nvSpPr>
            <p:cNvPr name="Freeform 51" id="51"/>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52" id="52"/>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53" id="53"/>
          <p:cNvGrpSpPr/>
          <p:nvPr/>
        </p:nvGrpSpPr>
        <p:grpSpPr>
          <a:xfrm rot="0">
            <a:off x="12344400" y="1969522"/>
            <a:ext cx="822960" cy="822960"/>
            <a:chOff x="0" y="0"/>
            <a:chExt cx="1097280" cy="1097280"/>
          </a:xfrm>
        </p:grpSpPr>
        <p:sp>
          <p:nvSpPr>
            <p:cNvPr name="Freeform 54" id="5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55" id="55"/>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56" id="56"/>
          <p:cNvGrpSpPr/>
          <p:nvPr/>
        </p:nvGrpSpPr>
        <p:grpSpPr>
          <a:xfrm rot="0">
            <a:off x="13176256" y="2069211"/>
            <a:ext cx="4206240" cy="694944"/>
            <a:chOff x="0" y="0"/>
            <a:chExt cx="5608320" cy="926592"/>
          </a:xfrm>
        </p:grpSpPr>
        <p:sp>
          <p:nvSpPr>
            <p:cNvPr name="Freeform 57" id="57"/>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58" id="58"/>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Pertanian Jawa Timur</a:t>
              </a:r>
            </a:p>
          </p:txBody>
        </p:sp>
      </p:grpSp>
      <p:grpSp>
        <p:nvGrpSpPr>
          <p:cNvPr name="Group 59" id="59"/>
          <p:cNvGrpSpPr/>
          <p:nvPr/>
        </p:nvGrpSpPr>
        <p:grpSpPr>
          <a:xfrm rot="0">
            <a:off x="12148823" y="2799522"/>
            <a:ext cx="5505440" cy="2951169"/>
            <a:chOff x="0" y="0"/>
            <a:chExt cx="7340587" cy="3934892"/>
          </a:xfrm>
        </p:grpSpPr>
        <p:sp>
          <p:nvSpPr>
            <p:cNvPr name="Freeform 60" id="60"/>
            <p:cNvSpPr/>
            <p:nvPr/>
          </p:nvSpPr>
          <p:spPr>
            <a:xfrm flipH="false" flipV="false" rot="0">
              <a:off x="0" y="0"/>
              <a:ext cx="7340588" cy="3934892"/>
            </a:xfrm>
            <a:custGeom>
              <a:avLst/>
              <a:gdLst/>
              <a:ahLst/>
              <a:cxnLst/>
              <a:rect r="r" b="b" t="t" l="l"/>
              <a:pathLst>
                <a:path h="3934892" w="7340588">
                  <a:moveTo>
                    <a:pt x="0" y="0"/>
                  </a:moveTo>
                  <a:lnTo>
                    <a:pt x="7340588" y="0"/>
                  </a:lnTo>
                  <a:lnTo>
                    <a:pt x="7340588" y="3934892"/>
                  </a:lnTo>
                  <a:lnTo>
                    <a:pt x="0" y="3934892"/>
                  </a:lnTo>
                  <a:close/>
                </a:path>
              </a:pathLst>
            </a:custGeom>
            <a:blipFill>
              <a:blip r:embed="rId2">
                <a:alphaModFix amt="0"/>
              </a:blip>
              <a:stretch>
                <a:fillRect l="0" t="-11258" r="7653" b="44123"/>
              </a:stretch>
            </a:blipFill>
          </p:spPr>
        </p:sp>
        <p:sp>
          <p:nvSpPr>
            <p:cNvPr name="TextBox 61" id="61"/>
            <p:cNvSpPr txBox="true"/>
            <p:nvPr/>
          </p:nvSpPr>
          <p:spPr>
            <a:xfrm>
              <a:off x="0" y="-38100"/>
              <a:ext cx="7340587" cy="3972992"/>
            </a:xfrm>
            <a:prstGeom prst="rect">
              <a:avLst/>
            </a:prstGeom>
          </p:spPr>
          <p:txBody>
            <a:bodyPr anchor="ctr" rtlCol="false" tIns="0" lIns="0" bIns="0" rIns="0"/>
            <a:lstStyle/>
            <a:p>
              <a:pPr algn="just" marL="410209" indent="-205105" lvl="1">
                <a:lnSpc>
                  <a:spcPts val="2279"/>
                </a:lnSpc>
                <a:buFont typeface="Arial"/>
                <a:buChar char="•"/>
              </a:pPr>
              <a:r>
                <a:rPr lang="en-US" sz="1899">
                  <a:solidFill>
                    <a:srgbClr val="1E3A5F"/>
                  </a:solidFill>
                  <a:latin typeface="Calibri (MS)"/>
                  <a:ea typeface="Calibri (MS)"/>
                  <a:cs typeface="Calibri (MS)"/>
                  <a:sym typeface="Calibri (MS)"/>
                </a:rPr>
                <a:t>Musim kemarau (Mei–Oktober) dengan curah huja</a:t>
              </a:r>
              <a:r>
                <a:rPr lang="en-US" sz="1899">
                  <a:solidFill>
                    <a:srgbClr val="1E3A5F"/>
                  </a:solidFill>
                  <a:latin typeface="Calibri (MS)"/>
                  <a:ea typeface="Calibri (MS)"/>
                  <a:cs typeface="Calibri (MS)"/>
                  <a:sym typeface="Calibri (MS)"/>
                </a:rPr>
                <a:t>n rendah dan penyinaran matahari tinggi adalah periode optimal untuk menanam padi gogo atau palawija. Sebaliknya, musim hujan (November–April) cocok untuk padi sawah karena curah hujan mencukupi kebutuhan irigasi. Data suhu rata-rata 27–29°C sepanjang tahun juga mendukung pertumbuhan tanaman tropis secara konsisten.</a:t>
              </a:r>
            </a:p>
            <a:p>
              <a:pPr algn="just">
                <a:lnSpc>
                  <a:spcPts val="2280"/>
                </a:lnSpc>
              </a:pPr>
            </a:p>
          </p:txBody>
        </p:sp>
      </p:grpSp>
      <p:grpSp>
        <p:nvGrpSpPr>
          <p:cNvPr name="Group 62" id="62"/>
          <p:cNvGrpSpPr/>
          <p:nvPr/>
        </p:nvGrpSpPr>
        <p:grpSpPr>
          <a:xfrm rot="0">
            <a:off x="633727" y="6616198"/>
            <a:ext cx="5499097" cy="3030217"/>
            <a:chOff x="0" y="0"/>
            <a:chExt cx="7332129" cy="4040289"/>
          </a:xfrm>
        </p:grpSpPr>
        <p:sp>
          <p:nvSpPr>
            <p:cNvPr name="Freeform 63" id="63"/>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64" id="64"/>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65" id="65"/>
          <p:cNvGrpSpPr/>
          <p:nvPr/>
        </p:nvGrpSpPr>
        <p:grpSpPr>
          <a:xfrm rot="0">
            <a:off x="787394" y="6411887"/>
            <a:ext cx="5511803" cy="208283"/>
            <a:chOff x="0" y="0"/>
            <a:chExt cx="7349071" cy="277711"/>
          </a:xfrm>
        </p:grpSpPr>
        <p:sp>
          <p:nvSpPr>
            <p:cNvPr name="Freeform 66" id="66"/>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67" id="67"/>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68" id="68"/>
          <p:cNvGrpSpPr/>
          <p:nvPr/>
        </p:nvGrpSpPr>
        <p:grpSpPr>
          <a:xfrm rot="0">
            <a:off x="914400" y="5693068"/>
            <a:ext cx="822960" cy="822960"/>
            <a:chOff x="0" y="0"/>
            <a:chExt cx="1097280" cy="1097280"/>
          </a:xfrm>
        </p:grpSpPr>
        <p:sp>
          <p:nvSpPr>
            <p:cNvPr name="Freeform 69" id="6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70" id="70"/>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71" id="71"/>
          <p:cNvGrpSpPr/>
          <p:nvPr/>
        </p:nvGrpSpPr>
        <p:grpSpPr>
          <a:xfrm rot="0">
            <a:off x="1581531" y="5735060"/>
            <a:ext cx="4206240" cy="694944"/>
            <a:chOff x="0" y="0"/>
            <a:chExt cx="5608320" cy="926592"/>
          </a:xfrm>
        </p:grpSpPr>
        <p:sp>
          <p:nvSpPr>
            <p:cNvPr name="Freeform 72" id="72"/>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73" id="73"/>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Analisis Tren Iklim</a:t>
              </a:r>
            </a:p>
          </p:txBody>
        </p:sp>
      </p:grpSp>
      <p:grpSp>
        <p:nvGrpSpPr>
          <p:cNvPr name="Group 74" id="74"/>
          <p:cNvGrpSpPr/>
          <p:nvPr/>
        </p:nvGrpSpPr>
        <p:grpSpPr>
          <a:xfrm rot="0">
            <a:off x="598141" y="6665976"/>
            <a:ext cx="5570287" cy="2665419"/>
            <a:chOff x="0" y="0"/>
            <a:chExt cx="7427049" cy="3553892"/>
          </a:xfrm>
        </p:grpSpPr>
        <p:sp>
          <p:nvSpPr>
            <p:cNvPr name="Freeform 75" id="75"/>
            <p:cNvSpPr/>
            <p:nvPr/>
          </p:nvSpPr>
          <p:spPr>
            <a:xfrm flipH="false" flipV="false" rot="0">
              <a:off x="0" y="0"/>
              <a:ext cx="7427049" cy="3553892"/>
            </a:xfrm>
            <a:custGeom>
              <a:avLst/>
              <a:gdLst/>
              <a:ahLst/>
              <a:cxnLst/>
              <a:rect r="r" b="b" t="t" l="l"/>
              <a:pathLst>
                <a:path h="3553892" w="7427049">
                  <a:moveTo>
                    <a:pt x="0" y="0"/>
                  </a:moveTo>
                  <a:lnTo>
                    <a:pt x="7427049" y="0"/>
                  </a:lnTo>
                  <a:lnTo>
                    <a:pt x="7427049" y="3553892"/>
                  </a:lnTo>
                  <a:lnTo>
                    <a:pt x="0" y="3553892"/>
                  </a:lnTo>
                  <a:close/>
                </a:path>
              </a:pathLst>
            </a:custGeom>
            <a:blipFill>
              <a:blip r:embed="rId2">
                <a:alphaModFix amt="0"/>
              </a:blip>
              <a:stretch>
                <a:fillRect l="0" t="-12465" r="8728" b="38133"/>
              </a:stretch>
            </a:blipFill>
          </p:spPr>
        </p:sp>
        <p:sp>
          <p:nvSpPr>
            <p:cNvPr name="TextBox 76" id="76"/>
            <p:cNvSpPr txBox="true"/>
            <p:nvPr/>
          </p:nvSpPr>
          <p:spPr>
            <a:xfrm>
              <a:off x="0" y="-38100"/>
              <a:ext cx="7427049" cy="3591992"/>
            </a:xfrm>
            <a:prstGeom prst="rect">
              <a:avLst/>
            </a:prstGeom>
          </p:spPr>
          <p:txBody>
            <a:bodyPr anchor="ctr" rtlCol="false" tIns="0" lIns="0" bIns="0" rIns="0"/>
            <a:lstStyle/>
            <a:p>
              <a:pPr algn="just" marL="410209" indent="-205105" lvl="1">
                <a:lnSpc>
                  <a:spcPts val="2279"/>
                </a:lnSpc>
                <a:buFont typeface="Arial"/>
                <a:buChar char="•"/>
              </a:pPr>
              <a:r>
                <a:rPr lang="en-US" sz="1899">
                  <a:solidFill>
                    <a:srgbClr val="1E3A5F"/>
                  </a:solidFill>
                  <a:latin typeface="Calibri (MS)"/>
                  <a:ea typeface="Calibri (MS)"/>
                  <a:cs typeface="Calibri (MS)"/>
                  <a:sym typeface="Calibri (MS)"/>
                </a:rPr>
                <a:t>Analisis tren lin</a:t>
              </a:r>
              <a:r>
                <a:rPr lang="en-US" sz="1899">
                  <a:solidFill>
                    <a:srgbClr val="1E3A5F"/>
                  </a:solidFill>
                  <a:latin typeface="Calibri (MS)"/>
                  <a:ea typeface="Calibri (MS)"/>
                  <a:cs typeface="Calibri (MS)"/>
                  <a:sym typeface="Calibri (MS)"/>
                </a:rPr>
                <a:t>ear menunjukkan suhu rata-rata (TAVG) mengalami tren NAIK selama periode Maret 2025–Maret 2026, sementara curah hujan (RR) menunjukkan fluktuasi musiman yang jelas. Kelembapan relatif konsisten di kisaran 75–85%. Tren ini menjadi sinyal penting bagi kebijakan lingkungan dan adaptasi perubahan iklim di Surabaya.</a:t>
              </a:r>
            </a:p>
            <a:p>
              <a:pPr algn="just">
                <a:lnSpc>
                  <a:spcPts val="2280"/>
                </a:lnSpc>
              </a:pPr>
            </a:p>
          </p:txBody>
        </p:sp>
      </p:grpSp>
      <p:grpSp>
        <p:nvGrpSpPr>
          <p:cNvPr name="Group 77" id="77"/>
          <p:cNvGrpSpPr/>
          <p:nvPr/>
        </p:nvGrpSpPr>
        <p:grpSpPr>
          <a:xfrm rot="0">
            <a:off x="6394447" y="6625723"/>
            <a:ext cx="5499097" cy="3030217"/>
            <a:chOff x="0" y="0"/>
            <a:chExt cx="7332129" cy="4040289"/>
          </a:xfrm>
        </p:grpSpPr>
        <p:sp>
          <p:nvSpPr>
            <p:cNvPr name="Freeform 78" id="78"/>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79" id="79"/>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80" id="80"/>
          <p:cNvGrpSpPr/>
          <p:nvPr/>
        </p:nvGrpSpPr>
        <p:grpSpPr>
          <a:xfrm rot="0">
            <a:off x="6471280" y="6430004"/>
            <a:ext cx="5511803" cy="208283"/>
            <a:chOff x="0" y="0"/>
            <a:chExt cx="7349071" cy="277711"/>
          </a:xfrm>
        </p:grpSpPr>
        <p:sp>
          <p:nvSpPr>
            <p:cNvPr name="Freeform 81" id="81"/>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82" id="82"/>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83" id="83"/>
          <p:cNvGrpSpPr/>
          <p:nvPr/>
        </p:nvGrpSpPr>
        <p:grpSpPr>
          <a:xfrm rot="0">
            <a:off x="6597206" y="5754110"/>
            <a:ext cx="822960" cy="822960"/>
            <a:chOff x="0" y="0"/>
            <a:chExt cx="1097280" cy="1097280"/>
          </a:xfrm>
        </p:grpSpPr>
        <p:sp>
          <p:nvSpPr>
            <p:cNvPr name="Freeform 84" id="8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85" id="85"/>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86" id="86"/>
          <p:cNvGrpSpPr/>
          <p:nvPr/>
        </p:nvGrpSpPr>
        <p:grpSpPr>
          <a:xfrm rot="0">
            <a:off x="7420166" y="5821084"/>
            <a:ext cx="4206240" cy="694944"/>
            <a:chOff x="0" y="0"/>
            <a:chExt cx="5608320" cy="926592"/>
          </a:xfrm>
        </p:grpSpPr>
        <p:sp>
          <p:nvSpPr>
            <p:cNvPr name="Freeform 87" id="87"/>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88" id="88"/>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Penelitian Iklim</a:t>
              </a:r>
            </a:p>
          </p:txBody>
        </p:sp>
      </p:grpSp>
      <p:grpSp>
        <p:nvGrpSpPr>
          <p:cNvPr name="Group 89" id="89"/>
          <p:cNvGrpSpPr/>
          <p:nvPr/>
        </p:nvGrpSpPr>
        <p:grpSpPr>
          <a:xfrm rot="0">
            <a:off x="6388084" y="6665976"/>
            <a:ext cx="5505460" cy="2665419"/>
            <a:chOff x="0" y="0"/>
            <a:chExt cx="7340613" cy="3553892"/>
          </a:xfrm>
        </p:grpSpPr>
        <p:sp>
          <p:nvSpPr>
            <p:cNvPr name="Freeform 90" id="90"/>
            <p:cNvSpPr/>
            <p:nvPr/>
          </p:nvSpPr>
          <p:spPr>
            <a:xfrm flipH="false" flipV="false" rot="0">
              <a:off x="0" y="0"/>
              <a:ext cx="7340613" cy="3553892"/>
            </a:xfrm>
            <a:custGeom>
              <a:avLst/>
              <a:gdLst/>
              <a:ahLst/>
              <a:cxnLst/>
              <a:rect r="r" b="b" t="t" l="l"/>
              <a:pathLst>
                <a:path h="3553892" w="7340613">
                  <a:moveTo>
                    <a:pt x="0" y="0"/>
                  </a:moveTo>
                  <a:lnTo>
                    <a:pt x="7340613" y="0"/>
                  </a:lnTo>
                  <a:lnTo>
                    <a:pt x="7340613" y="3553892"/>
                  </a:lnTo>
                  <a:lnTo>
                    <a:pt x="0" y="3553892"/>
                  </a:lnTo>
                  <a:close/>
                </a:path>
              </a:pathLst>
            </a:custGeom>
            <a:blipFill>
              <a:blip r:embed="rId2">
                <a:alphaModFix amt="0"/>
              </a:blip>
              <a:stretch>
                <a:fillRect l="0" t="-12465" r="7654" b="38133"/>
              </a:stretch>
            </a:blipFill>
          </p:spPr>
        </p:sp>
        <p:sp>
          <p:nvSpPr>
            <p:cNvPr name="TextBox 91" id="91"/>
            <p:cNvSpPr txBox="true"/>
            <p:nvPr/>
          </p:nvSpPr>
          <p:spPr>
            <a:xfrm>
              <a:off x="0" y="-38100"/>
              <a:ext cx="7340613" cy="3591992"/>
            </a:xfrm>
            <a:prstGeom prst="rect">
              <a:avLst/>
            </a:prstGeom>
          </p:spPr>
          <p:txBody>
            <a:bodyPr anchor="ctr" rtlCol="false" tIns="0" lIns="0" bIns="0" rIns="0"/>
            <a:lstStyle/>
            <a:p>
              <a:pPr algn="just" marL="410209" indent="-205105" lvl="1">
                <a:lnSpc>
                  <a:spcPts val="2279"/>
                </a:lnSpc>
                <a:buFont typeface="Arial"/>
                <a:buChar char="•"/>
              </a:pPr>
              <a:r>
                <a:rPr lang="en-US" sz="1899">
                  <a:solidFill>
                    <a:srgbClr val="1E3A5F"/>
                  </a:solidFill>
                  <a:latin typeface="Calibri (MS)"/>
                  <a:ea typeface="Calibri (MS)"/>
                  <a:cs typeface="Calibri (MS)"/>
                  <a:sym typeface="Calibri (MS)"/>
                </a:rPr>
                <a:t>Dataset 13 bulan (365+ record) dari Stasiun Juanda mencakup 11 parameter iklim harian yang telah melalui proses cleaning dan imputasi. Dataset ini memiliki korelasi kuat antara suhu dan kelembapan (negatif) serta antara curah hujan dan kelembapan (positif), menjadikannya baseline valid untuk penelitian klimatologi dan meteorologi akademik di kawasan Surabaya.</a:t>
              </a:r>
            </a:p>
            <a:p>
              <a:pPr algn="l">
                <a:lnSpc>
                  <a:spcPts val="2280"/>
                </a:lnSpc>
              </a:pPr>
            </a:p>
          </p:txBody>
        </p:sp>
      </p:grpSp>
      <p:grpSp>
        <p:nvGrpSpPr>
          <p:cNvPr name="Group 92" id="92"/>
          <p:cNvGrpSpPr/>
          <p:nvPr/>
        </p:nvGrpSpPr>
        <p:grpSpPr>
          <a:xfrm rot="0">
            <a:off x="12122144" y="6665976"/>
            <a:ext cx="5499097" cy="3030217"/>
            <a:chOff x="0" y="0"/>
            <a:chExt cx="7332129" cy="4040289"/>
          </a:xfrm>
        </p:grpSpPr>
        <p:sp>
          <p:nvSpPr>
            <p:cNvPr name="Freeform 93" id="93"/>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94" id="94"/>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95" id="95"/>
          <p:cNvGrpSpPr/>
          <p:nvPr/>
        </p:nvGrpSpPr>
        <p:grpSpPr>
          <a:xfrm rot="0">
            <a:off x="12109437" y="6430004"/>
            <a:ext cx="5511803" cy="208283"/>
            <a:chOff x="0" y="0"/>
            <a:chExt cx="7349071" cy="277711"/>
          </a:xfrm>
        </p:grpSpPr>
        <p:sp>
          <p:nvSpPr>
            <p:cNvPr name="Freeform 96" id="96"/>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97" id="97"/>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98" id="98"/>
          <p:cNvGrpSpPr/>
          <p:nvPr/>
        </p:nvGrpSpPr>
        <p:grpSpPr>
          <a:xfrm rot="0">
            <a:off x="12325983" y="5802763"/>
            <a:ext cx="822960" cy="822960"/>
            <a:chOff x="0" y="0"/>
            <a:chExt cx="1097280" cy="1097280"/>
          </a:xfrm>
        </p:grpSpPr>
        <p:sp>
          <p:nvSpPr>
            <p:cNvPr name="Freeform 99" id="9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100" id="100"/>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101" id="101"/>
          <p:cNvGrpSpPr/>
          <p:nvPr/>
        </p:nvGrpSpPr>
        <p:grpSpPr>
          <a:xfrm rot="0">
            <a:off x="13107033" y="5821084"/>
            <a:ext cx="4206240" cy="694944"/>
            <a:chOff x="0" y="0"/>
            <a:chExt cx="5608320" cy="926592"/>
          </a:xfrm>
        </p:grpSpPr>
        <p:sp>
          <p:nvSpPr>
            <p:cNvPr name="Freeform 102" id="102"/>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103" id="103"/>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Tata Kota Surabaya</a:t>
              </a:r>
            </a:p>
          </p:txBody>
        </p:sp>
      </p:grpSp>
      <p:grpSp>
        <p:nvGrpSpPr>
          <p:cNvPr name="Group 104" id="104"/>
          <p:cNvGrpSpPr/>
          <p:nvPr/>
        </p:nvGrpSpPr>
        <p:grpSpPr>
          <a:xfrm rot="0">
            <a:off x="11979650" y="6665976"/>
            <a:ext cx="5641591" cy="2379669"/>
            <a:chOff x="0" y="0"/>
            <a:chExt cx="7522121" cy="3172892"/>
          </a:xfrm>
        </p:grpSpPr>
        <p:sp>
          <p:nvSpPr>
            <p:cNvPr name="Freeform 105" id="105"/>
            <p:cNvSpPr/>
            <p:nvPr/>
          </p:nvSpPr>
          <p:spPr>
            <a:xfrm flipH="false" flipV="false" rot="0">
              <a:off x="0" y="0"/>
              <a:ext cx="7522121" cy="3172892"/>
            </a:xfrm>
            <a:custGeom>
              <a:avLst/>
              <a:gdLst/>
              <a:ahLst/>
              <a:cxnLst/>
              <a:rect r="r" b="b" t="t" l="l"/>
              <a:pathLst>
                <a:path h="3172892" w="7522121">
                  <a:moveTo>
                    <a:pt x="0" y="0"/>
                  </a:moveTo>
                  <a:lnTo>
                    <a:pt x="7522121" y="0"/>
                  </a:lnTo>
                  <a:lnTo>
                    <a:pt x="7522121" y="3172892"/>
                  </a:lnTo>
                  <a:lnTo>
                    <a:pt x="0" y="3172892"/>
                  </a:lnTo>
                  <a:close/>
                </a:path>
              </a:pathLst>
            </a:custGeom>
            <a:blipFill>
              <a:blip r:embed="rId2">
                <a:alphaModFix amt="0"/>
              </a:blip>
              <a:stretch>
                <a:fillRect l="0" t="-13962" r="9882" b="30704"/>
              </a:stretch>
            </a:blipFill>
          </p:spPr>
        </p:sp>
        <p:sp>
          <p:nvSpPr>
            <p:cNvPr name="TextBox 106" id="106"/>
            <p:cNvSpPr txBox="true"/>
            <p:nvPr/>
          </p:nvSpPr>
          <p:spPr>
            <a:xfrm>
              <a:off x="0" y="-38100"/>
              <a:ext cx="7522121" cy="3210992"/>
            </a:xfrm>
            <a:prstGeom prst="rect">
              <a:avLst/>
            </a:prstGeom>
          </p:spPr>
          <p:txBody>
            <a:bodyPr anchor="ctr" rtlCol="false" tIns="0" lIns="0" bIns="0" rIns="0"/>
            <a:lstStyle/>
            <a:p>
              <a:pPr algn="just" marL="410209" indent="-205105" lvl="1">
                <a:lnSpc>
                  <a:spcPts val="2279"/>
                </a:lnSpc>
                <a:buFont typeface="Arial"/>
                <a:buChar char="•"/>
              </a:pPr>
              <a:r>
                <a:rPr lang="en-US" sz="1899">
                  <a:solidFill>
                    <a:srgbClr val="1E3A5F"/>
                  </a:solidFill>
                  <a:latin typeface="Calibri (MS)"/>
                  <a:ea typeface="Calibri (MS)"/>
                  <a:cs typeface="Calibri (MS)"/>
                  <a:sym typeface="Calibri (MS)"/>
                </a:rPr>
                <a:t>Kons</a:t>
              </a:r>
              <a:r>
                <a:rPr lang="en-US" sz="1899">
                  <a:solidFill>
                    <a:srgbClr val="1E3A5F"/>
                  </a:solidFill>
                  <a:latin typeface="Calibri (MS)"/>
                  <a:ea typeface="Calibri (MS)"/>
                  <a:cs typeface="Calibri (MS)"/>
                  <a:sym typeface="Calibri (MS)"/>
                </a:rPr>
                <a:t>entrasi hujan lebat pada bulan November–April mengindikasikan beban drainase tinggi di wilayah Surabaya. Data curah hujan harian ekstrem dari BMKG dapat digunakan untuk merancang kapasitas drainase dan lokasi ruang hijau sebagai area resapan air, guna meminimalkan risiko banjir perkotaan berbasis data iklim aktual.</a:t>
              </a:r>
            </a:p>
            <a:p>
              <a:pPr algn="l">
                <a:lnSpc>
                  <a:spcPts val="2280"/>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9B59B6"/>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9B59B6"/>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9B59B6"/>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9B59B6"/>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SUMBER DATA</a:t>
              </a:r>
            </a:p>
          </p:txBody>
        </p:sp>
      </p:grpSp>
      <p:grpSp>
        <p:nvGrpSpPr>
          <p:cNvPr name="Group 11" id="11"/>
          <p:cNvGrpSpPr/>
          <p:nvPr/>
        </p:nvGrpSpPr>
        <p:grpSpPr>
          <a:xfrm rot="0">
            <a:off x="1028700" y="631943"/>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Visualisasi</a:t>
              </a:r>
            </a:p>
          </p:txBody>
        </p:sp>
      </p:grpSp>
      <p:grpSp>
        <p:nvGrpSpPr>
          <p:cNvPr name="Group 14" id="14"/>
          <p:cNvGrpSpPr/>
          <p:nvPr/>
        </p:nvGrpSpPr>
        <p:grpSpPr>
          <a:xfrm rot="0">
            <a:off x="901703" y="1552246"/>
            <a:ext cx="16171514" cy="8432192"/>
            <a:chOff x="0" y="0"/>
            <a:chExt cx="21562019" cy="11242922"/>
          </a:xfrm>
        </p:grpSpPr>
        <p:grpSp>
          <p:nvGrpSpPr>
            <p:cNvPr name="Group 15" id="15"/>
            <p:cNvGrpSpPr/>
            <p:nvPr/>
          </p:nvGrpSpPr>
          <p:grpSpPr>
            <a:xfrm rot="0">
              <a:off x="0" y="0"/>
              <a:ext cx="522695" cy="11242922"/>
              <a:chOff x="0" y="0"/>
              <a:chExt cx="350863" cy="7546900"/>
            </a:xfrm>
          </p:grpSpPr>
          <p:sp>
            <p:nvSpPr>
              <p:cNvPr name="Freeform 16" id="16"/>
              <p:cNvSpPr/>
              <p:nvPr/>
            </p:nvSpPr>
            <p:spPr>
              <a:xfrm flipH="false" flipV="false" rot="0">
                <a:off x="16891" y="16682"/>
                <a:ext cx="316992" cy="7513450"/>
              </a:xfrm>
              <a:custGeom>
                <a:avLst/>
                <a:gdLst/>
                <a:ahLst/>
                <a:cxnLst/>
                <a:rect r="r" b="b" t="t" l="l"/>
                <a:pathLst>
                  <a:path h="7513450" w="316992">
                    <a:moveTo>
                      <a:pt x="0" y="0"/>
                    </a:moveTo>
                    <a:lnTo>
                      <a:pt x="316992" y="0"/>
                    </a:lnTo>
                    <a:lnTo>
                      <a:pt x="316992" y="7513449"/>
                    </a:lnTo>
                    <a:lnTo>
                      <a:pt x="0" y="7513449"/>
                    </a:lnTo>
                    <a:close/>
                  </a:path>
                </a:pathLst>
              </a:custGeom>
              <a:solidFill>
                <a:srgbClr val="9B59B6"/>
              </a:solidFill>
            </p:spPr>
          </p:sp>
          <p:sp>
            <p:nvSpPr>
              <p:cNvPr name="Freeform 17" id="17"/>
              <p:cNvSpPr/>
              <p:nvPr/>
            </p:nvSpPr>
            <p:spPr>
              <a:xfrm flipH="false" flipV="false" rot="0">
                <a:off x="0" y="0"/>
                <a:ext cx="350774" cy="7546812"/>
              </a:xfrm>
              <a:custGeom>
                <a:avLst/>
                <a:gdLst/>
                <a:ahLst/>
                <a:cxnLst/>
                <a:rect r="r" b="b" t="t" l="l"/>
                <a:pathLst>
                  <a:path h="7546812" w="350774">
                    <a:moveTo>
                      <a:pt x="16891" y="0"/>
                    </a:moveTo>
                    <a:lnTo>
                      <a:pt x="333883" y="0"/>
                    </a:lnTo>
                    <a:cubicBezTo>
                      <a:pt x="343281" y="0"/>
                      <a:pt x="350774" y="7525"/>
                      <a:pt x="350774" y="16682"/>
                    </a:cubicBezTo>
                    <a:lnTo>
                      <a:pt x="350774" y="7530131"/>
                    </a:lnTo>
                    <a:cubicBezTo>
                      <a:pt x="350774" y="7539412"/>
                      <a:pt x="343154" y="7546812"/>
                      <a:pt x="333883" y="7546812"/>
                    </a:cubicBezTo>
                    <a:lnTo>
                      <a:pt x="16891" y="7546812"/>
                    </a:lnTo>
                    <a:cubicBezTo>
                      <a:pt x="7493" y="7546812"/>
                      <a:pt x="0" y="7539286"/>
                      <a:pt x="0" y="7530131"/>
                    </a:cubicBezTo>
                    <a:lnTo>
                      <a:pt x="0" y="16682"/>
                    </a:lnTo>
                    <a:cubicBezTo>
                      <a:pt x="0" y="7525"/>
                      <a:pt x="7620" y="0"/>
                      <a:pt x="16891" y="0"/>
                    </a:cubicBezTo>
                    <a:moveTo>
                      <a:pt x="16891" y="33488"/>
                    </a:moveTo>
                    <a:lnTo>
                      <a:pt x="16891" y="16682"/>
                    </a:lnTo>
                    <a:lnTo>
                      <a:pt x="33909" y="16682"/>
                    </a:lnTo>
                    <a:lnTo>
                      <a:pt x="33909" y="7530131"/>
                    </a:lnTo>
                    <a:lnTo>
                      <a:pt x="16891" y="7530131"/>
                    </a:lnTo>
                    <a:lnTo>
                      <a:pt x="16891" y="7513449"/>
                    </a:lnTo>
                    <a:lnTo>
                      <a:pt x="333883" y="7513449"/>
                    </a:lnTo>
                    <a:lnTo>
                      <a:pt x="333883" y="7530131"/>
                    </a:lnTo>
                    <a:lnTo>
                      <a:pt x="316992" y="7530131"/>
                    </a:lnTo>
                    <a:lnTo>
                      <a:pt x="316992" y="16682"/>
                    </a:lnTo>
                    <a:lnTo>
                      <a:pt x="333883" y="16682"/>
                    </a:lnTo>
                    <a:lnTo>
                      <a:pt x="333883" y="33488"/>
                    </a:lnTo>
                    <a:lnTo>
                      <a:pt x="16891" y="33488"/>
                    </a:lnTo>
                    <a:close/>
                  </a:path>
                </a:pathLst>
              </a:custGeom>
              <a:solidFill>
                <a:srgbClr val="9B59B6"/>
              </a:solidFill>
            </p:spPr>
          </p:sp>
        </p:grpSp>
        <p:grpSp>
          <p:nvGrpSpPr>
            <p:cNvPr name="Group 18" id="18"/>
            <p:cNvGrpSpPr/>
            <p:nvPr/>
          </p:nvGrpSpPr>
          <p:grpSpPr>
            <a:xfrm rot="0">
              <a:off x="330696" y="0"/>
              <a:ext cx="21231323" cy="948550"/>
              <a:chOff x="0" y="0"/>
              <a:chExt cx="21231323" cy="948550"/>
            </a:xfrm>
          </p:grpSpPr>
          <p:sp>
            <p:nvSpPr>
              <p:cNvPr name="Freeform 19" id="19"/>
              <p:cNvSpPr/>
              <p:nvPr/>
            </p:nvSpPr>
            <p:spPr>
              <a:xfrm flipH="false" flipV="false" rot="0">
                <a:off x="32582" y="16682"/>
                <a:ext cx="21165988" cy="915100"/>
              </a:xfrm>
              <a:custGeom>
                <a:avLst/>
                <a:gdLst/>
                <a:ahLst/>
                <a:cxnLst/>
                <a:rect r="r" b="b" t="t" l="l"/>
                <a:pathLst>
                  <a:path h="915100" w="21165988">
                    <a:moveTo>
                      <a:pt x="0" y="0"/>
                    </a:moveTo>
                    <a:lnTo>
                      <a:pt x="21165988" y="0"/>
                    </a:lnTo>
                    <a:lnTo>
                      <a:pt x="21165988" y="915099"/>
                    </a:lnTo>
                    <a:lnTo>
                      <a:pt x="0" y="915099"/>
                    </a:lnTo>
                    <a:close/>
                  </a:path>
                </a:pathLst>
              </a:custGeom>
              <a:solidFill>
                <a:srgbClr val="9B59B6"/>
              </a:solidFill>
            </p:spPr>
          </p:sp>
          <p:sp>
            <p:nvSpPr>
              <p:cNvPr name="Freeform 20" id="20"/>
              <p:cNvSpPr/>
              <p:nvPr/>
            </p:nvSpPr>
            <p:spPr>
              <a:xfrm flipH="false" flipV="false" rot="0">
                <a:off x="0" y="0"/>
                <a:ext cx="21231151" cy="948464"/>
              </a:xfrm>
              <a:custGeom>
                <a:avLst/>
                <a:gdLst/>
                <a:ahLst/>
                <a:cxnLst/>
                <a:rect r="r" b="b" t="t" l="l"/>
                <a:pathLst>
                  <a:path h="948464" w="21231151">
                    <a:moveTo>
                      <a:pt x="32582" y="0"/>
                    </a:moveTo>
                    <a:lnTo>
                      <a:pt x="21198570" y="0"/>
                    </a:lnTo>
                    <a:cubicBezTo>
                      <a:pt x="21216699" y="0"/>
                      <a:pt x="21231151" y="7525"/>
                      <a:pt x="21231151" y="16682"/>
                    </a:cubicBezTo>
                    <a:lnTo>
                      <a:pt x="21231151" y="931781"/>
                    </a:lnTo>
                    <a:cubicBezTo>
                      <a:pt x="21231151" y="941063"/>
                      <a:pt x="21216452" y="948463"/>
                      <a:pt x="21198570" y="948463"/>
                    </a:cubicBezTo>
                    <a:lnTo>
                      <a:pt x="32582" y="948463"/>
                    </a:lnTo>
                    <a:cubicBezTo>
                      <a:pt x="14699" y="948589"/>
                      <a:pt x="0" y="941063"/>
                      <a:pt x="0" y="931781"/>
                    </a:cubicBezTo>
                    <a:lnTo>
                      <a:pt x="0" y="16682"/>
                    </a:lnTo>
                    <a:cubicBezTo>
                      <a:pt x="0" y="7525"/>
                      <a:pt x="14699" y="0"/>
                      <a:pt x="32582" y="0"/>
                    </a:cubicBezTo>
                    <a:moveTo>
                      <a:pt x="32582" y="33488"/>
                    </a:moveTo>
                    <a:lnTo>
                      <a:pt x="32582" y="16682"/>
                    </a:lnTo>
                    <a:lnTo>
                      <a:pt x="65409" y="16682"/>
                    </a:lnTo>
                    <a:lnTo>
                      <a:pt x="65409" y="931781"/>
                    </a:lnTo>
                    <a:lnTo>
                      <a:pt x="32582" y="931781"/>
                    </a:lnTo>
                    <a:lnTo>
                      <a:pt x="32582" y="915100"/>
                    </a:lnTo>
                    <a:lnTo>
                      <a:pt x="21198570" y="915100"/>
                    </a:lnTo>
                    <a:lnTo>
                      <a:pt x="21198570" y="931781"/>
                    </a:lnTo>
                    <a:lnTo>
                      <a:pt x="21165987" y="931781"/>
                    </a:lnTo>
                    <a:lnTo>
                      <a:pt x="21165987" y="16682"/>
                    </a:lnTo>
                    <a:lnTo>
                      <a:pt x="21198570" y="16682"/>
                    </a:lnTo>
                    <a:lnTo>
                      <a:pt x="21198570" y="33488"/>
                    </a:lnTo>
                    <a:lnTo>
                      <a:pt x="32582" y="33488"/>
                    </a:lnTo>
                    <a:close/>
                  </a:path>
                </a:pathLst>
              </a:custGeom>
              <a:solidFill>
                <a:srgbClr val="9B59B6"/>
              </a:solidFill>
            </p:spPr>
          </p:sp>
        </p:grpSp>
        <p:grpSp>
          <p:nvGrpSpPr>
            <p:cNvPr name="Group 21" id="21"/>
            <p:cNvGrpSpPr/>
            <p:nvPr/>
          </p:nvGrpSpPr>
          <p:grpSpPr>
            <a:xfrm rot="0">
              <a:off x="560997" y="33451"/>
              <a:ext cx="10485120" cy="915100"/>
              <a:chOff x="0" y="0"/>
              <a:chExt cx="10485120" cy="915100"/>
            </a:xfrm>
          </p:grpSpPr>
          <p:sp>
            <p:nvSpPr>
              <p:cNvPr name="Freeform 22" id="22"/>
              <p:cNvSpPr/>
              <p:nvPr/>
            </p:nvSpPr>
            <p:spPr>
              <a:xfrm flipH="false" flipV="false" rot="0">
                <a:off x="0" y="0"/>
                <a:ext cx="10485120" cy="915100"/>
              </a:xfrm>
              <a:custGeom>
                <a:avLst/>
                <a:gdLst/>
                <a:ahLst/>
                <a:cxnLst/>
                <a:rect r="r" b="b" t="t" l="l"/>
                <a:pathLst>
                  <a:path h="915100" w="10485120">
                    <a:moveTo>
                      <a:pt x="0" y="0"/>
                    </a:moveTo>
                    <a:lnTo>
                      <a:pt x="10485120" y="0"/>
                    </a:lnTo>
                    <a:lnTo>
                      <a:pt x="10485120" y="915100"/>
                    </a:lnTo>
                    <a:lnTo>
                      <a:pt x="0" y="915100"/>
                    </a:lnTo>
                    <a:close/>
                  </a:path>
                </a:pathLst>
              </a:custGeom>
              <a:blipFill>
                <a:blip r:embed="rId2">
                  <a:alphaModFix amt="0"/>
                </a:blip>
                <a:stretch>
                  <a:fillRect l="0" t="-172629" r="0" b="-173885"/>
                </a:stretch>
              </a:blipFill>
            </p:spPr>
          </p:sp>
          <p:sp>
            <p:nvSpPr>
              <p:cNvPr name="TextBox 23" id="23"/>
              <p:cNvSpPr txBox="true"/>
              <p:nvPr/>
            </p:nvSpPr>
            <p:spPr>
              <a:xfrm>
                <a:off x="0" y="-38100"/>
                <a:ext cx="10485120" cy="95320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Analisis Distribusi</a:t>
                </a:r>
              </a:p>
            </p:txBody>
          </p:sp>
        </p:grpSp>
        <p:sp>
          <p:nvSpPr>
            <p:cNvPr name="Freeform 24" id="24"/>
            <p:cNvSpPr/>
            <p:nvPr/>
          </p:nvSpPr>
          <p:spPr>
            <a:xfrm flipH="false" flipV="false" rot="0">
              <a:off x="504130" y="948550"/>
              <a:ext cx="21057889" cy="10294372"/>
            </a:xfrm>
            <a:custGeom>
              <a:avLst/>
              <a:gdLst/>
              <a:ahLst/>
              <a:cxnLst/>
              <a:rect r="r" b="b" t="t" l="l"/>
              <a:pathLst>
                <a:path h="10294372" w="21057889">
                  <a:moveTo>
                    <a:pt x="0" y="0"/>
                  </a:moveTo>
                  <a:lnTo>
                    <a:pt x="21057889" y="0"/>
                  </a:lnTo>
                  <a:lnTo>
                    <a:pt x="21057889" y="10294372"/>
                  </a:lnTo>
                  <a:lnTo>
                    <a:pt x="0" y="10294372"/>
                  </a:lnTo>
                  <a:lnTo>
                    <a:pt x="0" y="0"/>
                  </a:lnTo>
                  <a:close/>
                </a:path>
              </a:pathLst>
            </a:custGeom>
            <a:blipFill>
              <a:blip r:embed="rId3"/>
              <a:stretch>
                <a:fillRect l="0" t="-627" r="0" b="-627"/>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9B59B6"/>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9B59B6"/>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9B59B6"/>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9B59B6"/>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SUMBER DATA</a:t>
              </a:r>
            </a:p>
          </p:txBody>
        </p:sp>
      </p:grpSp>
      <p:grpSp>
        <p:nvGrpSpPr>
          <p:cNvPr name="Group 11" id="11"/>
          <p:cNvGrpSpPr/>
          <p:nvPr/>
        </p:nvGrpSpPr>
        <p:grpSpPr>
          <a:xfrm rot="0">
            <a:off x="1028700" y="631943"/>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Visualisasi</a:t>
              </a:r>
            </a:p>
          </p:txBody>
        </p:sp>
      </p:grpSp>
      <p:grpSp>
        <p:nvGrpSpPr>
          <p:cNvPr name="Group 14" id="14"/>
          <p:cNvGrpSpPr/>
          <p:nvPr/>
        </p:nvGrpSpPr>
        <p:grpSpPr>
          <a:xfrm rot="0">
            <a:off x="901703" y="1552246"/>
            <a:ext cx="392021" cy="8432192"/>
            <a:chOff x="0" y="0"/>
            <a:chExt cx="350863" cy="7546900"/>
          </a:xfrm>
        </p:grpSpPr>
        <p:sp>
          <p:nvSpPr>
            <p:cNvPr name="Freeform 15" id="15"/>
            <p:cNvSpPr/>
            <p:nvPr/>
          </p:nvSpPr>
          <p:spPr>
            <a:xfrm flipH="false" flipV="false" rot="0">
              <a:off x="16891" y="16682"/>
              <a:ext cx="316992" cy="7513450"/>
            </a:xfrm>
            <a:custGeom>
              <a:avLst/>
              <a:gdLst/>
              <a:ahLst/>
              <a:cxnLst/>
              <a:rect r="r" b="b" t="t" l="l"/>
              <a:pathLst>
                <a:path h="7513450" w="316992">
                  <a:moveTo>
                    <a:pt x="0" y="0"/>
                  </a:moveTo>
                  <a:lnTo>
                    <a:pt x="316992" y="0"/>
                  </a:lnTo>
                  <a:lnTo>
                    <a:pt x="316992" y="7513449"/>
                  </a:lnTo>
                  <a:lnTo>
                    <a:pt x="0" y="7513449"/>
                  </a:lnTo>
                  <a:close/>
                </a:path>
              </a:pathLst>
            </a:custGeom>
            <a:solidFill>
              <a:srgbClr val="9B59B6"/>
            </a:solidFill>
          </p:spPr>
        </p:sp>
        <p:sp>
          <p:nvSpPr>
            <p:cNvPr name="Freeform 16" id="16"/>
            <p:cNvSpPr/>
            <p:nvPr/>
          </p:nvSpPr>
          <p:spPr>
            <a:xfrm flipH="false" flipV="false" rot="0">
              <a:off x="0" y="0"/>
              <a:ext cx="350774" cy="7546812"/>
            </a:xfrm>
            <a:custGeom>
              <a:avLst/>
              <a:gdLst/>
              <a:ahLst/>
              <a:cxnLst/>
              <a:rect r="r" b="b" t="t" l="l"/>
              <a:pathLst>
                <a:path h="7546812" w="350774">
                  <a:moveTo>
                    <a:pt x="16891" y="0"/>
                  </a:moveTo>
                  <a:lnTo>
                    <a:pt x="333883" y="0"/>
                  </a:lnTo>
                  <a:cubicBezTo>
                    <a:pt x="343281" y="0"/>
                    <a:pt x="350774" y="7525"/>
                    <a:pt x="350774" y="16682"/>
                  </a:cubicBezTo>
                  <a:lnTo>
                    <a:pt x="350774" y="7530131"/>
                  </a:lnTo>
                  <a:cubicBezTo>
                    <a:pt x="350774" y="7539412"/>
                    <a:pt x="343154" y="7546812"/>
                    <a:pt x="333883" y="7546812"/>
                  </a:cubicBezTo>
                  <a:lnTo>
                    <a:pt x="16891" y="7546812"/>
                  </a:lnTo>
                  <a:cubicBezTo>
                    <a:pt x="7493" y="7546812"/>
                    <a:pt x="0" y="7539286"/>
                    <a:pt x="0" y="7530131"/>
                  </a:cubicBezTo>
                  <a:lnTo>
                    <a:pt x="0" y="16682"/>
                  </a:lnTo>
                  <a:cubicBezTo>
                    <a:pt x="0" y="7525"/>
                    <a:pt x="7620" y="0"/>
                    <a:pt x="16891" y="0"/>
                  </a:cubicBezTo>
                  <a:moveTo>
                    <a:pt x="16891" y="33488"/>
                  </a:moveTo>
                  <a:lnTo>
                    <a:pt x="16891" y="16682"/>
                  </a:lnTo>
                  <a:lnTo>
                    <a:pt x="33909" y="16682"/>
                  </a:lnTo>
                  <a:lnTo>
                    <a:pt x="33909" y="7530131"/>
                  </a:lnTo>
                  <a:lnTo>
                    <a:pt x="16891" y="7530131"/>
                  </a:lnTo>
                  <a:lnTo>
                    <a:pt x="16891" y="7513449"/>
                  </a:lnTo>
                  <a:lnTo>
                    <a:pt x="333883" y="7513449"/>
                  </a:lnTo>
                  <a:lnTo>
                    <a:pt x="333883" y="7530131"/>
                  </a:lnTo>
                  <a:lnTo>
                    <a:pt x="316992" y="7530131"/>
                  </a:lnTo>
                  <a:lnTo>
                    <a:pt x="316992" y="16682"/>
                  </a:lnTo>
                  <a:lnTo>
                    <a:pt x="333883" y="16682"/>
                  </a:lnTo>
                  <a:lnTo>
                    <a:pt x="333883" y="33488"/>
                  </a:lnTo>
                  <a:lnTo>
                    <a:pt x="16891" y="33488"/>
                  </a:lnTo>
                  <a:close/>
                </a:path>
              </a:pathLst>
            </a:custGeom>
            <a:solidFill>
              <a:srgbClr val="9B59B6"/>
            </a:solidFill>
          </p:spPr>
        </p:sp>
      </p:grpSp>
      <p:grpSp>
        <p:nvGrpSpPr>
          <p:cNvPr name="Group 17" id="17"/>
          <p:cNvGrpSpPr/>
          <p:nvPr/>
        </p:nvGrpSpPr>
        <p:grpSpPr>
          <a:xfrm rot="0">
            <a:off x="1149725" y="1552246"/>
            <a:ext cx="15923492" cy="711413"/>
            <a:chOff x="0" y="0"/>
            <a:chExt cx="21231323" cy="948550"/>
          </a:xfrm>
        </p:grpSpPr>
        <p:sp>
          <p:nvSpPr>
            <p:cNvPr name="Freeform 18" id="18"/>
            <p:cNvSpPr/>
            <p:nvPr/>
          </p:nvSpPr>
          <p:spPr>
            <a:xfrm flipH="false" flipV="false" rot="0">
              <a:off x="32582" y="16682"/>
              <a:ext cx="21165988" cy="915100"/>
            </a:xfrm>
            <a:custGeom>
              <a:avLst/>
              <a:gdLst/>
              <a:ahLst/>
              <a:cxnLst/>
              <a:rect r="r" b="b" t="t" l="l"/>
              <a:pathLst>
                <a:path h="915100" w="21165988">
                  <a:moveTo>
                    <a:pt x="0" y="0"/>
                  </a:moveTo>
                  <a:lnTo>
                    <a:pt x="21165988" y="0"/>
                  </a:lnTo>
                  <a:lnTo>
                    <a:pt x="21165988" y="915099"/>
                  </a:lnTo>
                  <a:lnTo>
                    <a:pt x="0" y="915099"/>
                  </a:lnTo>
                  <a:close/>
                </a:path>
              </a:pathLst>
            </a:custGeom>
            <a:solidFill>
              <a:srgbClr val="9B59B6"/>
            </a:solidFill>
          </p:spPr>
        </p:sp>
        <p:sp>
          <p:nvSpPr>
            <p:cNvPr name="Freeform 19" id="19"/>
            <p:cNvSpPr/>
            <p:nvPr/>
          </p:nvSpPr>
          <p:spPr>
            <a:xfrm flipH="false" flipV="false" rot="0">
              <a:off x="0" y="0"/>
              <a:ext cx="21231151" cy="948464"/>
            </a:xfrm>
            <a:custGeom>
              <a:avLst/>
              <a:gdLst/>
              <a:ahLst/>
              <a:cxnLst/>
              <a:rect r="r" b="b" t="t" l="l"/>
              <a:pathLst>
                <a:path h="948464" w="21231151">
                  <a:moveTo>
                    <a:pt x="32582" y="0"/>
                  </a:moveTo>
                  <a:lnTo>
                    <a:pt x="21198570" y="0"/>
                  </a:lnTo>
                  <a:cubicBezTo>
                    <a:pt x="21216699" y="0"/>
                    <a:pt x="21231151" y="7525"/>
                    <a:pt x="21231151" y="16682"/>
                  </a:cubicBezTo>
                  <a:lnTo>
                    <a:pt x="21231151" y="931781"/>
                  </a:lnTo>
                  <a:cubicBezTo>
                    <a:pt x="21231151" y="941063"/>
                    <a:pt x="21216452" y="948463"/>
                    <a:pt x="21198570" y="948463"/>
                  </a:cubicBezTo>
                  <a:lnTo>
                    <a:pt x="32582" y="948463"/>
                  </a:lnTo>
                  <a:cubicBezTo>
                    <a:pt x="14699" y="948589"/>
                    <a:pt x="0" y="941063"/>
                    <a:pt x="0" y="931781"/>
                  </a:cubicBezTo>
                  <a:lnTo>
                    <a:pt x="0" y="16682"/>
                  </a:lnTo>
                  <a:cubicBezTo>
                    <a:pt x="0" y="7525"/>
                    <a:pt x="14699" y="0"/>
                    <a:pt x="32582" y="0"/>
                  </a:cubicBezTo>
                  <a:moveTo>
                    <a:pt x="32582" y="33488"/>
                  </a:moveTo>
                  <a:lnTo>
                    <a:pt x="32582" y="16682"/>
                  </a:lnTo>
                  <a:lnTo>
                    <a:pt x="65409" y="16682"/>
                  </a:lnTo>
                  <a:lnTo>
                    <a:pt x="65409" y="931781"/>
                  </a:lnTo>
                  <a:lnTo>
                    <a:pt x="32582" y="931781"/>
                  </a:lnTo>
                  <a:lnTo>
                    <a:pt x="32582" y="915100"/>
                  </a:lnTo>
                  <a:lnTo>
                    <a:pt x="21198570" y="915100"/>
                  </a:lnTo>
                  <a:lnTo>
                    <a:pt x="21198570" y="931781"/>
                  </a:lnTo>
                  <a:lnTo>
                    <a:pt x="21165987" y="931781"/>
                  </a:lnTo>
                  <a:lnTo>
                    <a:pt x="21165987" y="16682"/>
                  </a:lnTo>
                  <a:lnTo>
                    <a:pt x="21198570" y="16682"/>
                  </a:lnTo>
                  <a:lnTo>
                    <a:pt x="21198570" y="33488"/>
                  </a:lnTo>
                  <a:lnTo>
                    <a:pt x="32582" y="33488"/>
                  </a:lnTo>
                  <a:close/>
                </a:path>
              </a:pathLst>
            </a:custGeom>
            <a:solidFill>
              <a:srgbClr val="9B59B6"/>
            </a:solidFill>
          </p:spPr>
        </p:sp>
      </p:grpSp>
      <p:grpSp>
        <p:nvGrpSpPr>
          <p:cNvPr name="Group 20" id="20"/>
          <p:cNvGrpSpPr/>
          <p:nvPr/>
        </p:nvGrpSpPr>
        <p:grpSpPr>
          <a:xfrm rot="0">
            <a:off x="1322451" y="1577334"/>
            <a:ext cx="7863840" cy="686325"/>
            <a:chOff x="0" y="0"/>
            <a:chExt cx="10485120" cy="915100"/>
          </a:xfrm>
        </p:grpSpPr>
        <p:sp>
          <p:nvSpPr>
            <p:cNvPr name="Freeform 21" id="21"/>
            <p:cNvSpPr/>
            <p:nvPr/>
          </p:nvSpPr>
          <p:spPr>
            <a:xfrm flipH="false" flipV="false" rot="0">
              <a:off x="0" y="0"/>
              <a:ext cx="10485120" cy="915100"/>
            </a:xfrm>
            <a:custGeom>
              <a:avLst/>
              <a:gdLst/>
              <a:ahLst/>
              <a:cxnLst/>
              <a:rect r="r" b="b" t="t" l="l"/>
              <a:pathLst>
                <a:path h="915100" w="10485120">
                  <a:moveTo>
                    <a:pt x="0" y="0"/>
                  </a:moveTo>
                  <a:lnTo>
                    <a:pt x="10485120" y="0"/>
                  </a:lnTo>
                  <a:lnTo>
                    <a:pt x="10485120" y="915100"/>
                  </a:lnTo>
                  <a:lnTo>
                    <a:pt x="0" y="915100"/>
                  </a:lnTo>
                  <a:close/>
                </a:path>
              </a:pathLst>
            </a:custGeom>
            <a:blipFill>
              <a:blip r:embed="rId2">
                <a:alphaModFix amt="0"/>
              </a:blip>
              <a:stretch>
                <a:fillRect l="0" t="-172629" r="0" b="-173885"/>
              </a:stretch>
            </a:blipFill>
          </p:spPr>
        </p:sp>
        <p:sp>
          <p:nvSpPr>
            <p:cNvPr name="TextBox 22" id="22"/>
            <p:cNvSpPr txBox="true"/>
            <p:nvPr/>
          </p:nvSpPr>
          <p:spPr>
            <a:xfrm>
              <a:off x="0" y="-38100"/>
              <a:ext cx="10485120" cy="95320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Grafik Time Series</a:t>
              </a:r>
            </a:p>
          </p:txBody>
        </p:sp>
      </p:grpSp>
      <p:sp>
        <p:nvSpPr>
          <p:cNvPr name="Freeform 23" id="23"/>
          <p:cNvSpPr/>
          <p:nvPr/>
        </p:nvSpPr>
        <p:spPr>
          <a:xfrm flipH="false" flipV="false" rot="0">
            <a:off x="1322451" y="2261099"/>
            <a:ext cx="15750766" cy="7737564"/>
          </a:xfrm>
          <a:custGeom>
            <a:avLst/>
            <a:gdLst/>
            <a:ahLst/>
            <a:cxnLst/>
            <a:rect r="r" b="b" t="t" l="l"/>
            <a:pathLst>
              <a:path h="7737564" w="15750766">
                <a:moveTo>
                  <a:pt x="0" y="0"/>
                </a:moveTo>
                <a:lnTo>
                  <a:pt x="15750766" y="0"/>
                </a:lnTo>
                <a:lnTo>
                  <a:pt x="15750766" y="7737564"/>
                </a:lnTo>
                <a:lnTo>
                  <a:pt x="0" y="7737564"/>
                </a:lnTo>
                <a:lnTo>
                  <a:pt x="0" y="0"/>
                </a:lnTo>
                <a:close/>
              </a:path>
            </a:pathLst>
          </a:custGeom>
          <a:blipFill>
            <a:blip r:embed="rId3"/>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9B59B6"/>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9B59B6"/>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9B59B6"/>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9B59B6"/>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SUMBER DATA</a:t>
              </a:r>
            </a:p>
          </p:txBody>
        </p:sp>
      </p:grpSp>
      <p:grpSp>
        <p:nvGrpSpPr>
          <p:cNvPr name="Group 11" id="11"/>
          <p:cNvGrpSpPr/>
          <p:nvPr/>
        </p:nvGrpSpPr>
        <p:grpSpPr>
          <a:xfrm rot="0">
            <a:off x="1028700" y="631943"/>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Visualisasi</a:t>
              </a:r>
            </a:p>
          </p:txBody>
        </p:sp>
      </p:grpSp>
      <p:grpSp>
        <p:nvGrpSpPr>
          <p:cNvPr name="Group 14" id="14"/>
          <p:cNvGrpSpPr/>
          <p:nvPr/>
        </p:nvGrpSpPr>
        <p:grpSpPr>
          <a:xfrm rot="0">
            <a:off x="901703" y="1552246"/>
            <a:ext cx="385085" cy="8283009"/>
            <a:chOff x="0" y="0"/>
            <a:chExt cx="350863" cy="7546900"/>
          </a:xfrm>
        </p:grpSpPr>
        <p:sp>
          <p:nvSpPr>
            <p:cNvPr name="Freeform 15" id="15"/>
            <p:cNvSpPr/>
            <p:nvPr/>
          </p:nvSpPr>
          <p:spPr>
            <a:xfrm flipH="false" flipV="false" rot="0">
              <a:off x="16891" y="16682"/>
              <a:ext cx="316992" cy="7513450"/>
            </a:xfrm>
            <a:custGeom>
              <a:avLst/>
              <a:gdLst/>
              <a:ahLst/>
              <a:cxnLst/>
              <a:rect r="r" b="b" t="t" l="l"/>
              <a:pathLst>
                <a:path h="7513450" w="316992">
                  <a:moveTo>
                    <a:pt x="0" y="0"/>
                  </a:moveTo>
                  <a:lnTo>
                    <a:pt x="316992" y="0"/>
                  </a:lnTo>
                  <a:lnTo>
                    <a:pt x="316992" y="7513449"/>
                  </a:lnTo>
                  <a:lnTo>
                    <a:pt x="0" y="7513449"/>
                  </a:lnTo>
                  <a:close/>
                </a:path>
              </a:pathLst>
            </a:custGeom>
            <a:solidFill>
              <a:srgbClr val="9B59B6"/>
            </a:solidFill>
          </p:spPr>
        </p:sp>
        <p:sp>
          <p:nvSpPr>
            <p:cNvPr name="Freeform 16" id="16"/>
            <p:cNvSpPr/>
            <p:nvPr/>
          </p:nvSpPr>
          <p:spPr>
            <a:xfrm flipH="false" flipV="false" rot="0">
              <a:off x="0" y="0"/>
              <a:ext cx="350774" cy="7546812"/>
            </a:xfrm>
            <a:custGeom>
              <a:avLst/>
              <a:gdLst/>
              <a:ahLst/>
              <a:cxnLst/>
              <a:rect r="r" b="b" t="t" l="l"/>
              <a:pathLst>
                <a:path h="7546812" w="350774">
                  <a:moveTo>
                    <a:pt x="16891" y="0"/>
                  </a:moveTo>
                  <a:lnTo>
                    <a:pt x="333883" y="0"/>
                  </a:lnTo>
                  <a:cubicBezTo>
                    <a:pt x="343281" y="0"/>
                    <a:pt x="350774" y="7525"/>
                    <a:pt x="350774" y="16682"/>
                  </a:cubicBezTo>
                  <a:lnTo>
                    <a:pt x="350774" y="7530131"/>
                  </a:lnTo>
                  <a:cubicBezTo>
                    <a:pt x="350774" y="7539412"/>
                    <a:pt x="343154" y="7546812"/>
                    <a:pt x="333883" y="7546812"/>
                  </a:cubicBezTo>
                  <a:lnTo>
                    <a:pt x="16891" y="7546812"/>
                  </a:lnTo>
                  <a:cubicBezTo>
                    <a:pt x="7493" y="7546812"/>
                    <a:pt x="0" y="7539286"/>
                    <a:pt x="0" y="7530131"/>
                  </a:cubicBezTo>
                  <a:lnTo>
                    <a:pt x="0" y="16682"/>
                  </a:lnTo>
                  <a:cubicBezTo>
                    <a:pt x="0" y="7525"/>
                    <a:pt x="7620" y="0"/>
                    <a:pt x="16891" y="0"/>
                  </a:cubicBezTo>
                  <a:moveTo>
                    <a:pt x="16891" y="33488"/>
                  </a:moveTo>
                  <a:lnTo>
                    <a:pt x="16891" y="16682"/>
                  </a:lnTo>
                  <a:lnTo>
                    <a:pt x="33909" y="16682"/>
                  </a:lnTo>
                  <a:lnTo>
                    <a:pt x="33909" y="7530131"/>
                  </a:lnTo>
                  <a:lnTo>
                    <a:pt x="16891" y="7530131"/>
                  </a:lnTo>
                  <a:lnTo>
                    <a:pt x="16891" y="7513449"/>
                  </a:lnTo>
                  <a:lnTo>
                    <a:pt x="333883" y="7513449"/>
                  </a:lnTo>
                  <a:lnTo>
                    <a:pt x="333883" y="7530131"/>
                  </a:lnTo>
                  <a:lnTo>
                    <a:pt x="316992" y="7530131"/>
                  </a:lnTo>
                  <a:lnTo>
                    <a:pt x="316992" y="16682"/>
                  </a:lnTo>
                  <a:lnTo>
                    <a:pt x="333883" y="16682"/>
                  </a:lnTo>
                  <a:lnTo>
                    <a:pt x="333883" y="33488"/>
                  </a:lnTo>
                  <a:lnTo>
                    <a:pt x="16891" y="33488"/>
                  </a:lnTo>
                  <a:close/>
                </a:path>
              </a:pathLst>
            </a:custGeom>
            <a:solidFill>
              <a:srgbClr val="9B59B6"/>
            </a:solidFill>
          </p:spPr>
        </p:sp>
      </p:grpSp>
      <p:grpSp>
        <p:nvGrpSpPr>
          <p:cNvPr name="Group 17" id="17"/>
          <p:cNvGrpSpPr/>
          <p:nvPr/>
        </p:nvGrpSpPr>
        <p:grpSpPr>
          <a:xfrm rot="0">
            <a:off x="1149725" y="1552246"/>
            <a:ext cx="15923492" cy="711413"/>
            <a:chOff x="0" y="0"/>
            <a:chExt cx="21231323" cy="948550"/>
          </a:xfrm>
        </p:grpSpPr>
        <p:sp>
          <p:nvSpPr>
            <p:cNvPr name="Freeform 18" id="18"/>
            <p:cNvSpPr/>
            <p:nvPr/>
          </p:nvSpPr>
          <p:spPr>
            <a:xfrm flipH="false" flipV="false" rot="0">
              <a:off x="32582" y="16682"/>
              <a:ext cx="21165988" cy="915100"/>
            </a:xfrm>
            <a:custGeom>
              <a:avLst/>
              <a:gdLst/>
              <a:ahLst/>
              <a:cxnLst/>
              <a:rect r="r" b="b" t="t" l="l"/>
              <a:pathLst>
                <a:path h="915100" w="21165988">
                  <a:moveTo>
                    <a:pt x="0" y="0"/>
                  </a:moveTo>
                  <a:lnTo>
                    <a:pt x="21165988" y="0"/>
                  </a:lnTo>
                  <a:lnTo>
                    <a:pt x="21165988" y="915099"/>
                  </a:lnTo>
                  <a:lnTo>
                    <a:pt x="0" y="915099"/>
                  </a:lnTo>
                  <a:close/>
                </a:path>
              </a:pathLst>
            </a:custGeom>
            <a:solidFill>
              <a:srgbClr val="9B59B6"/>
            </a:solidFill>
          </p:spPr>
        </p:sp>
        <p:sp>
          <p:nvSpPr>
            <p:cNvPr name="Freeform 19" id="19"/>
            <p:cNvSpPr/>
            <p:nvPr/>
          </p:nvSpPr>
          <p:spPr>
            <a:xfrm flipH="false" flipV="false" rot="0">
              <a:off x="0" y="0"/>
              <a:ext cx="21231151" cy="948464"/>
            </a:xfrm>
            <a:custGeom>
              <a:avLst/>
              <a:gdLst/>
              <a:ahLst/>
              <a:cxnLst/>
              <a:rect r="r" b="b" t="t" l="l"/>
              <a:pathLst>
                <a:path h="948464" w="21231151">
                  <a:moveTo>
                    <a:pt x="32582" y="0"/>
                  </a:moveTo>
                  <a:lnTo>
                    <a:pt x="21198570" y="0"/>
                  </a:lnTo>
                  <a:cubicBezTo>
                    <a:pt x="21216699" y="0"/>
                    <a:pt x="21231151" y="7525"/>
                    <a:pt x="21231151" y="16682"/>
                  </a:cubicBezTo>
                  <a:lnTo>
                    <a:pt x="21231151" y="931781"/>
                  </a:lnTo>
                  <a:cubicBezTo>
                    <a:pt x="21231151" y="941063"/>
                    <a:pt x="21216452" y="948463"/>
                    <a:pt x="21198570" y="948463"/>
                  </a:cubicBezTo>
                  <a:lnTo>
                    <a:pt x="32582" y="948463"/>
                  </a:lnTo>
                  <a:cubicBezTo>
                    <a:pt x="14699" y="948589"/>
                    <a:pt x="0" y="941063"/>
                    <a:pt x="0" y="931781"/>
                  </a:cubicBezTo>
                  <a:lnTo>
                    <a:pt x="0" y="16682"/>
                  </a:lnTo>
                  <a:cubicBezTo>
                    <a:pt x="0" y="7525"/>
                    <a:pt x="14699" y="0"/>
                    <a:pt x="32582" y="0"/>
                  </a:cubicBezTo>
                  <a:moveTo>
                    <a:pt x="32582" y="33488"/>
                  </a:moveTo>
                  <a:lnTo>
                    <a:pt x="32582" y="16682"/>
                  </a:lnTo>
                  <a:lnTo>
                    <a:pt x="65409" y="16682"/>
                  </a:lnTo>
                  <a:lnTo>
                    <a:pt x="65409" y="931781"/>
                  </a:lnTo>
                  <a:lnTo>
                    <a:pt x="32582" y="931781"/>
                  </a:lnTo>
                  <a:lnTo>
                    <a:pt x="32582" y="915100"/>
                  </a:lnTo>
                  <a:lnTo>
                    <a:pt x="21198570" y="915100"/>
                  </a:lnTo>
                  <a:lnTo>
                    <a:pt x="21198570" y="931781"/>
                  </a:lnTo>
                  <a:lnTo>
                    <a:pt x="21165987" y="931781"/>
                  </a:lnTo>
                  <a:lnTo>
                    <a:pt x="21165987" y="16682"/>
                  </a:lnTo>
                  <a:lnTo>
                    <a:pt x="21198570" y="16682"/>
                  </a:lnTo>
                  <a:lnTo>
                    <a:pt x="21198570" y="33488"/>
                  </a:lnTo>
                  <a:lnTo>
                    <a:pt x="32582" y="33488"/>
                  </a:lnTo>
                  <a:close/>
                </a:path>
              </a:pathLst>
            </a:custGeom>
            <a:solidFill>
              <a:srgbClr val="9B59B6"/>
            </a:solidFill>
          </p:spPr>
        </p:sp>
      </p:grpSp>
      <p:grpSp>
        <p:nvGrpSpPr>
          <p:cNvPr name="Group 20" id="20"/>
          <p:cNvGrpSpPr/>
          <p:nvPr/>
        </p:nvGrpSpPr>
        <p:grpSpPr>
          <a:xfrm rot="0">
            <a:off x="1322451" y="1577334"/>
            <a:ext cx="7863840" cy="686325"/>
            <a:chOff x="0" y="0"/>
            <a:chExt cx="10485120" cy="915100"/>
          </a:xfrm>
        </p:grpSpPr>
        <p:sp>
          <p:nvSpPr>
            <p:cNvPr name="Freeform 21" id="21"/>
            <p:cNvSpPr/>
            <p:nvPr/>
          </p:nvSpPr>
          <p:spPr>
            <a:xfrm flipH="false" flipV="false" rot="0">
              <a:off x="0" y="0"/>
              <a:ext cx="10485120" cy="915100"/>
            </a:xfrm>
            <a:custGeom>
              <a:avLst/>
              <a:gdLst/>
              <a:ahLst/>
              <a:cxnLst/>
              <a:rect r="r" b="b" t="t" l="l"/>
              <a:pathLst>
                <a:path h="915100" w="10485120">
                  <a:moveTo>
                    <a:pt x="0" y="0"/>
                  </a:moveTo>
                  <a:lnTo>
                    <a:pt x="10485120" y="0"/>
                  </a:lnTo>
                  <a:lnTo>
                    <a:pt x="10485120" y="915100"/>
                  </a:lnTo>
                  <a:lnTo>
                    <a:pt x="0" y="915100"/>
                  </a:lnTo>
                  <a:close/>
                </a:path>
              </a:pathLst>
            </a:custGeom>
            <a:blipFill>
              <a:blip r:embed="rId2">
                <a:alphaModFix amt="0"/>
              </a:blip>
              <a:stretch>
                <a:fillRect l="0" t="-172629" r="0" b="-173885"/>
              </a:stretch>
            </a:blipFill>
          </p:spPr>
        </p:sp>
        <p:sp>
          <p:nvSpPr>
            <p:cNvPr name="TextBox 22" id="22"/>
            <p:cNvSpPr txBox="true"/>
            <p:nvPr/>
          </p:nvSpPr>
          <p:spPr>
            <a:xfrm>
              <a:off x="0" y="-38100"/>
              <a:ext cx="10485120" cy="95320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Grafik Time Series</a:t>
              </a:r>
            </a:p>
          </p:txBody>
        </p:sp>
      </p:grpSp>
      <p:sp>
        <p:nvSpPr>
          <p:cNvPr name="Freeform 23" id="23"/>
          <p:cNvSpPr/>
          <p:nvPr/>
        </p:nvSpPr>
        <p:spPr>
          <a:xfrm flipH="false" flipV="false" rot="0">
            <a:off x="1293724" y="2261099"/>
            <a:ext cx="15779493" cy="7574157"/>
          </a:xfrm>
          <a:custGeom>
            <a:avLst/>
            <a:gdLst/>
            <a:ahLst/>
            <a:cxnLst/>
            <a:rect r="r" b="b" t="t" l="l"/>
            <a:pathLst>
              <a:path h="7574157" w="15779493">
                <a:moveTo>
                  <a:pt x="0" y="0"/>
                </a:moveTo>
                <a:lnTo>
                  <a:pt x="15779493" y="0"/>
                </a:lnTo>
                <a:lnTo>
                  <a:pt x="15779493" y="7574157"/>
                </a:lnTo>
                <a:lnTo>
                  <a:pt x="0" y="7574157"/>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13703303" y="-927097"/>
            <a:ext cx="6426203" cy="6426203"/>
            <a:chOff x="0" y="0"/>
            <a:chExt cx="8568271" cy="8568271"/>
          </a:xfrm>
        </p:grpSpPr>
        <p:sp>
          <p:nvSpPr>
            <p:cNvPr name="Freeform 6" id="6"/>
            <p:cNvSpPr/>
            <p:nvPr/>
          </p:nvSpPr>
          <p:spPr>
            <a:xfrm flipH="false" flipV="false" rot="0">
              <a:off x="16891" y="16891"/>
              <a:ext cx="8534400" cy="8534400"/>
            </a:xfrm>
            <a:custGeom>
              <a:avLst/>
              <a:gdLst/>
              <a:ahLst/>
              <a:cxnLst/>
              <a:rect r="r" b="b" t="t" l="l"/>
              <a:pathLst>
                <a:path h="8534400" w="8534400">
                  <a:moveTo>
                    <a:pt x="0" y="4267200"/>
                  </a:moveTo>
                  <a:cubicBezTo>
                    <a:pt x="0" y="1910461"/>
                    <a:pt x="1910461" y="0"/>
                    <a:pt x="4267200" y="0"/>
                  </a:cubicBezTo>
                  <a:cubicBezTo>
                    <a:pt x="6623939" y="0"/>
                    <a:pt x="8534400" y="1910461"/>
                    <a:pt x="8534400" y="4267200"/>
                  </a:cubicBezTo>
                  <a:cubicBezTo>
                    <a:pt x="8534400" y="6623939"/>
                    <a:pt x="6623939" y="8534400"/>
                    <a:pt x="4267200" y="8534400"/>
                  </a:cubicBezTo>
                  <a:cubicBezTo>
                    <a:pt x="1910461" y="8534400"/>
                    <a:pt x="0" y="6623939"/>
                    <a:pt x="0" y="4267200"/>
                  </a:cubicBezTo>
                  <a:close/>
                </a:path>
              </a:pathLst>
            </a:custGeom>
            <a:solidFill>
              <a:srgbClr val="1EB8D0">
                <a:alpha val="1961"/>
              </a:srgbClr>
            </a:solidFill>
          </p:spPr>
        </p:sp>
        <p:sp>
          <p:nvSpPr>
            <p:cNvPr name="Freeform 7" id="7"/>
            <p:cNvSpPr/>
            <p:nvPr/>
          </p:nvSpPr>
          <p:spPr>
            <a:xfrm flipH="false" flipV="false" rot="0">
              <a:off x="0" y="0"/>
              <a:ext cx="8568182" cy="8568182"/>
            </a:xfrm>
            <a:custGeom>
              <a:avLst/>
              <a:gdLst/>
              <a:ahLst/>
              <a:cxnLst/>
              <a:rect r="r" b="b" t="t" l="l"/>
              <a:pathLst>
                <a:path h="8568182" w="8568182">
                  <a:moveTo>
                    <a:pt x="0" y="4284091"/>
                  </a:moveTo>
                  <a:cubicBezTo>
                    <a:pt x="0" y="1918081"/>
                    <a:pt x="1918081" y="0"/>
                    <a:pt x="4284091" y="0"/>
                  </a:cubicBezTo>
                  <a:lnTo>
                    <a:pt x="4284091" y="16891"/>
                  </a:lnTo>
                  <a:lnTo>
                    <a:pt x="4284091" y="0"/>
                  </a:lnTo>
                  <a:cubicBezTo>
                    <a:pt x="6650101" y="0"/>
                    <a:pt x="8568182" y="1918081"/>
                    <a:pt x="8568182" y="4284091"/>
                  </a:cubicBezTo>
                  <a:lnTo>
                    <a:pt x="8551290" y="4284091"/>
                  </a:lnTo>
                  <a:lnTo>
                    <a:pt x="8568182" y="4284091"/>
                  </a:lnTo>
                  <a:cubicBezTo>
                    <a:pt x="8568182" y="6650101"/>
                    <a:pt x="6650101" y="8568182"/>
                    <a:pt x="4284091" y="8568182"/>
                  </a:cubicBezTo>
                  <a:lnTo>
                    <a:pt x="4284091" y="8551290"/>
                  </a:lnTo>
                  <a:lnTo>
                    <a:pt x="4284091" y="8568182"/>
                  </a:lnTo>
                  <a:cubicBezTo>
                    <a:pt x="1918081" y="8568309"/>
                    <a:pt x="0" y="6650228"/>
                    <a:pt x="0" y="4284091"/>
                  </a:cubicBezTo>
                  <a:lnTo>
                    <a:pt x="16891" y="4284091"/>
                  </a:lnTo>
                  <a:lnTo>
                    <a:pt x="33909" y="4284091"/>
                  </a:lnTo>
                  <a:lnTo>
                    <a:pt x="16891" y="4284091"/>
                  </a:lnTo>
                  <a:lnTo>
                    <a:pt x="0" y="4284091"/>
                  </a:lnTo>
                  <a:moveTo>
                    <a:pt x="33909" y="4284091"/>
                  </a:moveTo>
                  <a:cubicBezTo>
                    <a:pt x="33909" y="4293489"/>
                    <a:pt x="26289" y="4300982"/>
                    <a:pt x="17018" y="4300982"/>
                  </a:cubicBezTo>
                  <a:cubicBezTo>
                    <a:pt x="7747" y="4300982"/>
                    <a:pt x="0" y="4293489"/>
                    <a:pt x="0" y="4284091"/>
                  </a:cubicBezTo>
                  <a:cubicBezTo>
                    <a:pt x="0" y="4274693"/>
                    <a:pt x="7620" y="4267200"/>
                    <a:pt x="16891" y="4267200"/>
                  </a:cubicBezTo>
                  <a:cubicBezTo>
                    <a:pt x="26162" y="4267200"/>
                    <a:pt x="33782" y="4274820"/>
                    <a:pt x="33782" y="4284091"/>
                  </a:cubicBezTo>
                  <a:cubicBezTo>
                    <a:pt x="33909" y="6631432"/>
                    <a:pt x="1936750" y="8534400"/>
                    <a:pt x="4284091" y="8534400"/>
                  </a:cubicBezTo>
                  <a:cubicBezTo>
                    <a:pt x="6631432" y="8534400"/>
                    <a:pt x="8534400" y="6631432"/>
                    <a:pt x="8534400" y="4284091"/>
                  </a:cubicBezTo>
                  <a:cubicBezTo>
                    <a:pt x="8534400" y="1936750"/>
                    <a:pt x="6631432" y="33909"/>
                    <a:pt x="4284091" y="33909"/>
                  </a:cubicBezTo>
                  <a:lnTo>
                    <a:pt x="4284091" y="16891"/>
                  </a:lnTo>
                  <a:lnTo>
                    <a:pt x="4284091" y="33909"/>
                  </a:lnTo>
                  <a:cubicBezTo>
                    <a:pt x="1936750" y="33909"/>
                    <a:pt x="33909" y="1936750"/>
                    <a:pt x="33909" y="4284091"/>
                  </a:cubicBezTo>
                  <a:close/>
                </a:path>
              </a:pathLst>
            </a:custGeom>
            <a:solidFill>
              <a:srgbClr val="1EB8D0">
                <a:alpha val="1961"/>
              </a:srgbClr>
            </a:solidFill>
          </p:spPr>
        </p:sp>
      </p:grpSp>
      <p:grpSp>
        <p:nvGrpSpPr>
          <p:cNvPr name="Group 8" id="8"/>
          <p:cNvGrpSpPr/>
          <p:nvPr/>
        </p:nvGrpSpPr>
        <p:grpSpPr>
          <a:xfrm rot="0">
            <a:off x="914400" y="329184"/>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FFFFFF"/>
                  </a:solidFill>
                  <a:latin typeface="Calibri (MS) Bold"/>
                  <a:ea typeface="Calibri (MS) Bold"/>
                  <a:cs typeface="Calibri (MS) Bold"/>
                  <a:sym typeface="Calibri (MS) Bold"/>
                </a:rPr>
                <a:t>Kesimpulan</a:t>
              </a:r>
            </a:p>
          </p:txBody>
        </p:sp>
      </p:grpSp>
      <p:grpSp>
        <p:nvGrpSpPr>
          <p:cNvPr name="Group 11" id="11"/>
          <p:cNvGrpSpPr/>
          <p:nvPr/>
        </p:nvGrpSpPr>
        <p:grpSpPr>
          <a:xfrm rot="0">
            <a:off x="914400" y="1426464"/>
            <a:ext cx="16459200" cy="694944"/>
            <a:chOff x="0" y="0"/>
            <a:chExt cx="21945600" cy="926592"/>
          </a:xfrm>
        </p:grpSpPr>
        <p:sp>
          <p:nvSpPr>
            <p:cNvPr name="Freeform 12" id="12"/>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2">
                <a:alphaModFix amt="0"/>
              </a:blip>
              <a:stretch>
                <a:fillRect l="0" t="-411487" r="0" b="-411487"/>
              </a:stretch>
            </a:blipFill>
          </p:spPr>
        </p:sp>
        <p:sp>
          <p:nvSpPr>
            <p:cNvPr name="TextBox 13" id="13"/>
            <p:cNvSpPr txBox="true"/>
            <p:nvPr/>
          </p:nvSpPr>
          <p:spPr>
            <a:xfrm>
              <a:off x="0" y="-38100"/>
              <a:ext cx="21945600" cy="964692"/>
            </a:xfrm>
            <a:prstGeom prst="rect">
              <a:avLst/>
            </a:prstGeom>
          </p:spPr>
          <p:txBody>
            <a:bodyPr anchor="ctr" rtlCol="false" tIns="0" lIns="0" bIns="0" rIns="0"/>
            <a:lstStyle/>
            <a:p>
              <a:pPr algn="l">
                <a:lnSpc>
                  <a:spcPts val="2879"/>
                </a:lnSpc>
              </a:pPr>
              <a:r>
                <a:rPr lang="en-US" sz="2400" i="true">
                  <a:solidFill>
                    <a:srgbClr val="7FB3C8"/>
                  </a:solidFill>
                  <a:latin typeface="Calibri (MS) Italics"/>
                  <a:ea typeface="Calibri (MS) Italics"/>
                  <a:cs typeface="Calibri (MS) Italics"/>
                  <a:sym typeface="Calibri (MS) Italics"/>
                </a:rPr>
                <a:t>Dataset Iklim Harian BMKG Stasiun Meteorologi Juanda terbukti memenuhi seluruh karakteristik 5V Big Data.</a:t>
              </a:r>
            </a:p>
          </p:txBody>
        </p:sp>
      </p:grpSp>
      <p:grpSp>
        <p:nvGrpSpPr>
          <p:cNvPr name="Group 14" id="14"/>
          <p:cNvGrpSpPr/>
          <p:nvPr/>
        </p:nvGrpSpPr>
        <p:grpSpPr>
          <a:xfrm rot="0">
            <a:off x="904237" y="2330701"/>
            <a:ext cx="16479517" cy="1337053"/>
            <a:chOff x="0" y="0"/>
            <a:chExt cx="21972689" cy="1782737"/>
          </a:xfrm>
        </p:grpSpPr>
        <p:sp>
          <p:nvSpPr>
            <p:cNvPr name="Freeform 15" id="15"/>
            <p:cNvSpPr/>
            <p:nvPr/>
          </p:nvSpPr>
          <p:spPr>
            <a:xfrm flipH="false" flipV="false" rot="0">
              <a:off x="13589" y="13589"/>
              <a:ext cx="21945601" cy="1755648"/>
            </a:xfrm>
            <a:custGeom>
              <a:avLst/>
              <a:gdLst/>
              <a:ahLst/>
              <a:cxnLst/>
              <a:rect r="r" b="b" t="t" l="l"/>
              <a:pathLst>
                <a:path h="1755648" w="21945601">
                  <a:moveTo>
                    <a:pt x="0" y="0"/>
                  </a:moveTo>
                  <a:lnTo>
                    <a:pt x="21945601" y="0"/>
                  </a:lnTo>
                  <a:lnTo>
                    <a:pt x="21945601" y="1755648"/>
                  </a:lnTo>
                  <a:lnTo>
                    <a:pt x="0" y="1755648"/>
                  </a:lnTo>
                  <a:close/>
                </a:path>
              </a:pathLst>
            </a:custGeom>
            <a:solidFill>
              <a:srgbClr val="112244"/>
            </a:solidFill>
          </p:spPr>
        </p:sp>
        <p:sp>
          <p:nvSpPr>
            <p:cNvPr name="Freeform 16" id="16"/>
            <p:cNvSpPr/>
            <p:nvPr/>
          </p:nvSpPr>
          <p:spPr>
            <a:xfrm flipH="false" flipV="false" rot="0">
              <a:off x="0" y="0"/>
              <a:ext cx="21972778" cy="1782826"/>
            </a:xfrm>
            <a:custGeom>
              <a:avLst/>
              <a:gdLst/>
              <a:ahLst/>
              <a:cxnLst/>
              <a:rect r="r" b="b" t="t" l="l"/>
              <a:pathLst>
                <a:path h="1782826" w="21972778">
                  <a:moveTo>
                    <a:pt x="13589" y="0"/>
                  </a:moveTo>
                  <a:lnTo>
                    <a:pt x="21959190" y="0"/>
                  </a:lnTo>
                  <a:cubicBezTo>
                    <a:pt x="21966682" y="0"/>
                    <a:pt x="21972778" y="6096"/>
                    <a:pt x="21972778" y="13589"/>
                  </a:cubicBezTo>
                  <a:lnTo>
                    <a:pt x="21972778" y="1769237"/>
                  </a:lnTo>
                  <a:cubicBezTo>
                    <a:pt x="21972778" y="1776730"/>
                    <a:pt x="21966682" y="1782826"/>
                    <a:pt x="21959190" y="1782826"/>
                  </a:cubicBezTo>
                  <a:lnTo>
                    <a:pt x="13589" y="1782826"/>
                  </a:lnTo>
                  <a:cubicBezTo>
                    <a:pt x="6096" y="1782826"/>
                    <a:pt x="0" y="1776730"/>
                    <a:pt x="0" y="1769237"/>
                  </a:cubicBezTo>
                  <a:lnTo>
                    <a:pt x="0" y="13589"/>
                  </a:lnTo>
                  <a:cubicBezTo>
                    <a:pt x="0" y="6096"/>
                    <a:pt x="6096" y="0"/>
                    <a:pt x="13589" y="0"/>
                  </a:cubicBezTo>
                  <a:moveTo>
                    <a:pt x="13589" y="27051"/>
                  </a:moveTo>
                  <a:lnTo>
                    <a:pt x="13589" y="13589"/>
                  </a:lnTo>
                  <a:lnTo>
                    <a:pt x="27051" y="13589"/>
                  </a:lnTo>
                  <a:lnTo>
                    <a:pt x="27051" y="1769237"/>
                  </a:lnTo>
                  <a:lnTo>
                    <a:pt x="13589" y="1769237"/>
                  </a:lnTo>
                  <a:lnTo>
                    <a:pt x="13589" y="1755648"/>
                  </a:lnTo>
                  <a:lnTo>
                    <a:pt x="21959190" y="1755648"/>
                  </a:lnTo>
                  <a:lnTo>
                    <a:pt x="21959190" y="1769237"/>
                  </a:lnTo>
                  <a:lnTo>
                    <a:pt x="21945600" y="1769237"/>
                  </a:lnTo>
                  <a:lnTo>
                    <a:pt x="21945600" y="13589"/>
                  </a:lnTo>
                  <a:lnTo>
                    <a:pt x="21959190" y="13589"/>
                  </a:lnTo>
                  <a:lnTo>
                    <a:pt x="21959190" y="27051"/>
                  </a:lnTo>
                  <a:lnTo>
                    <a:pt x="13589" y="27051"/>
                  </a:lnTo>
                  <a:close/>
                </a:path>
              </a:pathLst>
            </a:custGeom>
            <a:solidFill>
              <a:srgbClr val="1EB8D0"/>
            </a:solidFill>
          </p:spPr>
        </p:sp>
      </p:grpSp>
      <p:grpSp>
        <p:nvGrpSpPr>
          <p:cNvPr name="Group 17" id="17"/>
          <p:cNvGrpSpPr/>
          <p:nvPr/>
        </p:nvGrpSpPr>
        <p:grpSpPr>
          <a:xfrm rot="0">
            <a:off x="901703" y="2328167"/>
            <a:ext cx="244859" cy="1342139"/>
            <a:chOff x="0" y="0"/>
            <a:chExt cx="326479" cy="1789519"/>
          </a:xfrm>
        </p:grpSpPr>
        <p:sp>
          <p:nvSpPr>
            <p:cNvPr name="Freeform 18" id="18"/>
            <p:cNvSpPr/>
            <p:nvPr/>
          </p:nvSpPr>
          <p:spPr>
            <a:xfrm flipH="false" flipV="false" rot="0">
              <a:off x="16891" y="16891"/>
              <a:ext cx="292608" cy="1755648"/>
            </a:xfrm>
            <a:custGeom>
              <a:avLst/>
              <a:gdLst/>
              <a:ahLst/>
              <a:cxnLst/>
              <a:rect r="r" b="b" t="t" l="l"/>
              <a:pathLst>
                <a:path h="1755648" w="292608">
                  <a:moveTo>
                    <a:pt x="0" y="0"/>
                  </a:moveTo>
                  <a:lnTo>
                    <a:pt x="292608" y="0"/>
                  </a:lnTo>
                  <a:lnTo>
                    <a:pt x="292608" y="1755648"/>
                  </a:lnTo>
                  <a:lnTo>
                    <a:pt x="0" y="1755648"/>
                  </a:lnTo>
                  <a:close/>
                </a:path>
              </a:pathLst>
            </a:custGeom>
            <a:solidFill>
              <a:srgbClr val="1EB8D0"/>
            </a:solidFill>
          </p:spPr>
        </p:sp>
        <p:sp>
          <p:nvSpPr>
            <p:cNvPr name="Freeform 19" id="19"/>
            <p:cNvSpPr/>
            <p:nvPr/>
          </p:nvSpPr>
          <p:spPr>
            <a:xfrm flipH="false" flipV="false" rot="0">
              <a:off x="0" y="0"/>
              <a:ext cx="326390" cy="1789430"/>
            </a:xfrm>
            <a:custGeom>
              <a:avLst/>
              <a:gdLst/>
              <a:ahLst/>
              <a:cxnLst/>
              <a:rect r="r" b="b" t="t" l="l"/>
              <a:pathLst>
                <a:path h="1789430" w="326390">
                  <a:moveTo>
                    <a:pt x="16891" y="0"/>
                  </a:moveTo>
                  <a:lnTo>
                    <a:pt x="309499" y="0"/>
                  </a:lnTo>
                  <a:cubicBezTo>
                    <a:pt x="318897" y="0"/>
                    <a:pt x="326390" y="7620"/>
                    <a:pt x="326390" y="16891"/>
                  </a:cubicBezTo>
                  <a:lnTo>
                    <a:pt x="326390" y="1772539"/>
                  </a:lnTo>
                  <a:cubicBezTo>
                    <a:pt x="326390" y="1781937"/>
                    <a:pt x="318770" y="1789430"/>
                    <a:pt x="30949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309499" y="1755648"/>
                  </a:lnTo>
                  <a:lnTo>
                    <a:pt x="309499" y="1772539"/>
                  </a:lnTo>
                  <a:lnTo>
                    <a:pt x="292608" y="1772539"/>
                  </a:lnTo>
                  <a:lnTo>
                    <a:pt x="292608" y="16891"/>
                  </a:lnTo>
                  <a:lnTo>
                    <a:pt x="309499" y="16891"/>
                  </a:lnTo>
                  <a:lnTo>
                    <a:pt x="309499" y="33909"/>
                  </a:lnTo>
                  <a:lnTo>
                    <a:pt x="16891" y="33909"/>
                  </a:lnTo>
                  <a:close/>
                </a:path>
              </a:pathLst>
            </a:custGeom>
            <a:solidFill>
              <a:srgbClr val="1EB8D0"/>
            </a:solidFill>
          </p:spPr>
        </p:sp>
      </p:grpSp>
      <p:grpSp>
        <p:nvGrpSpPr>
          <p:cNvPr name="Group 20" id="20"/>
          <p:cNvGrpSpPr/>
          <p:nvPr/>
        </p:nvGrpSpPr>
        <p:grpSpPr>
          <a:xfrm rot="0">
            <a:off x="1267463" y="2547623"/>
            <a:ext cx="2768603" cy="903227"/>
            <a:chOff x="0" y="0"/>
            <a:chExt cx="3691471" cy="1204303"/>
          </a:xfrm>
        </p:grpSpPr>
        <p:sp>
          <p:nvSpPr>
            <p:cNvPr name="Freeform 21" id="21"/>
            <p:cNvSpPr/>
            <p:nvPr/>
          </p:nvSpPr>
          <p:spPr>
            <a:xfrm flipH="false" flipV="false" rot="0">
              <a:off x="16891" y="16891"/>
              <a:ext cx="3657600" cy="1170432"/>
            </a:xfrm>
            <a:custGeom>
              <a:avLst/>
              <a:gdLst/>
              <a:ahLst/>
              <a:cxnLst/>
              <a:rect r="r" b="b" t="t" l="l"/>
              <a:pathLst>
                <a:path h="1170432" w="3657600">
                  <a:moveTo>
                    <a:pt x="0" y="0"/>
                  </a:moveTo>
                  <a:lnTo>
                    <a:pt x="3657600" y="0"/>
                  </a:lnTo>
                  <a:lnTo>
                    <a:pt x="3657600" y="1170432"/>
                  </a:lnTo>
                  <a:lnTo>
                    <a:pt x="0" y="1170432"/>
                  </a:lnTo>
                  <a:close/>
                </a:path>
              </a:pathLst>
            </a:custGeom>
            <a:solidFill>
              <a:srgbClr val="1EB8D0"/>
            </a:solidFill>
          </p:spPr>
        </p:sp>
        <p:sp>
          <p:nvSpPr>
            <p:cNvPr name="Freeform 22" id="22"/>
            <p:cNvSpPr/>
            <p:nvPr/>
          </p:nvSpPr>
          <p:spPr>
            <a:xfrm flipH="false" flipV="false" rot="0">
              <a:off x="0" y="0"/>
              <a:ext cx="3691382" cy="1204216"/>
            </a:xfrm>
            <a:custGeom>
              <a:avLst/>
              <a:gdLst/>
              <a:ahLst/>
              <a:cxnLst/>
              <a:rect r="r" b="b" t="t" l="l"/>
              <a:pathLst>
                <a:path h="1204216" w="3691382">
                  <a:moveTo>
                    <a:pt x="16891" y="0"/>
                  </a:moveTo>
                  <a:lnTo>
                    <a:pt x="3674491" y="0"/>
                  </a:lnTo>
                  <a:cubicBezTo>
                    <a:pt x="3683889" y="0"/>
                    <a:pt x="3691382" y="7620"/>
                    <a:pt x="3691382" y="16891"/>
                  </a:cubicBezTo>
                  <a:lnTo>
                    <a:pt x="3691382" y="1187323"/>
                  </a:lnTo>
                  <a:cubicBezTo>
                    <a:pt x="3691382" y="1196721"/>
                    <a:pt x="3683762" y="1204214"/>
                    <a:pt x="367449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674491" y="1170432"/>
                  </a:lnTo>
                  <a:lnTo>
                    <a:pt x="3674491" y="1187323"/>
                  </a:lnTo>
                  <a:lnTo>
                    <a:pt x="3657600" y="1187323"/>
                  </a:lnTo>
                  <a:lnTo>
                    <a:pt x="3657600" y="16891"/>
                  </a:lnTo>
                  <a:lnTo>
                    <a:pt x="3674491" y="16891"/>
                  </a:lnTo>
                  <a:lnTo>
                    <a:pt x="3674491" y="33909"/>
                  </a:lnTo>
                  <a:lnTo>
                    <a:pt x="16891" y="33909"/>
                  </a:lnTo>
                  <a:close/>
                </a:path>
              </a:pathLst>
            </a:custGeom>
            <a:solidFill>
              <a:srgbClr val="1EB8D0"/>
            </a:solidFill>
          </p:spPr>
        </p:sp>
      </p:grpSp>
      <p:grpSp>
        <p:nvGrpSpPr>
          <p:cNvPr name="Group 23" id="23"/>
          <p:cNvGrpSpPr/>
          <p:nvPr/>
        </p:nvGrpSpPr>
        <p:grpSpPr>
          <a:xfrm rot="0">
            <a:off x="1280160" y="2560320"/>
            <a:ext cx="2743200" cy="877824"/>
            <a:chOff x="0" y="0"/>
            <a:chExt cx="3657600" cy="1170432"/>
          </a:xfrm>
        </p:grpSpPr>
        <p:sp>
          <p:nvSpPr>
            <p:cNvPr name="Freeform 24" id="24"/>
            <p:cNvSpPr/>
            <p:nvPr/>
          </p:nvSpPr>
          <p:spPr>
            <a:xfrm flipH="false" flipV="false" rot="0">
              <a:off x="0" y="0"/>
              <a:ext cx="3657600" cy="1170432"/>
            </a:xfrm>
            <a:custGeom>
              <a:avLst/>
              <a:gdLst/>
              <a:ahLst/>
              <a:cxnLst/>
              <a:rect r="r" b="b" t="t" l="l"/>
              <a:pathLst>
                <a:path h="1170432" w="3657600">
                  <a:moveTo>
                    <a:pt x="0" y="0"/>
                  </a:moveTo>
                  <a:lnTo>
                    <a:pt x="3657600" y="0"/>
                  </a:lnTo>
                  <a:lnTo>
                    <a:pt x="3657600" y="1170432"/>
                  </a:lnTo>
                  <a:lnTo>
                    <a:pt x="0" y="1170432"/>
                  </a:lnTo>
                  <a:close/>
                </a:path>
              </a:pathLst>
            </a:custGeom>
            <a:blipFill>
              <a:blip r:embed="rId2">
                <a:alphaModFix amt="0"/>
              </a:blip>
              <a:stretch>
                <a:fillRect l="0" t="-10890" r="0" b="-10890"/>
              </a:stretch>
            </a:blipFill>
          </p:spPr>
        </p:sp>
        <p:sp>
          <p:nvSpPr>
            <p:cNvPr name="TextBox 25" id="25"/>
            <p:cNvSpPr txBox="true"/>
            <p:nvPr/>
          </p:nvSpPr>
          <p:spPr>
            <a:xfrm>
              <a:off x="0" y="-57150"/>
              <a:ext cx="3657600" cy="122758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Volume</a:t>
              </a:r>
            </a:p>
          </p:txBody>
        </p:sp>
      </p:grpSp>
      <p:grpSp>
        <p:nvGrpSpPr>
          <p:cNvPr name="Group 26" id="26"/>
          <p:cNvGrpSpPr/>
          <p:nvPr/>
        </p:nvGrpSpPr>
        <p:grpSpPr>
          <a:xfrm rot="0">
            <a:off x="4297680" y="2560320"/>
            <a:ext cx="12801600" cy="877824"/>
            <a:chOff x="0" y="0"/>
            <a:chExt cx="17068800" cy="1170432"/>
          </a:xfrm>
        </p:grpSpPr>
        <p:sp>
          <p:nvSpPr>
            <p:cNvPr name="Freeform 27" id="27"/>
            <p:cNvSpPr/>
            <p:nvPr/>
          </p:nvSpPr>
          <p:spPr>
            <a:xfrm flipH="false" flipV="false" rot="0">
              <a:off x="0" y="0"/>
              <a:ext cx="17068800" cy="1170432"/>
            </a:xfrm>
            <a:custGeom>
              <a:avLst/>
              <a:gdLst/>
              <a:ahLst/>
              <a:cxnLst/>
              <a:rect r="r" b="b" t="t" l="l"/>
              <a:pathLst>
                <a:path h="1170432" w="17068800">
                  <a:moveTo>
                    <a:pt x="0" y="0"/>
                  </a:moveTo>
                  <a:lnTo>
                    <a:pt x="17068800" y="0"/>
                  </a:lnTo>
                  <a:lnTo>
                    <a:pt x="17068800" y="1170432"/>
                  </a:lnTo>
                  <a:lnTo>
                    <a:pt x="0" y="1170432"/>
                  </a:lnTo>
                  <a:close/>
                </a:path>
              </a:pathLst>
            </a:custGeom>
            <a:blipFill>
              <a:blip r:embed="rId2">
                <a:alphaModFix amt="0"/>
              </a:blip>
              <a:stretch>
                <a:fillRect l="0" t="-234156" r="0" b="-234156"/>
              </a:stretch>
            </a:blipFill>
          </p:spPr>
        </p:sp>
        <p:sp>
          <p:nvSpPr>
            <p:cNvPr name="TextBox 28" id="28"/>
            <p:cNvSpPr txBox="true"/>
            <p:nvPr/>
          </p:nvSpPr>
          <p:spPr>
            <a:xfrm>
              <a:off x="0" y="-47625"/>
              <a:ext cx="17068800" cy="1218057"/>
            </a:xfrm>
            <a:prstGeom prst="rect">
              <a:avLst/>
            </a:prstGeom>
          </p:spPr>
          <p:txBody>
            <a:bodyPr anchor="ctr" rtlCol="false" tIns="0" lIns="0" bIns="0" rIns="0"/>
            <a:lstStyle/>
            <a:p>
              <a:pPr algn="l">
                <a:lnSpc>
                  <a:spcPts val="2760"/>
                </a:lnSpc>
              </a:pPr>
              <a:r>
                <a:rPr lang="en-US" sz="2300">
                  <a:solidFill>
                    <a:srgbClr val="7FB3C8"/>
                  </a:solidFill>
                  <a:latin typeface="Calibri (MS)"/>
                  <a:ea typeface="Calibri (MS)"/>
                  <a:cs typeface="Calibri (MS)"/>
                  <a:sym typeface="Calibri (MS)"/>
                </a:rPr>
                <a:t>13 file · 365+ baris · 11 kolom — data cukup besar untuk analisis iklim tahunan</a:t>
              </a:r>
            </a:p>
          </p:txBody>
        </p:sp>
      </p:grpSp>
      <p:grpSp>
        <p:nvGrpSpPr>
          <p:cNvPr name="Group 29" id="29"/>
          <p:cNvGrpSpPr/>
          <p:nvPr/>
        </p:nvGrpSpPr>
        <p:grpSpPr>
          <a:xfrm rot="0">
            <a:off x="904237" y="3830317"/>
            <a:ext cx="16479517" cy="1337053"/>
            <a:chOff x="0" y="0"/>
            <a:chExt cx="21972689" cy="1782737"/>
          </a:xfrm>
        </p:grpSpPr>
        <p:sp>
          <p:nvSpPr>
            <p:cNvPr name="Freeform 30" id="30"/>
            <p:cNvSpPr/>
            <p:nvPr/>
          </p:nvSpPr>
          <p:spPr>
            <a:xfrm flipH="false" flipV="false" rot="0">
              <a:off x="13589" y="13589"/>
              <a:ext cx="21945601" cy="1755648"/>
            </a:xfrm>
            <a:custGeom>
              <a:avLst/>
              <a:gdLst/>
              <a:ahLst/>
              <a:cxnLst/>
              <a:rect r="r" b="b" t="t" l="l"/>
              <a:pathLst>
                <a:path h="1755648" w="21945601">
                  <a:moveTo>
                    <a:pt x="0" y="0"/>
                  </a:moveTo>
                  <a:lnTo>
                    <a:pt x="21945601" y="0"/>
                  </a:lnTo>
                  <a:lnTo>
                    <a:pt x="21945601" y="1755648"/>
                  </a:lnTo>
                  <a:lnTo>
                    <a:pt x="0" y="1755648"/>
                  </a:lnTo>
                  <a:close/>
                </a:path>
              </a:pathLst>
            </a:custGeom>
            <a:solidFill>
              <a:srgbClr val="112244"/>
            </a:solidFill>
          </p:spPr>
        </p:sp>
        <p:sp>
          <p:nvSpPr>
            <p:cNvPr name="Freeform 31" id="31"/>
            <p:cNvSpPr/>
            <p:nvPr/>
          </p:nvSpPr>
          <p:spPr>
            <a:xfrm flipH="false" flipV="false" rot="0">
              <a:off x="0" y="0"/>
              <a:ext cx="21972778" cy="1782826"/>
            </a:xfrm>
            <a:custGeom>
              <a:avLst/>
              <a:gdLst/>
              <a:ahLst/>
              <a:cxnLst/>
              <a:rect r="r" b="b" t="t" l="l"/>
              <a:pathLst>
                <a:path h="1782826" w="21972778">
                  <a:moveTo>
                    <a:pt x="13589" y="0"/>
                  </a:moveTo>
                  <a:lnTo>
                    <a:pt x="21959190" y="0"/>
                  </a:lnTo>
                  <a:cubicBezTo>
                    <a:pt x="21966682" y="0"/>
                    <a:pt x="21972778" y="6096"/>
                    <a:pt x="21972778" y="13589"/>
                  </a:cubicBezTo>
                  <a:lnTo>
                    <a:pt x="21972778" y="1769237"/>
                  </a:lnTo>
                  <a:cubicBezTo>
                    <a:pt x="21972778" y="1776730"/>
                    <a:pt x="21966682" y="1782826"/>
                    <a:pt x="21959190" y="1782826"/>
                  </a:cubicBezTo>
                  <a:lnTo>
                    <a:pt x="13589" y="1782826"/>
                  </a:lnTo>
                  <a:cubicBezTo>
                    <a:pt x="6096" y="1782826"/>
                    <a:pt x="0" y="1776730"/>
                    <a:pt x="0" y="1769237"/>
                  </a:cubicBezTo>
                  <a:lnTo>
                    <a:pt x="0" y="13589"/>
                  </a:lnTo>
                  <a:cubicBezTo>
                    <a:pt x="0" y="6096"/>
                    <a:pt x="6096" y="0"/>
                    <a:pt x="13589" y="0"/>
                  </a:cubicBezTo>
                  <a:moveTo>
                    <a:pt x="13589" y="27051"/>
                  </a:moveTo>
                  <a:lnTo>
                    <a:pt x="13589" y="13589"/>
                  </a:lnTo>
                  <a:lnTo>
                    <a:pt x="27051" y="13589"/>
                  </a:lnTo>
                  <a:lnTo>
                    <a:pt x="27051" y="1769237"/>
                  </a:lnTo>
                  <a:lnTo>
                    <a:pt x="13589" y="1769237"/>
                  </a:lnTo>
                  <a:lnTo>
                    <a:pt x="13589" y="1755648"/>
                  </a:lnTo>
                  <a:lnTo>
                    <a:pt x="21959190" y="1755648"/>
                  </a:lnTo>
                  <a:lnTo>
                    <a:pt x="21959190" y="1769237"/>
                  </a:lnTo>
                  <a:lnTo>
                    <a:pt x="21945600" y="1769237"/>
                  </a:lnTo>
                  <a:lnTo>
                    <a:pt x="21945600" y="13589"/>
                  </a:lnTo>
                  <a:lnTo>
                    <a:pt x="21959190" y="13589"/>
                  </a:lnTo>
                  <a:lnTo>
                    <a:pt x="21959190" y="27051"/>
                  </a:lnTo>
                  <a:lnTo>
                    <a:pt x="13589" y="27051"/>
                  </a:lnTo>
                  <a:close/>
                </a:path>
              </a:pathLst>
            </a:custGeom>
            <a:solidFill>
              <a:srgbClr val="F4A261"/>
            </a:solidFill>
          </p:spPr>
        </p:sp>
      </p:grpSp>
      <p:grpSp>
        <p:nvGrpSpPr>
          <p:cNvPr name="Group 32" id="32"/>
          <p:cNvGrpSpPr/>
          <p:nvPr/>
        </p:nvGrpSpPr>
        <p:grpSpPr>
          <a:xfrm rot="0">
            <a:off x="901703" y="3827783"/>
            <a:ext cx="244859" cy="1342139"/>
            <a:chOff x="0" y="0"/>
            <a:chExt cx="326479" cy="1789519"/>
          </a:xfrm>
        </p:grpSpPr>
        <p:sp>
          <p:nvSpPr>
            <p:cNvPr name="Freeform 33" id="33"/>
            <p:cNvSpPr/>
            <p:nvPr/>
          </p:nvSpPr>
          <p:spPr>
            <a:xfrm flipH="false" flipV="false" rot="0">
              <a:off x="16891" y="16891"/>
              <a:ext cx="292608" cy="1755648"/>
            </a:xfrm>
            <a:custGeom>
              <a:avLst/>
              <a:gdLst/>
              <a:ahLst/>
              <a:cxnLst/>
              <a:rect r="r" b="b" t="t" l="l"/>
              <a:pathLst>
                <a:path h="1755648" w="292608">
                  <a:moveTo>
                    <a:pt x="0" y="0"/>
                  </a:moveTo>
                  <a:lnTo>
                    <a:pt x="292608" y="0"/>
                  </a:lnTo>
                  <a:lnTo>
                    <a:pt x="292608" y="1755648"/>
                  </a:lnTo>
                  <a:lnTo>
                    <a:pt x="0" y="1755648"/>
                  </a:lnTo>
                  <a:close/>
                </a:path>
              </a:pathLst>
            </a:custGeom>
            <a:solidFill>
              <a:srgbClr val="F4A261"/>
            </a:solidFill>
          </p:spPr>
        </p:sp>
        <p:sp>
          <p:nvSpPr>
            <p:cNvPr name="Freeform 34" id="34"/>
            <p:cNvSpPr/>
            <p:nvPr/>
          </p:nvSpPr>
          <p:spPr>
            <a:xfrm flipH="false" flipV="false" rot="0">
              <a:off x="0" y="0"/>
              <a:ext cx="326390" cy="1789430"/>
            </a:xfrm>
            <a:custGeom>
              <a:avLst/>
              <a:gdLst/>
              <a:ahLst/>
              <a:cxnLst/>
              <a:rect r="r" b="b" t="t" l="l"/>
              <a:pathLst>
                <a:path h="1789430" w="326390">
                  <a:moveTo>
                    <a:pt x="16891" y="0"/>
                  </a:moveTo>
                  <a:lnTo>
                    <a:pt x="309499" y="0"/>
                  </a:lnTo>
                  <a:cubicBezTo>
                    <a:pt x="318897" y="0"/>
                    <a:pt x="326390" y="7620"/>
                    <a:pt x="326390" y="16891"/>
                  </a:cubicBezTo>
                  <a:lnTo>
                    <a:pt x="326390" y="1772539"/>
                  </a:lnTo>
                  <a:cubicBezTo>
                    <a:pt x="326390" y="1781937"/>
                    <a:pt x="318770" y="1789430"/>
                    <a:pt x="30949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309499" y="1755648"/>
                  </a:lnTo>
                  <a:lnTo>
                    <a:pt x="309499" y="1772539"/>
                  </a:lnTo>
                  <a:lnTo>
                    <a:pt x="292608" y="1772539"/>
                  </a:lnTo>
                  <a:lnTo>
                    <a:pt x="292608" y="16891"/>
                  </a:lnTo>
                  <a:lnTo>
                    <a:pt x="309499" y="16891"/>
                  </a:lnTo>
                  <a:lnTo>
                    <a:pt x="309499" y="33909"/>
                  </a:lnTo>
                  <a:lnTo>
                    <a:pt x="16891" y="33909"/>
                  </a:lnTo>
                  <a:close/>
                </a:path>
              </a:pathLst>
            </a:custGeom>
            <a:solidFill>
              <a:srgbClr val="F4A261"/>
            </a:solidFill>
          </p:spPr>
        </p:sp>
      </p:grpSp>
      <p:grpSp>
        <p:nvGrpSpPr>
          <p:cNvPr name="Group 35" id="35"/>
          <p:cNvGrpSpPr/>
          <p:nvPr/>
        </p:nvGrpSpPr>
        <p:grpSpPr>
          <a:xfrm rot="0">
            <a:off x="1267463" y="4047239"/>
            <a:ext cx="2768603" cy="903227"/>
            <a:chOff x="0" y="0"/>
            <a:chExt cx="3691471" cy="1204303"/>
          </a:xfrm>
        </p:grpSpPr>
        <p:sp>
          <p:nvSpPr>
            <p:cNvPr name="Freeform 36" id="36"/>
            <p:cNvSpPr/>
            <p:nvPr/>
          </p:nvSpPr>
          <p:spPr>
            <a:xfrm flipH="false" flipV="false" rot="0">
              <a:off x="16891" y="16891"/>
              <a:ext cx="3657600" cy="1170432"/>
            </a:xfrm>
            <a:custGeom>
              <a:avLst/>
              <a:gdLst/>
              <a:ahLst/>
              <a:cxnLst/>
              <a:rect r="r" b="b" t="t" l="l"/>
              <a:pathLst>
                <a:path h="1170432" w="3657600">
                  <a:moveTo>
                    <a:pt x="0" y="0"/>
                  </a:moveTo>
                  <a:lnTo>
                    <a:pt x="3657600" y="0"/>
                  </a:lnTo>
                  <a:lnTo>
                    <a:pt x="3657600" y="1170432"/>
                  </a:lnTo>
                  <a:lnTo>
                    <a:pt x="0" y="1170432"/>
                  </a:lnTo>
                  <a:close/>
                </a:path>
              </a:pathLst>
            </a:custGeom>
            <a:solidFill>
              <a:srgbClr val="F4A261"/>
            </a:solidFill>
          </p:spPr>
        </p:sp>
        <p:sp>
          <p:nvSpPr>
            <p:cNvPr name="Freeform 37" id="37"/>
            <p:cNvSpPr/>
            <p:nvPr/>
          </p:nvSpPr>
          <p:spPr>
            <a:xfrm flipH="false" flipV="false" rot="0">
              <a:off x="0" y="0"/>
              <a:ext cx="3691382" cy="1204216"/>
            </a:xfrm>
            <a:custGeom>
              <a:avLst/>
              <a:gdLst/>
              <a:ahLst/>
              <a:cxnLst/>
              <a:rect r="r" b="b" t="t" l="l"/>
              <a:pathLst>
                <a:path h="1204216" w="3691382">
                  <a:moveTo>
                    <a:pt x="16891" y="0"/>
                  </a:moveTo>
                  <a:lnTo>
                    <a:pt x="3674491" y="0"/>
                  </a:lnTo>
                  <a:cubicBezTo>
                    <a:pt x="3683889" y="0"/>
                    <a:pt x="3691382" y="7620"/>
                    <a:pt x="3691382" y="16891"/>
                  </a:cubicBezTo>
                  <a:lnTo>
                    <a:pt x="3691382" y="1187323"/>
                  </a:lnTo>
                  <a:cubicBezTo>
                    <a:pt x="3691382" y="1196721"/>
                    <a:pt x="3683762" y="1204214"/>
                    <a:pt x="367449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674491" y="1170432"/>
                  </a:lnTo>
                  <a:lnTo>
                    <a:pt x="3674491" y="1187323"/>
                  </a:lnTo>
                  <a:lnTo>
                    <a:pt x="3657600" y="1187323"/>
                  </a:lnTo>
                  <a:lnTo>
                    <a:pt x="3657600" y="16891"/>
                  </a:lnTo>
                  <a:lnTo>
                    <a:pt x="3674491" y="16891"/>
                  </a:lnTo>
                  <a:lnTo>
                    <a:pt x="3674491" y="33909"/>
                  </a:lnTo>
                  <a:lnTo>
                    <a:pt x="16891" y="33909"/>
                  </a:lnTo>
                  <a:close/>
                </a:path>
              </a:pathLst>
            </a:custGeom>
            <a:solidFill>
              <a:srgbClr val="F4A261"/>
            </a:solidFill>
          </p:spPr>
        </p:sp>
      </p:grpSp>
      <p:grpSp>
        <p:nvGrpSpPr>
          <p:cNvPr name="Group 38" id="38"/>
          <p:cNvGrpSpPr/>
          <p:nvPr/>
        </p:nvGrpSpPr>
        <p:grpSpPr>
          <a:xfrm rot="0">
            <a:off x="1280160" y="4059936"/>
            <a:ext cx="2743200" cy="877824"/>
            <a:chOff x="0" y="0"/>
            <a:chExt cx="3657600" cy="1170432"/>
          </a:xfrm>
        </p:grpSpPr>
        <p:sp>
          <p:nvSpPr>
            <p:cNvPr name="Freeform 39" id="39"/>
            <p:cNvSpPr/>
            <p:nvPr/>
          </p:nvSpPr>
          <p:spPr>
            <a:xfrm flipH="false" flipV="false" rot="0">
              <a:off x="0" y="0"/>
              <a:ext cx="3657600" cy="1170432"/>
            </a:xfrm>
            <a:custGeom>
              <a:avLst/>
              <a:gdLst/>
              <a:ahLst/>
              <a:cxnLst/>
              <a:rect r="r" b="b" t="t" l="l"/>
              <a:pathLst>
                <a:path h="1170432" w="3657600">
                  <a:moveTo>
                    <a:pt x="0" y="0"/>
                  </a:moveTo>
                  <a:lnTo>
                    <a:pt x="3657600" y="0"/>
                  </a:lnTo>
                  <a:lnTo>
                    <a:pt x="3657600" y="1170432"/>
                  </a:lnTo>
                  <a:lnTo>
                    <a:pt x="0" y="1170432"/>
                  </a:lnTo>
                  <a:close/>
                </a:path>
              </a:pathLst>
            </a:custGeom>
            <a:blipFill>
              <a:blip r:embed="rId2">
                <a:alphaModFix amt="0"/>
              </a:blip>
              <a:stretch>
                <a:fillRect l="0" t="-10890" r="0" b="-10890"/>
              </a:stretch>
            </a:blipFill>
          </p:spPr>
        </p:sp>
        <p:sp>
          <p:nvSpPr>
            <p:cNvPr name="TextBox 40" id="40"/>
            <p:cNvSpPr txBox="true"/>
            <p:nvPr/>
          </p:nvSpPr>
          <p:spPr>
            <a:xfrm>
              <a:off x="0" y="-57150"/>
              <a:ext cx="3657600" cy="122758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Velocity</a:t>
              </a:r>
            </a:p>
          </p:txBody>
        </p:sp>
      </p:grpSp>
      <p:grpSp>
        <p:nvGrpSpPr>
          <p:cNvPr name="Group 41" id="41"/>
          <p:cNvGrpSpPr/>
          <p:nvPr/>
        </p:nvGrpSpPr>
        <p:grpSpPr>
          <a:xfrm rot="0">
            <a:off x="4297680" y="4059936"/>
            <a:ext cx="12801600" cy="877824"/>
            <a:chOff x="0" y="0"/>
            <a:chExt cx="17068800" cy="1170432"/>
          </a:xfrm>
        </p:grpSpPr>
        <p:sp>
          <p:nvSpPr>
            <p:cNvPr name="Freeform 42" id="42"/>
            <p:cNvSpPr/>
            <p:nvPr/>
          </p:nvSpPr>
          <p:spPr>
            <a:xfrm flipH="false" flipV="false" rot="0">
              <a:off x="0" y="0"/>
              <a:ext cx="17068800" cy="1170432"/>
            </a:xfrm>
            <a:custGeom>
              <a:avLst/>
              <a:gdLst/>
              <a:ahLst/>
              <a:cxnLst/>
              <a:rect r="r" b="b" t="t" l="l"/>
              <a:pathLst>
                <a:path h="1170432" w="17068800">
                  <a:moveTo>
                    <a:pt x="0" y="0"/>
                  </a:moveTo>
                  <a:lnTo>
                    <a:pt x="17068800" y="0"/>
                  </a:lnTo>
                  <a:lnTo>
                    <a:pt x="17068800" y="1170432"/>
                  </a:lnTo>
                  <a:lnTo>
                    <a:pt x="0" y="1170432"/>
                  </a:lnTo>
                  <a:close/>
                </a:path>
              </a:pathLst>
            </a:custGeom>
            <a:blipFill>
              <a:blip r:embed="rId2">
                <a:alphaModFix amt="0"/>
              </a:blip>
              <a:stretch>
                <a:fillRect l="0" t="-234156" r="0" b="-234156"/>
              </a:stretch>
            </a:blipFill>
          </p:spPr>
        </p:sp>
        <p:sp>
          <p:nvSpPr>
            <p:cNvPr name="TextBox 43" id="43"/>
            <p:cNvSpPr txBox="true"/>
            <p:nvPr/>
          </p:nvSpPr>
          <p:spPr>
            <a:xfrm>
              <a:off x="0" y="-47625"/>
              <a:ext cx="17068800" cy="1218057"/>
            </a:xfrm>
            <a:prstGeom prst="rect">
              <a:avLst/>
            </a:prstGeom>
          </p:spPr>
          <p:txBody>
            <a:bodyPr anchor="ctr" rtlCol="false" tIns="0" lIns="0" bIns="0" rIns="0"/>
            <a:lstStyle/>
            <a:p>
              <a:pPr algn="l">
                <a:lnSpc>
                  <a:spcPts val="2760"/>
                </a:lnSpc>
              </a:pPr>
              <a:r>
                <a:rPr lang="en-US" sz="2300">
                  <a:solidFill>
                    <a:srgbClr val="7FB3C8"/>
                  </a:solidFill>
                  <a:latin typeface="Calibri (MS)"/>
                  <a:ea typeface="Calibri (MS)"/>
                  <a:cs typeface="Calibri (MS)"/>
                  <a:sym typeface="Calibri (MS)"/>
                </a:rPr>
                <a:t>Data direkam otomatis harian oleh sensor BMKG — update rutin konsisten setiap hari</a:t>
              </a:r>
            </a:p>
          </p:txBody>
        </p:sp>
      </p:grpSp>
      <p:grpSp>
        <p:nvGrpSpPr>
          <p:cNvPr name="Group 44" id="44"/>
          <p:cNvGrpSpPr/>
          <p:nvPr/>
        </p:nvGrpSpPr>
        <p:grpSpPr>
          <a:xfrm rot="0">
            <a:off x="904237" y="5329933"/>
            <a:ext cx="16479517" cy="1337053"/>
            <a:chOff x="0" y="0"/>
            <a:chExt cx="21972689" cy="1782737"/>
          </a:xfrm>
        </p:grpSpPr>
        <p:sp>
          <p:nvSpPr>
            <p:cNvPr name="Freeform 45" id="45"/>
            <p:cNvSpPr/>
            <p:nvPr/>
          </p:nvSpPr>
          <p:spPr>
            <a:xfrm flipH="false" flipV="false" rot="0">
              <a:off x="13589" y="13589"/>
              <a:ext cx="21945601" cy="1755648"/>
            </a:xfrm>
            <a:custGeom>
              <a:avLst/>
              <a:gdLst/>
              <a:ahLst/>
              <a:cxnLst/>
              <a:rect r="r" b="b" t="t" l="l"/>
              <a:pathLst>
                <a:path h="1755648" w="21945601">
                  <a:moveTo>
                    <a:pt x="0" y="0"/>
                  </a:moveTo>
                  <a:lnTo>
                    <a:pt x="21945601" y="0"/>
                  </a:lnTo>
                  <a:lnTo>
                    <a:pt x="21945601" y="1755648"/>
                  </a:lnTo>
                  <a:lnTo>
                    <a:pt x="0" y="1755648"/>
                  </a:lnTo>
                  <a:close/>
                </a:path>
              </a:pathLst>
            </a:custGeom>
            <a:solidFill>
              <a:srgbClr val="112244"/>
            </a:solidFill>
          </p:spPr>
        </p:sp>
        <p:sp>
          <p:nvSpPr>
            <p:cNvPr name="Freeform 46" id="46"/>
            <p:cNvSpPr/>
            <p:nvPr/>
          </p:nvSpPr>
          <p:spPr>
            <a:xfrm flipH="false" flipV="false" rot="0">
              <a:off x="0" y="0"/>
              <a:ext cx="21972778" cy="1782826"/>
            </a:xfrm>
            <a:custGeom>
              <a:avLst/>
              <a:gdLst/>
              <a:ahLst/>
              <a:cxnLst/>
              <a:rect r="r" b="b" t="t" l="l"/>
              <a:pathLst>
                <a:path h="1782826" w="21972778">
                  <a:moveTo>
                    <a:pt x="13589" y="0"/>
                  </a:moveTo>
                  <a:lnTo>
                    <a:pt x="21959190" y="0"/>
                  </a:lnTo>
                  <a:cubicBezTo>
                    <a:pt x="21966682" y="0"/>
                    <a:pt x="21972778" y="6096"/>
                    <a:pt x="21972778" y="13589"/>
                  </a:cubicBezTo>
                  <a:lnTo>
                    <a:pt x="21972778" y="1769237"/>
                  </a:lnTo>
                  <a:cubicBezTo>
                    <a:pt x="21972778" y="1776730"/>
                    <a:pt x="21966682" y="1782826"/>
                    <a:pt x="21959190" y="1782826"/>
                  </a:cubicBezTo>
                  <a:lnTo>
                    <a:pt x="13589" y="1782826"/>
                  </a:lnTo>
                  <a:cubicBezTo>
                    <a:pt x="6096" y="1782826"/>
                    <a:pt x="0" y="1776730"/>
                    <a:pt x="0" y="1769237"/>
                  </a:cubicBezTo>
                  <a:lnTo>
                    <a:pt x="0" y="13589"/>
                  </a:lnTo>
                  <a:cubicBezTo>
                    <a:pt x="0" y="6096"/>
                    <a:pt x="6096" y="0"/>
                    <a:pt x="13589" y="0"/>
                  </a:cubicBezTo>
                  <a:moveTo>
                    <a:pt x="13589" y="27051"/>
                  </a:moveTo>
                  <a:lnTo>
                    <a:pt x="13589" y="13589"/>
                  </a:lnTo>
                  <a:lnTo>
                    <a:pt x="27051" y="13589"/>
                  </a:lnTo>
                  <a:lnTo>
                    <a:pt x="27051" y="1769237"/>
                  </a:lnTo>
                  <a:lnTo>
                    <a:pt x="13589" y="1769237"/>
                  </a:lnTo>
                  <a:lnTo>
                    <a:pt x="13589" y="1755648"/>
                  </a:lnTo>
                  <a:lnTo>
                    <a:pt x="21959190" y="1755648"/>
                  </a:lnTo>
                  <a:lnTo>
                    <a:pt x="21959190" y="1769237"/>
                  </a:lnTo>
                  <a:lnTo>
                    <a:pt x="21945600" y="1769237"/>
                  </a:lnTo>
                  <a:lnTo>
                    <a:pt x="21945600" y="13589"/>
                  </a:lnTo>
                  <a:lnTo>
                    <a:pt x="21959190" y="13589"/>
                  </a:lnTo>
                  <a:lnTo>
                    <a:pt x="21959190" y="27051"/>
                  </a:lnTo>
                  <a:lnTo>
                    <a:pt x="13589" y="27051"/>
                  </a:lnTo>
                  <a:close/>
                </a:path>
              </a:pathLst>
            </a:custGeom>
            <a:solidFill>
              <a:srgbClr val="9B59B6"/>
            </a:solidFill>
          </p:spPr>
        </p:sp>
      </p:grpSp>
      <p:grpSp>
        <p:nvGrpSpPr>
          <p:cNvPr name="Group 47" id="47"/>
          <p:cNvGrpSpPr/>
          <p:nvPr/>
        </p:nvGrpSpPr>
        <p:grpSpPr>
          <a:xfrm rot="0">
            <a:off x="901703" y="5327399"/>
            <a:ext cx="244859" cy="1342139"/>
            <a:chOff x="0" y="0"/>
            <a:chExt cx="326479" cy="1789519"/>
          </a:xfrm>
        </p:grpSpPr>
        <p:sp>
          <p:nvSpPr>
            <p:cNvPr name="Freeform 48" id="48"/>
            <p:cNvSpPr/>
            <p:nvPr/>
          </p:nvSpPr>
          <p:spPr>
            <a:xfrm flipH="false" flipV="false" rot="0">
              <a:off x="16891" y="16891"/>
              <a:ext cx="292608" cy="1755648"/>
            </a:xfrm>
            <a:custGeom>
              <a:avLst/>
              <a:gdLst/>
              <a:ahLst/>
              <a:cxnLst/>
              <a:rect r="r" b="b" t="t" l="l"/>
              <a:pathLst>
                <a:path h="1755648" w="292608">
                  <a:moveTo>
                    <a:pt x="0" y="0"/>
                  </a:moveTo>
                  <a:lnTo>
                    <a:pt x="292608" y="0"/>
                  </a:lnTo>
                  <a:lnTo>
                    <a:pt x="292608" y="1755648"/>
                  </a:lnTo>
                  <a:lnTo>
                    <a:pt x="0" y="1755648"/>
                  </a:lnTo>
                  <a:close/>
                </a:path>
              </a:pathLst>
            </a:custGeom>
            <a:solidFill>
              <a:srgbClr val="9B59B6"/>
            </a:solidFill>
          </p:spPr>
        </p:sp>
        <p:sp>
          <p:nvSpPr>
            <p:cNvPr name="Freeform 49" id="49"/>
            <p:cNvSpPr/>
            <p:nvPr/>
          </p:nvSpPr>
          <p:spPr>
            <a:xfrm flipH="false" flipV="false" rot="0">
              <a:off x="0" y="0"/>
              <a:ext cx="326390" cy="1789430"/>
            </a:xfrm>
            <a:custGeom>
              <a:avLst/>
              <a:gdLst/>
              <a:ahLst/>
              <a:cxnLst/>
              <a:rect r="r" b="b" t="t" l="l"/>
              <a:pathLst>
                <a:path h="1789430" w="326390">
                  <a:moveTo>
                    <a:pt x="16891" y="0"/>
                  </a:moveTo>
                  <a:lnTo>
                    <a:pt x="309499" y="0"/>
                  </a:lnTo>
                  <a:cubicBezTo>
                    <a:pt x="318897" y="0"/>
                    <a:pt x="326390" y="7620"/>
                    <a:pt x="326390" y="16891"/>
                  </a:cubicBezTo>
                  <a:lnTo>
                    <a:pt x="326390" y="1772539"/>
                  </a:lnTo>
                  <a:cubicBezTo>
                    <a:pt x="326390" y="1781937"/>
                    <a:pt x="318770" y="1789430"/>
                    <a:pt x="30949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309499" y="1755648"/>
                  </a:lnTo>
                  <a:lnTo>
                    <a:pt x="309499" y="1772539"/>
                  </a:lnTo>
                  <a:lnTo>
                    <a:pt x="292608" y="1772539"/>
                  </a:lnTo>
                  <a:lnTo>
                    <a:pt x="292608" y="16891"/>
                  </a:lnTo>
                  <a:lnTo>
                    <a:pt x="309499" y="16891"/>
                  </a:lnTo>
                  <a:lnTo>
                    <a:pt x="309499" y="33909"/>
                  </a:lnTo>
                  <a:lnTo>
                    <a:pt x="16891" y="33909"/>
                  </a:lnTo>
                  <a:close/>
                </a:path>
              </a:pathLst>
            </a:custGeom>
            <a:solidFill>
              <a:srgbClr val="9B59B6"/>
            </a:solidFill>
          </p:spPr>
        </p:sp>
      </p:grpSp>
      <p:grpSp>
        <p:nvGrpSpPr>
          <p:cNvPr name="Group 50" id="50"/>
          <p:cNvGrpSpPr/>
          <p:nvPr/>
        </p:nvGrpSpPr>
        <p:grpSpPr>
          <a:xfrm rot="0">
            <a:off x="1267463" y="5546855"/>
            <a:ext cx="2768603" cy="903227"/>
            <a:chOff x="0" y="0"/>
            <a:chExt cx="3691471" cy="1204303"/>
          </a:xfrm>
        </p:grpSpPr>
        <p:sp>
          <p:nvSpPr>
            <p:cNvPr name="Freeform 51" id="51"/>
            <p:cNvSpPr/>
            <p:nvPr/>
          </p:nvSpPr>
          <p:spPr>
            <a:xfrm flipH="false" flipV="false" rot="0">
              <a:off x="16891" y="16891"/>
              <a:ext cx="3657600" cy="1170432"/>
            </a:xfrm>
            <a:custGeom>
              <a:avLst/>
              <a:gdLst/>
              <a:ahLst/>
              <a:cxnLst/>
              <a:rect r="r" b="b" t="t" l="l"/>
              <a:pathLst>
                <a:path h="1170432" w="3657600">
                  <a:moveTo>
                    <a:pt x="0" y="0"/>
                  </a:moveTo>
                  <a:lnTo>
                    <a:pt x="3657600" y="0"/>
                  </a:lnTo>
                  <a:lnTo>
                    <a:pt x="3657600" y="1170432"/>
                  </a:lnTo>
                  <a:lnTo>
                    <a:pt x="0" y="1170432"/>
                  </a:lnTo>
                  <a:close/>
                </a:path>
              </a:pathLst>
            </a:custGeom>
            <a:solidFill>
              <a:srgbClr val="9B59B6"/>
            </a:solidFill>
          </p:spPr>
        </p:sp>
        <p:sp>
          <p:nvSpPr>
            <p:cNvPr name="Freeform 52" id="52"/>
            <p:cNvSpPr/>
            <p:nvPr/>
          </p:nvSpPr>
          <p:spPr>
            <a:xfrm flipH="false" flipV="false" rot="0">
              <a:off x="0" y="0"/>
              <a:ext cx="3691382" cy="1204216"/>
            </a:xfrm>
            <a:custGeom>
              <a:avLst/>
              <a:gdLst/>
              <a:ahLst/>
              <a:cxnLst/>
              <a:rect r="r" b="b" t="t" l="l"/>
              <a:pathLst>
                <a:path h="1204216" w="3691382">
                  <a:moveTo>
                    <a:pt x="16891" y="0"/>
                  </a:moveTo>
                  <a:lnTo>
                    <a:pt x="3674491" y="0"/>
                  </a:lnTo>
                  <a:cubicBezTo>
                    <a:pt x="3683889" y="0"/>
                    <a:pt x="3691382" y="7620"/>
                    <a:pt x="3691382" y="16891"/>
                  </a:cubicBezTo>
                  <a:lnTo>
                    <a:pt x="3691382" y="1187323"/>
                  </a:lnTo>
                  <a:cubicBezTo>
                    <a:pt x="3691382" y="1196721"/>
                    <a:pt x="3683762" y="1204214"/>
                    <a:pt x="367449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674491" y="1170432"/>
                  </a:lnTo>
                  <a:lnTo>
                    <a:pt x="3674491" y="1187323"/>
                  </a:lnTo>
                  <a:lnTo>
                    <a:pt x="3657600" y="1187323"/>
                  </a:lnTo>
                  <a:lnTo>
                    <a:pt x="3657600" y="16891"/>
                  </a:lnTo>
                  <a:lnTo>
                    <a:pt x="3674491" y="16891"/>
                  </a:lnTo>
                  <a:lnTo>
                    <a:pt x="3674491" y="33909"/>
                  </a:lnTo>
                  <a:lnTo>
                    <a:pt x="16891" y="33909"/>
                  </a:lnTo>
                  <a:close/>
                </a:path>
              </a:pathLst>
            </a:custGeom>
            <a:solidFill>
              <a:srgbClr val="9B59B6"/>
            </a:solidFill>
          </p:spPr>
        </p:sp>
      </p:grpSp>
      <p:grpSp>
        <p:nvGrpSpPr>
          <p:cNvPr name="Group 53" id="53"/>
          <p:cNvGrpSpPr/>
          <p:nvPr/>
        </p:nvGrpSpPr>
        <p:grpSpPr>
          <a:xfrm rot="0">
            <a:off x="1280160" y="5559552"/>
            <a:ext cx="2743200" cy="877824"/>
            <a:chOff x="0" y="0"/>
            <a:chExt cx="3657600" cy="1170432"/>
          </a:xfrm>
        </p:grpSpPr>
        <p:sp>
          <p:nvSpPr>
            <p:cNvPr name="Freeform 54" id="54"/>
            <p:cNvSpPr/>
            <p:nvPr/>
          </p:nvSpPr>
          <p:spPr>
            <a:xfrm flipH="false" flipV="false" rot="0">
              <a:off x="0" y="0"/>
              <a:ext cx="3657600" cy="1170432"/>
            </a:xfrm>
            <a:custGeom>
              <a:avLst/>
              <a:gdLst/>
              <a:ahLst/>
              <a:cxnLst/>
              <a:rect r="r" b="b" t="t" l="l"/>
              <a:pathLst>
                <a:path h="1170432" w="3657600">
                  <a:moveTo>
                    <a:pt x="0" y="0"/>
                  </a:moveTo>
                  <a:lnTo>
                    <a:pt x="3657600" y="0"/>
                  </a:lnTo>
                  <a:lnTo>
                    <a:pt x="3657600" y="1170432"/>
                  </a:lnTo>
                  <a:lnTo>
                    <a:pt x="0" y="1170432"/>
                  </a:lnTo>
                  <a:close/>
                </a:path>
              </a:pathLst>
            </a:custGeom>
            <a:blipFill>
              <a:blip r:embed="rId2">
                <a:alphaModFix amt="0"/>
              </a:blip>
              <a:stretch>
                <a:fillRect l="0" t="-10890" r="0" b="-10890"/>
              </a:stretch>
            </a:blipFill>
          </p:spPr>
        </p:sp>
        <p:sp>
          <p:nvSpPr>
            <p:cNvPr name="TextBox 55" id="55"/>
            <p:cNvSpPr txBox="true"/>
            <p:nvPr/>
          </p:nvSpPr>
          <p:spPr>
            <a:xfrm>
              <a:off x="0" y="-57150"/>
              <a:ext cx="3657600" cy="122758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Variety</a:t>
              </a:r>
            </a:p>
          </p:txBody>
        </p:sp>
      </p:grpSp>
      <p:grpSp>
        <p:nvGrpSpPr>
          <p:cNvPr name="Group 56" id="56"/>
          <p:cNvGrpSpPr/>
          <p:nvPr/>
        </p:nvGrpSpPr>
        <p:grpSpPr>
          <a:xfrm rot="0">
            <a:off x="4297680" y="5559552"/>
            <a:ext cx="12801600" cy="877824"/>
            <a:chOff x="0" y="0"/>
            <a:chExt cx="17068800" cy="1170432"/>
          </a:xfrm>
        </p:grpSpPr>
        <p:sp>
          <p:nvSpPr>
            <p:cNvPr name="Freeform 57" id="57"/>
            <p:cNvSpPr/>
            <p:nvPr/>
          </p:nvSpPr>
          <p:spPr>
            <a:xfrm flipH="false" flipV="false" rot="0">
              <a:off x="0" y="0"/>
              <a:ext cx="17068800" cy="1170432"/>
            </a:xfrm>
            <a:custGeom>
              <a:avLst/>
              <a:gdLst/>
              <a:ahLst/>
              <a:cxnLst/>
              <a:rect r="r" b="b" t="t" l="l"/>
              <a:pathLst>
                <a:path h="1170432" w="17068800">
                  <a:moveTo>
                    <a:pt x="0" y="0"/>
                  </a:moveTo>
                  <a:lnTo>
                    <a:pt x="17068800" y="0"/>
                  </a:lnTo>
                  <a:lnTo>
                    <a:pt x="17068800" y="1170432"/>
                  </a:lnTo>
                  <a:lnTo>
                    <a:pt x="0" y="1170432"/>
                  </a:lnTo>
                  <a:close/>
                </a:path>
              </a:pathLst>
            </a:custGeom>
            <a:blipFill>
              <a:blip r:embed="rId2">
                <a:alphaModFix amt="0"/>
              </a:blip>
              <a:stretch>
                <a:fillRect l="0" t="-234156" r="0" b="-234156"/>
              </a:stretch>
            </a:blipFill>
          </p:spPr>
        </p:sp>
        <p:sp>
          <p:nvSpPr>
            <p:cNvPr name="TextBox 58" id="58"/>
            <p:cNvSpPr txBox="true"/>
            <p:nvPr/>
          </p:nvSpPr>
          <p:spPr>
            <a:xfrm>
              <a:off x="0" y="-47625"/>
              <a:ext cx="17068800" cy="1218057"/>
            </a:xfrm>
            <a:prstGeom prst="rect">
              <a:avLst/>
            </a:prstGeom>
          </p:spPr>
          <p:txBody>
            <a:bodyPr anchor="ctr" rtlCol="false" tIns="0" lIns="0" bIns="0" rIns="0"/>
            <a:lstStyle/>
            <a:p>
              <a:pPr algn="l">
                <a:lnSpc>
                  <a:spcPts val="2760"/>
                </a:lnSpc>
              </a:pPr>
              <a:r>
                <a:rPr lang="en-US" sz="2300">
                  <a:solidFill>
                    <a:srgbClr val="7FB3C8"/>
                  </a:solidFill>
                  <a:latin typeface="Calibri (MS)"/>
                  <a:ea typeface="Calibri (MS)"/>
                  <a:cs typeface="Calibri (MS)"/>
                  <a:sym typeface="Calibri (MS)"/>
                </a:rPr>
                <a:t>3 tipe data berbeda: numerik (9 kolom), teks/kategorik (1), dan datetime (1)</a:t>
              </a:r>
            </a:p>
          </p:txBody>
        </p:sp>
      </p:grpSp>
      <p:grpSp>
        <p:nvGrpSpPr>
          <p:cNvPr name="Group 59" id="59"/>
          <p:cNvGrpSpPr/>
          <p:nvPr/>
        </p:nvGrpSpPr>
        <p:grpSpPr>
          <a:xfrm rot="0">
            <a:off x="904237" y="6829549"/>
            <a:ext cx="16479517" cy="1337053"/>
            <a:chOff x="0" y="0"/>
            <a:chExt cx="21972689" cy="1782737"/>
          </a:xfrm>
        </p:grpSpPr>
        <p:sp>
          <p:nvSpPr>
            <p:cNvPr name="Freeform 60" id="60"/>
            <p:cNvSpPr/>
            <p:nvPr/>
          </p:nvSpPr>
          <p:spPr>
            <a:xfrm flipH="false" flipV="false" rot="0">
              <a:off x="13589" y="13589"/>
              <a:ext cx="21945601" cy="1755648"/>
            </a:xfrm>
            <a:custGeom>
              <a:avLst/>
              <a:gdLst/>
              <a:ahLst/>
              <a:cxnLst/>
              <a:rect r="r" b="b" t="t" l="l"/>
              <a:pathLst>
                <a:path h="1755648" w="21945601">
                  <a:moveTo>
                    <a:pt x="0" y="0"/>
                  </a:moveTo>
                  <a:lnTo>
                    <a:pt x="21945601" y="0"/>
                  </a:lnTo>
                  <a:lnTo>
                    <a:pt x="21945601" y="1755648"/>
                  </a:lnTo>
                  <a:lnTo>
                    <a:pt x="0" y="1755648"/>
                  </a:lnTo>
                  <a:close/>
                </a:path>
              </a:pathLst>
            </a:custGeom>
            <a:solidFill>
              <a:srgbClr val="112244"/>
            </a:solidFill>
          </p:spPr>
        </p:sp>
        <p:sp>
          <p:nvSpPr>
            <p:cNvPr name="Freeform 61" id="61"/>
            <p:cNvSpPr/>
            <p:nvPr/>
          </p:nvSpPr>
          <p:spPr>
            <a:xfrm flipH="false" flipV="false" rot="0">
              <a:off x="0" y="0"/>
              <a:ext cx="21972778" cy="1782826"/>
            </a:xfrm>
            <a:custGeom>
              <a:avLst/>
              <a:gdLst/>
              <a:ahLst/>
              <a:cxnLst/>
              <a:rect r="r" b="b" t="t" l="l"/>
              <a:pathLst>
                <a:path h="1782826" w="21972778">
                  <a:moveTo>
                    <a:pt x="13589" y="0"/>
                  </a:moveTo>
                  <a:lnTo>
                    <a:pt x="21959190" y="0"/>
                  </a:lnTo>
                  <a:cubicBezTo>
                    <a:pt x="21966682" y="0"/>
                    <a:pt x="21972778" y="6096"/>
                    <a:pt x="21972778" y="13589"/>
                  </a:cubicBezTo>
                  <a:lnTo>
                    <a:pt x="21972778" y="1769237"/>
                  </a:lnTo>
                  <a:cubicBezTo>
                    <a:pt x="21972778" y="1776730"/>
                    <a:pt x="21966682" y="1782826"/>
                    <a:pt x="21959190" y="1782826"/>
                  </a:cubicBezTo>
                  <a:lnTo>
                    <a:pt x="13589" y="1782826"/>
                  </a:lnTo>
                  <a:cubicBezTo>
                    <a:pt x="6096" y="1782826"/>
                    <a:pt x="0" y="1776730"/>
                    <a:pt x="0" y="1769237"/>
                  </a:cubicBezTo>
                  <a:lnTo>
                    <a:pt x="0" y="13589"/>
                  </a:lnTo>
                  <a:cubicBezTo>
                    <a:pt x="0" y="6096"/>
                    <a:pt x="6096" y="0"/>
                    <a:pt x="13589" y="0"/>
                  </a:cubicBezTo>
                  <a:moveTo>
                    <a:pt x="13589" y="27051"/>
                  </a:moveTo>
                  <a:lnTo>
                    <a:pt x="13589" y="13589"/>
                  </a:lnTo>
                  <a:lnTo>
                    <a:pt x="27051" y="13589"/>
                  </a:lnTo>
                  <a:lnTo>
                    <a:pt x="27051" y="1769237"/>
                  </a:lnTo>
                  <a:lnTo>
                    <a:pt x="13589" y="1769237"/>
                  </a:lnTo>
                  <a:lnTo>
                    <a:pt x="13589" y="1755648"/>
                  </a:lnTo>
                  <a:lnTo>
                    <a:pt x="21959190" y="1755648"/>
                  </a:lnTo>
                  <a:lnTo>
                    <a:pt x="21959190" y="1769237"/>
                  </a:lnTo>
                  <a:lnTo>
                    <a:pt x="21945600" y="1769237"/>
                  </a:lnTo>
                  <a:lnTo>
                    <a:pt x="21945600" y="13589"/>
                  </a:lnTo>
                  <a:lnTo>
                    <a:pt x="21959190" y="13589"/>
                  </a:lnTo>
                  <a:lnTo>
                    <a:pt x="21959190" y="27051"/>
                  </a:lnTo>
                  <a:lnTo>
                    <a:pt x="13589" y="27051"/>
                  </a:lnTo>
                  <a:close/>
                </a:path>
              </a:pathLst>
            </a:custGeom>
            <a:solidFill>
              <a:srgbClr val="E74C3C"/>
            </a:solidFill>
          </p:spPr>
        </p:sp>
      </p:grpSp>
      <p:grpSp>
        <p:nvGrpSpPr>
          <p:cNvPr name="Group 62" id="62"/>
          <p:cNvGrpSpPr/>
          <p:nvPr/>
        </p:nvGrpSpPr>
        <p:grpSpPr>
          <a:xfrm rot="0">
            <a:off x="901703" y="6827015"/>
            <a:ext cx="244859" cy="1342139"/>
            <a:chOff x="0" y="0"/>
            <a:chExt cx="326479" cy="1789519"/>
          </a:xfrm>
        </p:grpSpPr>
        <p:sp>
          <p:nvSpPr>
            <p:cNvPr name="Freeform 63" id="63"/>
            <p:cNvSpPr/>
            <p:nvPr/>
          </p:nvSpPr>
          <p:spPr>
            <a:xfrm flipH="false" flipV="false" rot="0">
              <a:off x="16891" y="16891"/>
              <a:ext cx="292608" cy="1755648"/>
            </a:xfrm>
            <a:custGeom>
              <a:avLst/>
              <a:gdLst/>
              <a:ahLst/>
              <a:cxnLst/>
              <a:rect r="r" b="b" t="t" l="l"/>
              <a:pathLst>
                <a:path h="1755648" w="292608">
                  <a:moveTo>
                    <a:pt x="0" y="0"/>
                  </a:moveTo>
                  <a:lnTo>
                    <a:pt x="292608" y="0"/>
                  </a:lnTo>
                  <a:lnTo>
                    <a:pt x="292608" y="1755648"/>
                  </a:lnTo>
                  <a:lnTo>
                    <a:pt x="0" y="1755648"/>
                  </a:lnTo>
                  <a:close/>
                </a:path>
              </a:pathLst>
            </a:custGeom>
            <a:solidFill>
              <a:srgbClr val="E74C3C"/>
            </a:solidFill>
          </p:spPr>
        </p:sp>
        <p:sp>
          <p:nvSpPr>
            <p:cNvPr name="Freeform 64" id="64"/>
            <p:cNvSpPr/>
            <p:nvPr/>
          </p:nvSpPr>
          <p:spPr>
            <a:xfrm flipH="false" flipV="false" rot="0">
              <a:off x="0" y="0"/>
              <a:ext cx="326390" cy="1789430"/>
            </a:xfrm>
            <a:custGeom>
              <a:avLst/>
              <a:gdLst/>
              <a:ahLst/>
              <a:cxnLst/>
              <a:rect r="r" b="b" t="t" l="l"/>
              <a:pathLst>
                <a:path h="1789430" w="326390">
                  <a:moveTo>
                    <a:pt x="16891" y="0"/>
                  </a:moveTo>
                  <a:lnTo>
                    <a:pt x="309499" y="0"/>
                  </a:lnTo>
                  <a:cubicBezTo>
                    <a:pt x="318897" y="0"/>
                    <a:pt x="326390" y="7620"/>
                    <a:pt x="326390" y="16891"/>
                  </a:cubicBezTo>
                  <a:lnTo>
                    <a:pt x="326390" y="1772539"/>
                  </a:lnTo>
                  <a:cubicBezTo>
                    <a:pt x="326390" y="1781937"/>
                    <a:pt x="318770" y="1789430"/>
                    <a:pt x="30949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309499" y="1755648"/>
                  </a:lnTo>
                  <a:lnTo>
                    <a:pt x="309499" y="1772539"/>
                  </a:lnTo>
                  <a:lnTo>
                    <a:pt x="292608" y="1772539"/>
                  </a:lnTo>
                  <a:lnTo>
                    <a:pt x="292608" y="16891"/>
                  </a:lnTo>
                  <a:lnTo>
                    <a:pt x="309499" y="16891"/>
                  </a:lnTo>
                  <a:lnTo>
                    <a:pt x="309499" y="33909"/>
                  </a:lnTo>
                  <a:lnTo>
                    <a:pt x="16891" y="33909"/>
                  </a:lnTo>
                  <a:close/>
                </a:path>
              </a:pathLst>
            </a:custGeom>
            <a:solidFill>
              <a:srgbClr val="E74C3C"/>
            </a:solidFill>
          </p:spPr>
        </p:sp>
      </p:grpSp>
      <p:grpSp>
        <p:nvGrpSpPr>
          <p:cNvPr name="Group 65" id="65"/>
          <p:cNvGrpSpPr/>
          <p:nvPr/>
        </p:nvGrpSpPr>
        <p:grpSpPr>
          <a:xfrm rot="0">
            <a:off x="1267463" y="7046471"/>
            <a:ext cx="2768603" cy="903227"/>
            <a:chOff x="0" y="0"/>
            <a:chExt cx="3691471" cy="1204303"/>
          </a:xfrm>
        </p:grpSpPr>
        <p:sp>
          <p:nvSpPr>
            <p:cNvPr name="Freeform 66" id="66"/>
            <p:cNvSpPr/>
            <p:nvPr/>
          </p:nvSpPr>
          <p:spPr>
            <a:xfrm flipH="false" flipV="false" rot="0">
              <a:off x="16891" y="16891"/>
              <a:ext cx="3657600" cy="1170432"/>
            </a:xfrm>
            <a:custGeom>
              <a:avLst/>
              <a:gdLst/>
              <a:ahLst/>
              <a:cxnLst/>
              <a:rect r="r" b="b" t="t" l="l"/>
              <a:pathLst>
                <a:path h="1170432" w="3657600">
                  <a:moveTo>
                    <a:pt x="0" y="0"/>
                  </a:moveTo>
                  <a:lnTo>
                    <a:pt x="3657600" y="0"/>
                  </a:lnTo>
                  <a:lnTo>
                    <a:pt x="3657600" y="1170432"/>
                  </a:lnTo>
                  <a:lnTo>
                    <a:pt x="0" y="1170432"/>
                  </a:lnTo>
                  <a:close/>
                </a:path>
              </a:pathLst>
            </a:custGeom>
            <a:solidFill>
              <a:srgbClr val="E74C3C"/>
            </a:solidFill>
          </p:spPr>
        </p:sp>
        <p:sp>
          <p:nvSpPr>
            <p:cNvPr name="Freeform 67" id="67"/>
            <p:cNvSpPr/>
            <p:nvPr/>
          </p:nvSpPr>
          <p:spPr>
            <a:xfrm flipH="false" flipV="false" rot="0">
              <a:off x="0" y="0"/>
              <a:ext cx="3691382" cy="1204216"/>
            </a:xfrm>
            <a:custGeom>
              <a:avLst/>
              <a:gdLst/>
              <a:ahLst/>
              <a:cxnLst/>
              <a:rect r="r" b="b" t="t" l="l"/>
              <a:pathLst>
                <a:path h="1204216" w="3691382">
                  <a:moveTo>
                    <a:pt x="16891" y="0"/>
                  </a:moveTo>
                  <a:lnTo>
                    <a:pt x="3674491" y="0"/>
                  </a:lnTo>
                  <a:cubicBezTo>
                    <a:pt x="3683889" y="0"/>
                    <a:pt x="3691382" y="7620"/>
                    <a:pt x="3691382" y="16891"/>
                  </a:cubicBezTo>
                  <a:lnTo>
                    <a:pt x="3691382" y="1187323"/>
                  </a:lnTo>
                  <a:cubicBezTo>
                    <a:pt x="3691382" y="1196721"/>
                    <a:pt x="3683762" y="1204214"/>
                    <a:pt x="367449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674491" y="1170432"/>
                  </a:lnTo>
                  <a:lnTo>
                    <a:pt x="3674491" y="1187323"/>
                  </a:lnTo>
                  <a:lnTo>
                    <a:pt x="3657600" y="1187323"/>
                  </a:lnTo>
                  <a:lnTo>
                    <a:pt x="3657600" y="16891"/>
                  </a:lnTo>
                  <a:lnTo>
                    <a:pt x="3674491" y="16891"/>
                  </a:lnTo>
                  <a:lnTo>
                    <a:pt x="3674491" y="33909"/>
                  </a:lnTo>
                  <a:lnTo>
                    <a:pt x="16891" y="33909"/>
                  </a:lnTo>
                  <a:close/>
                </a:path>
              </a:pathLst>
            </a:custGeom>
            <a:solidFill>
              <a:srgbClr val="E74C3C"/>
            </a:solidFill>
          </p:spPr>
        </p:sp>
      </p:grpSp>
      <p:grpSp>
        <p:nvGrpSpPr>
          <p:cNvPr name="Group 68" id="68"/>
          <p:cNvGrpSpPr/>
          <p:nvPr/>
        </p:nvGrpSpPr>
        <p:grpSpPr>
          <a:xfrm rot="0">
            <a:off x="1280160" y="7059168"/>
            <a:ext cx="2743200" cy="877824"/>
            <a:chOff x="0" y="0"/>
            <a:chExt cx="3657600" cy="1170432"/>
          </a:xfrm>
        </p:grpSpPr>
        <p:sp>
          <p:nvSpPr>
            <p:cNvPr name="Freeform 69" id="69"/>
            <p:cNvSpPr/>
            <p:nvPr/>
          </p:nvSpPr>
          <p:spPr>
            <a:xfrm flipH="false" flipV="false" rot="0">
              <a:off x="0" y="0"/>
              <a:ext cx="3657600" cy="1170432"/>
            </a:xfrm>
            <a:custGeom>
              <a:avLst/>
              <a:gdLst/>
              <a:ahLst/>
              <a:cxnLst/>
              <a:rect r="r" b="b" t="t" l="l"/>
              <a:pathLst>
                <a:path h="1170432" w="3657600">
                  <a:moveTo>
                    <a:pt x="0" y="0"/>
                  </a:moveTo>
                  <a:lnTo>
                    <a:pt x="3657600" y="0"/>
                  </a:lnTo>
                  <a:lnTo>
                    <a:pt x="3657600" y="1170432"/>
                  </a:lnTo>
                  <a:lnTo>
                    <a:pt x="0" y="1170432"/>
                  </a:lnTo>
                  <a:close/>
                </a:path>
              </a:pathLst>
            </a:custGeom>
            <a:blipFill>
              <a:blip r:embed="rId2">
                <a:alphaModFix amt="0"/>
              </a:blip>
              <a:stretch>
                <a:fillRect l="0" t="-10890" r="0" b="-10890"/>
              </a:stretch>
            </a:blipFill>
          </p:spPr>
        </p:sp>
        <p:sp>
          <p:nvSpPr>
            <p:cNvPr name="TextBox 70" id="70"/>
            <p:cNvSpPr txBox="true"/>
            <p:nvPr/>
          </p:nvSpPr>
          <p:spPr>
            <a:xfrm>
              <a:off x="0" y="-57150"/>
              <a:ext cx="3657600" cy="122758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Veracity</a:t>
              </a:r>
            </a:p>
          </p:txBody>
        </p:sp>
      </p:grpSp>
      <p:grpSp>
        <p:nvGrpSpPr>
          <p:cNvPr name="Group 71" id="71"/>
          <p:cNvGrpSpPr/>
          <p:nvPr/>
        </p:nvGrpSpPr>
        <p:grpSpPr>
          <a:xfrm rot="0">
            <a:off x="4297680" y="7059168"/>
            <a:ext cx="12801600" cy="877824"/>
            <a:chOff x="0" y="0"/>
            <a:chExt cx="17068800" cy="1170432"/>
          </a:xfrm>
        </p:grpSpPr>
        <p:sp>
          <p:nvSpPr>
            <p:cNvPr name="Freeform 72" id="72"/>
            <p:cNvSpPr/>
            <p:nvPr/>
          </p:nvSpPr>
          <p:spPr>
            <a:xfrm flipH="false" flipV="false" rot="0">
              <a:off x="0" y="0"/>
              <a:ext cx="17068800" cy="1170432"/>
            </a:xfrm>
            <a:custGeom>
              <a:avLst/>
              <a:gdLst/>
              <a:ahLst/>
              <a:cxnLst/>
              <a:rect r="r" b="b" t="t" l="l"/>
              <a:pathLst>
                <a:path h="1170432" w="17068800">
                  <a:moveTo>
                    <a:pt x="0" y="0"/>
                  </a:moveTo>
                  <a:lnTo>
                    <a:pt x="17068800" y="0"/>
                  </a:lnTo>
                  <a:lnTo>
                    <a:pt x="17068800" y="1170432"/>
                  </a:lnTo>
                  <a:lnTo>
                    <a:pt x="0" y="1170432"/>
                  </a:lnTo>
                  <a:close/>
                </a:path>
              </a:pathLst>
            </a:custGeom>
            <a:blipFill>
              <a:blip r:embed="rId2">
                <a:alphaModFix amt="0"/>
              </a:blip>
              <a:stretch>
                <a:fillRect l="0" t="-234156" r="0" b="-234156"/>
              </a:stretch>
            </a:blipFill>
          </p:spPr>
        </p:sp>
        <p:sp>
          <p:nvSpPr>
            <p:cNvPr name="TextBox 73" id="73"/>
            <p:cNvSpPr txBox="true"/>
            <p:nvPr/>
          </p:nvSpPr>
          <p:spPr>
            <a:xfrm>
              <a:off x="0" y="-47625"/>
              <a:ext cx="17068800" cy="1218057"/>
            </a:xfrm>
            <a:prstGeom prst="rect">
              <a:avLst/>
            </a:prstGeom>
          </p:spPr>
          <p:txBody>
            <a:bodyPr anchor="ctr" rtlCol="false" tIns="0" lIns="0" bIns="0" rIns="0"/>
            <a:lstStyle/>
            <a:p>
              <a:pPr algn="l">
                <a:lnSpc>
                  <a:spcPts val="2760"/>
                </a:lnSpc>
              </a:pPr>
              <a:r>
                <a:rPr lang="en-US" sz="2300">
                  <a:solidFill>
                    <a:srgbClr val="7FB3C8"/>
                  </a:solidFill>
                  <a:latin typeface="Calibri (MS)"/>
                  <a:ea typeface="Calibri (MS)"/>
                  <a:cs typeface="Calibri (MS)"/>
                  <a:sym typeface="Calibri (MS)"/>
                </a:rPr>
                <a:t>Ditemukan kode error 8888/9999 &amp; missing values — ditangani dengan cleaning &amp; imputasi</a:t>
              </a:r>
            </a:p>
          </p:txBody>
        </p:sp>
      </p:grpSp>
      <p:grpSp>
        <p:nvGrpSpPr>
          <p:cNvPr name="Group 74" id="74"/>
          <p:cNvGrpSpPr/>
          <p:nvPr/>
        </p:nvGrpSpPr>
        <p:grpSpPr>
          <a:xfrm rot="0">
            <a:off x="904237" y="8329165"/>
            <a:ext cx="16479517" cy="1337053"/>
            <a:chOff x="0" y="0"/>
            <a:chExt cx="21972689" cy="1782737"/>
          </a:xfrm>
        </p:grpSpPr>
        <p:sp>
          <p:nvSpPr>
            <p:cNvPr name="Freeform 75" id="75"/>
            <p:cNvSpPr/>
            <p:nvPr/>
          </p:nvSpPr>
          <p:spPr>
            <a:xfrm flipH="false" flipV="false" rot="0">
              <a:off x="13589" y="13589"/>
              <a:ext cx="21945601" cy="1755648"/>
            </a:xfrm>
            <a:custGeom>
              <a:avLst/>
              <a:gdLst/>
              <a:ahLst/>
              <a:cxnLst/>
              <a:rect r="r" b="b" t="t" l="l"/>
              <a:pathLst>
                <a:path h="1755648" w="21945601">
                  <a:moveTo>
                    <a:pt x="0" y="0"/>
                  </a:moveTo>
                  <a:lnTo>
                    <a:pt x="21945601" y="0"/>
                  </a:lnTo>
                  <a:lnTo>
                    <a:pt x="21945601" y="1755648"/>
                  </a:lnTo>
                  <a:lnTo>
                    <a:pt x="0" y="1755648"/>
                  </a:lnTo>
                  <a:close/>
                </a:path>
              </a:pathLst>
            </a:custGeom>
            <a:solidFill>
              <a:srgbClr val="112244"/>
            </a:solidFill>
          </p:spPr>
        </p:sp>
        <p:sp>
          <p:nvSpPr>
            <p:cNvPr name="Freeform 76" id="76"/>
            <p:cNvSpPr/>
            <p:nvPr/>
          </p:nvSpPr>
          <p:spPr>
            <a:xfrm flipH="false" flipV="false" rot="0">
              <a:off x="0" y="0"/>
              <a:ext cx="21972778" cy="1782826"/>
            </a:xfrm>
            <a:custGeom>
              <a:avLst/>
              <a:gdLst/>
              <a:ahLst/>
              <a:cxnLst/>
              <a:rect r="r" b="b" t="t" l="l"/>
              <a:pathLst>
                <a:path h="1782826" w="21972778">
                  <a:moveTo>
                    <a:pt x="13589" y="0"/>
                  </a:moveTo>
                  <a:lnTo>
                    <a:pt x="21959190" y="0"/>
                  </a:lnTo>
                  <a:cubicBezTo>
                    <a:pt x="21966682" y="0"/>
                    <a:pt x="21972778" y="6096"/>
                    <a:pt x="21972778" y="13589"/>
                  </a:cubicBezTo>
                  <a:lnTo>
                    <a:pt x="21972778" y="1769237"/>
                  </a:lnTo>
                  <a:cubicBezTo>
                    <a:pt x="21972778" y="1776730"/>
                    <a:pt x="21966682" y="1782826"/>
                    <a:pt x="21959190" y="1782826"/>
                  </a:cubicBezTo>
                  <a:lnTo>
                    <a:pt x="13589" y="1782826"/>
                  </a:lnTo>
                  <a:cubicBezTo>
                    <a:pt x="6096" y="1782826"/>
                    <a:pt x="0" y="1776730"/>
                    <a:pt x="0" y="1769237"/>
                  </a:cubicBezTo>
                  <a:lnTo>
                    <a:pt x="0" y="13589"/>
                  </a:lnTo>
                  <a:cubicBezTo>
                    <a:pt x="0" y="6096"/>
                    <a:pt x="6096" y="0"/>
                    <a:pt x="13589" y="0"/>
                  </a:cubicBezTo>
                  <a:moveTo>
                    <a:pt x="13589" y="27051"/>
                  </a:moveTo>
                  <a:lnTo>
                    <a:pt x="13589" y="13589"/>
                  </a:lnTo>
                  <a:lnTo>
                    <a:pt x="27051" y="13589"/>
                  </a:lnTo>
                  <a:lnTo>
                    <a:pt x="27051" y="1769237"/>
                  </a:lnTo>
                  <a:lnTo>
                    <a:pt x="13589" y="1769237"/>
                  </a:lnTo>
                  <a:lnTo>
                    <a:pt x="13589" y="1755648"/>
                  </a:lnTo>
                  <a:lnTo>
                    <a:pt x="21959190" y="1755648"/>
                  </a:lnTo>
                  <a:lnTo>
                    <a:pt x="21959190" y="1769237"/>
                  </a:lnTo>
                  <a:lnTo>
                    <a:pt x="21945600" y="1769237"/>
                  </a:lnTo>
                  <a:lnTo>
                    <a:pt x="21945600" y="13589"/>
                  </a:lnTo>
                  <a:lnTo>
                    <a:pt x="21959190" y="13589"/>
                  </a:lnTo>
                  <a:lnTo>
                    <a:pt x="21959190" y="27051"/>
                  </a:lnTo>
                  <a:lnTo>
                    <a:pt x="13589" y="27051"/>
                  </a:lnTo>
                  <a:close/>
                </a:path>
              </a:pathLst>
            </a:custGeom>
            <a:solidFill>
              <a:srgbClr val="2ECC71"/>
            </a:solidFill>
          </p:spPr>
        </p:sp>
      </p:grpSp>
      <p:grpSp>
        <p:nvGrpSpPr>
          <p:cNvPr name="Group 77" id="77"/>
          <p:cNvGrpSpPr/>
          <p:nvPr/>
        </p:nvGrpSpPr>
        <p:grpSpPr>
          <a:xfrm rot="0">
            <a:off x="901703" y="8326631"/>
            <a:ext cx="244859" cy="1342139"/>
            <a:chOff x="0" y="0"/>
            <a:chExt cx="326479" cy="1789519"/>
          </a:xfrm>
        </p:grpSpPr>
        <p:sp>
          <p:nvSpPr>
            <p:cNvPr name="Freeform 78" id="78"/>
            <p:cNvSpPr/>
            <p:nvPr/>
          </p:nvSpPr>
          <p:spPr>
            <a:xfrm flipH="false" flipV="false" rot="0">
              <a:off x="16891" y="16891"/>
              <a:ext cx="292608" cy="1755648"/>
            </a:xfrm>
            <a:custGeom>
              <a:avLst/>
              <a:gdLst/>
              <a:ahLst/>
              <a:cxnLst/>
              <a:rect r="r" b="b" t="t" l="l"/>
              <a:pathLst>
                <a:path h="1755648" w="292608">
                  <a:moveTo>
                    <a:pt x="0" y="0"/>
                  </a:moveTo>
                  <a:lnTo>
                    <a:pt x="292608" y="0"/>
                  </a:lnTo>
                  <a:lnTo>
                    <a:pt x="292608" y="1755648"/>
                  </a:lnTo>
                  <a:lnTo>
                    <a:pt x="0" y="1755648"/>
                  </a:lnTo>
                  <a:close/>
                </a:path>
              </a:pathLst>
            </a:custGeom>
            <a:solidFill>
              <a:srgbClr val="2ECC71"/>
            </a:solidFill>
          </p:spPr>
        </p:sp>
        <p:sp>
          <p:nvSpPr>
            <p:cNvPr name="Freeform 79" id="79"/>
            <p:cNvSpPr/>
            <p:nvPr/>
          </p:nvSpPr>
          <p:spPr>
            <a:xfrm flipH="false" flipV="false" rot="0">
              <a:off x="0" y="0"/>
              <a:ext cx="326390" cy="1789430"/>
            </a:xfrm>
            <a:custGeom>
              <a:avLst/>
              <a:gdLst/>
              <a:ahLst/>
              <a:cxnLst/>
              <a:rect r="r" b="b" t="t" l="l"/>
              <a:pathLst>
                <a:path h="1789430" w="326390">
                  <a:moveTo>
                    <a:pt x="16891" y="0"/>
                  </a:moveTo>
                  <a:lnTo>
                    <a:pt x="309499" y="0"/>
                  </a:lnTo>
                  <a:cubicBezTo>
                    <a:pt x="318897" y="0"/>
                    <a:pt x="326390" y="7620"/>
                    <a:pt x="326390" y="16891"/>
                  </a:cubicBezTo>
                  <a:lnTo>
                    <a:pt x="326390" y="1772539"/>
                  </a:lnTo>
                  <a:cubicBezTo>
                    <a:pt x="326390" y="1781937"/>
                    <a:pt x="318770" y="1789430"/>
                    <a:pt x="30949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309499" y="1755648"/>
                  </a:lnTo>
                  <a:lnTo>
                    <a:pt x="309499" y="1772539"/>
                  </a:lnTo>
                  <a:lnTo>
                    <a:pt x="292608" y="1772539"/>
                  </a:lnTo>
                  <a:lnTo>
                    <a:pt x="292608" y="16891"/>
                  </a:lnTo>
                  <a:lnTo>
                    <a:pt x="309499" y="16891"/>
                  </a:lnTo>
                  <a:lnTo>
                    <a:pt x="309499" y="33909"/>
                  </a:lnTo>
                  <a:lnTo>
                    <a:pt x="16891" y="33909"/>
                  </a:lnTo>
                  <a:close/>
                </a:path>
              </a:pathLst>
            </a:custGeom>
            <a:solidFill>
              <a:srgbClr val="2ECC71"/>
            </a:solidFill>
          </p:spPr>
        </p:sp>
      </p:grpSp>
      <p:grpSp>
        <p:nvGrpSpPr>
          <p:cNvPr name="Group 80" id="80"/>
          <p:cNvGrpSpPr/>
          <p:nvPr/>
        </p:nvGrpSpPr>
        <p:grpSpPr>
          <a:xfrm rot="0">
            <a:off x="1267463" y="8546087"/>
            <a:ext cx="2768603" cy="903227"/>
            <a:chOff x="0" y="0"/>
            <a:chExt cx="3691471" cy="1204303"/>
          </a:xfrm>
        </p:grpSpPr>
        <p:sp>
          <p:nvSpPr>
            <p:cNvPr name="Freeform 81" id="81"/>
            <p:cNvSpPr/>
            <p:nvPr/>
          </p:nvSpPr>
          <p:spPr>
            <a:xfrm flipH="false" flipV="false" rot="0">
              <a:off x="16891" y="16891"/>
              <a:ext cx="3657600" cy="1170432"/>
            </a:xfrm>
            <a:custGeom>
              <a:avLst/>
              <a:gdLst/>
              <a:ahLst/>
              <a:cxnLst/>
              <a:rect r="r" b="b" t="t" l="l"/>
              <a:pathLst>
                <a:path h="1170432" w="3657600">
                  <a:moveTo>
                    <a:pt x="0" y="0"/>
                  </a:moveTo>
                  <a:lnTo>
                    <a:pt x="3657600" y="0"/>
                  </a:lnTo>
                  <a:lnTo>
                    <a:pt x="3657600" y="1170432"/>
                  </a:lnTo>
                  <a:lnTo>
                    <a:pt x="0" y="1170432"/>
                  </a:lnTo>
                  <a:close/>
                </a:path>
              </a:pathLst>
            </a:custGeom>
            <a:solidFill>
              <a:srgbClr val="2ECC71"/>
            </a:solidFill>
          </p:spPr>
        </p:sp>
        <p:sp>
          <p:nvSpPr>
            <p:cNvPr name="Freeform 82" id="82"/>
            <p:cNvSpPr/>
            <p:nvPr/>
          </p:nvSpPr>
          <p:spPr>
            <a:xfrm flipH="false" flipV="false" rot="0">
              <a:off x="0" y="0"/>
              <a:ext cx="3691382" cy="1204216"/>
            </a:xfrm>
            <a:custGeom>
              <a:avLst/>
              <a:gdLst/>
              <a:ahLst/>
              <a:cxnLst/>
              <a:rect r="r" b="b" t="t" l="l"/>
              <a:pathLst>
                <a:path h="1204216" w="3691382">
                  <a:moveTo>
                    <a:pt x="16891" y="0"/>
                  </a:moveTo>
                  <a:lnTo>
                    <a:pt x="3674491" y="0"/>
                  </a:lnTo>
                  <a:cubicBezTo>
                    <a:pt x="3683889" y="0"/>
                    <a:pt x="3691382" y="7620"/>
                    <a:pt x="3691382" y="16891"/>
                  </a:cubicBezTo>
                  <a:lnTo>
                    <a:pt x="3691382" y="1187323"/>
                  </a:lnTo>
                  <a:cubicBezTo>
                    <a:pt x="3691382" y="1196721"/>
                    <a:pt x="3683762" y="1204214"/>
                    <a:pt x="367449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674491" y="1170432"/>
                  </a:lnTo>
                  <a:lnTo>
                    <a:pt x="3674491" y="1187323"/>
                  </a:lnTo>
                  <a:lnTo>
                    <a:pt x="3657600" y="1187323"/>
                  </a:lnTo>
                  <a:lnTo>
                    <a:pt x="3657600" y="16891"/>
                  </a:lnTo>
                  <a:lnTo>
                    <a:pt x="3674491" y="16891"/>
                  </a:lnTo>
                  <a:lnTo>
                    <a:pt x="3674491" y="33909"/>
                  </a:lnTo>
                  <a:lnTo>
                    <a:pt x="16891" y="33909"/>
                  </a:lnTo>
                  <a:close/>
                </a:path>
              </a:pathLst>
            </a:custGeom>
            <a:solidFill>
              <a:srgbClr val="2ECC71"/>
            </a:solidFill>
          </p:spPr>
        </p:sp>
      </p:grpSp>
      <p:grpSp>
        <p:nvGrpSpPr>
          <p:cNvPr name="Group 83" id="83"/>
          <p:cNvGrpSpPr/>
          <p:nvPr/>
        </p:nvGrpSpPr>
        <p:grpSpPr>
          <a:xfrm rot="0">
            <a:off x="1280160" y="8558784"/>
            <a:ext cx="2743200" cy="877824"/>
            <a:chOff x="0" y="0"/>
            <a:chExt cx="3657600" cy="1170432"/>
          </a:xfrm>
        </p:grpSpPr>
        <p:sp>
          <p:nvSpPr>
            <p:cNvPr name="Freeform 84" id="84"/>
            <p:cNvSpPr/>
            <p:nvPr/>
          </p:nvSpPr>
          <p:spPr>
            <a:xfrm flipH="false" flipV="false" rot="0">
              <a:off x="0" y="0"/>
              <a:ext cx="3657600" cy="1170432"/>
            </a:xfrm>
            <a:custGeom>
              <a:avLst/>
              <a:gdLst/>
              <a:ahLst/>
              <a:cxnLst/>
              <a:rect r="r" b="b" t="t" l="l"/>
              <a:pathLst>
                <a:path h="1170432" w="3657600">
                  <a:moveTo>
                    <a:pt x="0" y="0"/>
                  </a:moveTo>
                  <a:lnTo>
                    <a:pt x="3657600" y="0"/>
                  </a:lnTo>
                  <a:lnTo>
                    <a:pt x="3657600" y="1170432"/>
                  </a:lnTo>
                  <a:lnTo>
                    <a:pt x="0" y="1170432"/>
                  </a:lnTo>
                  <a:close/>
                </a:path>
              </a:pathLst>
            </a:custGeom>
            <a:blipFill>
              <a:blip r:embed="rId2">
                <a:alphaModFix amt="0"/>
              </a:blip>
              <a:stretch>
                <a:fillRect l="0" t="-10890" r="0" b="-10890"/>
              </a:stretch>
            </a:blipFill>
          </p:spPr>
        </p:sp>
        <p:sp>
          <p:nvSpPr>
            <p:cNvPr name="TextBox 85" id="85"/>
            <p:cNvSpPr txBox="true"/>
            <p:nvPr/>
          </p:nvSpPr>
          <p:spPr>
            <a:xfrm>
              <a:off x="0" y="-57150"/>
              <a:ext cx="3657600" cy="122758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Value</a:t>
              </a:r>
            </a:p>
          </p:txBody>
        </p:sp>
      </p:grpSp>
      <p:grpSp>
        <p:nvGrpSpPr>
          <p:cNvPr name="Group 86" id="86"/>
          <p:cNvGrpSpPr/>
          <p:nvPr/>
        </p:nvGrpSpPr>
        <p:grpSpPr>
          <a:xfrm rot="0">
            <a:off x="4297680" y="8558784"/>
            <a:ext cx="12801600" cy="877824"/>
            <a:chOff x="0" y="0"/>
            <a:chExt cx="17068800" cy="1170432"/>
          </a:xfrm>
        </p:grpSpPr>
        <p:sp>
          <p:nvSpPr>
            <p:cNvPr name="Freeform 87" id="87"/>
            <p:cNvSpPr/>
            <p:nvPr/>
          </p:nvSpPr>
          <p:spPr>
            <a:xfrm flipH="false" flipV="false" rot="0">
              <a:off x="0" y="0"/>
              <a:ext cx="17068800" cy="1170432"/>
            </a:xfrm>
            <a:custGeom>
              <a:avLst/>
              <a:gdLst/>
              <a:ahLst/>
              <a:cxnLst/>
              <a:rect r="r" b="b" t="t" l="l"/>
              <a:pathLst>
                <a:path h="1170432" w="17068800">
                  <a:moveTo>
                    <a:pt x="0" y="0"/>
                  </a:moveTo>
                  <a:lnTo>
                    <a:pt x="17068800" y="0"/>
                  </a:lnTo>
                  <a:lnTo>
                    <a:pt x="17068800" y="1170432"/>
                  </a:lnTo>
                  <a:lnTo>
                    <a:pt x="0" y="1170432"/>
                  </a:lnTo>
                  <a:close/>
                </a:path>
              </a:pathLst>
            </a:custGeom>
            <a:blipFill>
              <a:blip r:embed="rId2">
                <a:alphaModFix amt="0"/>
              </a:blip>
              <a:stretch>
                <a:fillRect l="0" t="-234156" r="0" b="-234156"/>
              </a:stretch>
            </a:blipFill>
          </p:spPr>
        </p:sp>
        <p:sp>
          <p:nvSpPr>
            <p:cNvPr name="TextBox 88" id="88"/>
            <p:cNvSpPr txBox="true"/>
            <p:nvPr/>
          </p:nvSpPr>
          <p:spPr>
            <a:xfrm>
              <a:off x="0" y="-47625"/>
              <a:ext cx="17068800" cy="1218057"/>
            </a:xfrm>
            <a:prstGeom prst="rect">
              <a:avLst/>
            </a:prstGeom>
          </p:spPr>
          <p:txBody>
            <a:bodyPr anchor="ctr" rtlCol="false" tIns="0" lIns="0" bIns="0" rIns="0"/>
            <a:lstStyle/>
            <a:p>
              <a:pPr algn="l">
                <a:lnSpc>
                  <a:spcPts val="2760"/>
                </a:lnSpc>
              </a:pPr>
              <a:r>
                <a:rPr lang="en-US" sz="2300">
                  <a:solidFill>
                    <a:srgbClr val="7FB3C8"/>
                  </a:solidFill>
                  <a:latin typeface="Calibri (MS)"/>
                  <a:ea typeface="Calibri (MS)"/>
                  <a:cs typeface="Calibri (MS)"/>
                  <a:sym typeface="Calibri (MS)"/>
                </a:rPr>
                <a:t>Insight berguna: penerbangan Juanda, mitigasi banjir, pertanian &amp; tata kota Surabaya</a:t>
              </a:r>
            </a:p>
          </p:txBody>
        </p:sp>
      </p:grpSp>
      <p:grpSp>
        <p:nvGrpSpPr>
          <p:cNvPr name="Group 89" id="89"/>
          <p:cNvGrpSpPr/>
          <p:nvPr/>
        </p:nvGrpSpPr>
        <p:grpSpPr>
          <a:xfrm rot="0">
            <a:off x="-12697" y="9771383"/>
            <a:ext cx="18313403" cy="793499"/>
            <a:chOff x="0" y="0"/>
            <a:chExt cx="24417871" cy="1057999"/>
          </a:xfrm>
        </p:grpSpPr>
        <p:sp>
          <p:nvSpPr>
            <p:cNvPr name="Freeform 90" id="90"/>
            <p:cNvSpPr/>
            <p:nvPr/>
          </p:nvSpPr>
          <p:spPr>
            <a:xfrm flipH="false" flipV="false" rot="0">
              <a:off x="16891" y="16891"/>
              <a:ext cx="24383999" cy="1024128"/>
            </a:xfrm>
            <a:custGeom>
              <a:avLst/>
              <a:gdLst/>
              <a:ahLst/>
              <a:cxnLst/>
              <a:rect r="r" b="b" t="t" l="l"/>
              <a:pathLst>
                <a:path h="1024128" w="24383999">
                  <a:moveTo>
                    <a:pt x="0" y="0"/>
                  </a:moveTo>
                  <a:lnTo>
                    <a:pt x="24383999" y="0"/>
                  </a:lnTo>
                  <a:lnTo>
                    <a:pt x="24383999" y="1024128"/>
                  </a:lnTo>
                  <a:lnTo>
                    <a:pt x="0" y="1024128"/>
                  </a:lnTo>
                  <a:close/>
                </a:path>
              </a:pathLst>
            </a:custGeom>
            <a:solidFill>
              <a:srgbClr val="1EB8D0"/>
            </a:solidFill>
          </p:spPr>
        </p:sp>
        <p:sp>
          <p:nvSpPr>
            <p:cNvPr name="Freeform 91" id="91"/>
            <p:cNvSpPr/>
            <p:nvPr/>
          </p:nvSpPr>
          <p:spPr>
            <a:xfrm flipH="false" flipV="false" rot="0">
              <a:off x="0" y="0"/>
              <a:ext cx="24417782" cy="1057912"/>
            </a:xfrm>
            <a:custGeom>
              <a:avLst/>
              <a:gdLst/>
              <a:ahLst/>
              <a:cxnLst/>
              <a:rect r="r" b="b" t="t" l="l"/>
              <a:pathLst>
                <a:path h="1057912" w="24417782">
                  <a:moveTo>
                    <a:pt x="16891" y="0"/>
                  </a:moveTo>
                  <a:lnTo>
                    <a:pt x="24400890" y="0"/>
                  </a:lnTo>
                  <a:cubicBezTo>
                    <a:pt x="24410290" y="0"/>
                    <a:pt x="24417782" y="7620"/>
                    <a:pt x="24417782" y="16891"/>
                  </a:cubicBezTo>
                  <a:lnTo>
                    <a:pt x="24417782" y="1041019"/>
                  </a:lnTo>
                  <a:cubicBezTo>
                    <a:pt x="24417782" y="1050417"/>
                    <a:pt x="24410163" y="1057910"/>
                    <a:pt x="24400890"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4400890" y="1024128"/>
                  </a:lnTo>
                  <a:lnTo>
                    <a:pt x="24400890" y="1041019"/>
                  </a:lnTo>
                  <a:lnTo>
                    <a:pt x="24384000" y="1041019"/>
                  </a:lnTo>
                  <a:lnTo>
                    <a:pt x="24384000" y="16891"/>
                  </a:lnTo>
                  <a:lnTo>
                    <a:pt x="24400890" y="16891"/>
                  </a:lnTo>
                  <a:lnTo>
                    <a:pt x="24400890" y="33909"/>
                  </a:lnTo>
                  <a:lnTo>
                    <a:pt x="16891" y="33909"/>
                  </a:lnTo>
                  <a:close/>
                </a:path>
              </a:pathLst>
            </a:custGeom>
            <a:solidFill>
              <a:srgbClr val="1EB8D0"/>
            </a:solidFill>
          </p:spPr>
        </p:sp>
      </p:grpSp>
      <p:grpSp>
        <p:nvGrpSpPr>
          <p:cNvPr name="Group 92" id="92"/>
          <p:cNvGrpSpPr/>
          <p:nvPr/>
        </p:nvGrpSpPr>
        <p:grpSpPr>
          <a:xfrm rot="0">
            <a:off x="901703" y="9725920"/>
            <a:ext cx="16459200" cy="640080"/>
            <a:chOff x="0" y="0"/>
            <a:chExt cx="21945600" cy="853440"/>
          </a:xfrm>
        </p:grpSpPr>
        <p:sp>
          <p:nvSpPr>
            <p:cNvPr name="Freeform 93" id="93"/>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94" id="94"/>
            <p:cNvSpPr txBox="true"/>
            <p:nvPr/>
          </p:nvSpPr>
          <p:spPr>
            <a:xfrm>
              <a:off x="0" y="-47625"/>
              <a:ext cx="21945600"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Dataset BMKG Stasiun Juanda terbukti memenuhi seluruh karakteristik 5V Big Data.</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DAHGP-_EPZ0</dc:identifier>
  <dcterms:modified xsi:type="dcterms:W3CDTF">2011-08-01T06:04:30Z</dcterms:modified>
  <cp:revision>1</cp:revision>
  <dc:title>5V Big Data Dataset BMKG</dc:title>
</cp:coreProperties>
</file>